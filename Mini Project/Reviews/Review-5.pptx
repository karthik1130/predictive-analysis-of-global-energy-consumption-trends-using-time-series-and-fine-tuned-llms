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0" r:id="rId1"/>
    <p:sldMasterId id="2147483651" r:id="rId2"/>
  </p:sldMasterIdLst>
  <p:notesMasterIdLst>
    <p:notesMasterId r:id="rId29"/>
  </p:notesMasterIdLst>
  <p:sldIdLst>
    <p:sldId id="256" r:id="rId3"/>
    <p:sldId id="257" r:id="rId4"/>
    <p:sldId id="259" r:id="rId5"/>
    <p:sldId id="268" r:id="rId6"/>
    <p:sldId id="266" r:id="rId7"/>
    <p:sldId id="267" r:id="rId8"/>
    <p:sldId id="269" r:id="rId9"/>
    <p:sldId id="270" r:id="rId10"/>
    <p:sldId id="271" r:id="rId11"/>
    <p:sldId id="303" r:id="rId12"/>
    <p:sldId id="272" r:id="rId13"/>
    <p:sldId id="302" r:id="rId14"/>
    <p:sldId id="273" r:id="rId15"/>
    <p:sldId id="274" r:id="rId16"/>
    <p:sldId id="290" r:id="rId17"/>
    <p:sldId id="296" r:id="rId18"/>
    <p:sldId id="289" r:id="rId19"/>
    <p:sldId id="299" r:id="rId20"/>
    <p:sldId id="292" r:id="rId21"/>
    <p:sldId id="297" r:id="rId22"/>
    <p:sldId id="300" r:id="rId23"/>
    <p:sldId id="298" r:id="rId24"/>
    <p:sldId id="293" r:id="rId25"/>
    <p:sldId id="294" r:id="rId26"/>
    <p:sldId id="295" r:id="rId27"/>
    <p:sldId id="278"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B5F669-19A5-4A0C-AAF8-9CA3CEDFA596}">
  <a:tblStyle styleId="{0EB5F669-19A5-4A0C-AAF8-9CA3CEDFA59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262" autoAdjust="0"/>
  </p:normalViewPr>
  <p:slideViewPr>
    <p:cSldViewPr snapToGrid="0">
      <p:cViewPr>
        <p:scale>
          <a:sx n="100" d="100"/>
          <a:sy n="100" d="100"/>
        </p:scale>
        <p:origin x="874" y="11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 name="Google Shape;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g2dd3059041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 name="Google Shape;36;g2dd3059041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dd3059041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g2dd3059041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3cab92230f_4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g33cab92230f_4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3cab92230f_4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33cab92230f_4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3cab92230f_4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g33cab92230f_4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7650" name="Google Shape;350;p10:notes">
            <a:extLst>
              <a:ext uri="{FF2B5EF4-FFF2-40B4-BE49-F238E27FC236}">
                <a16:creationId xmlns:a16="http://schemas.microsoft.com/office/drawing/2014/main" id="{BFE7D2E3-19C6-5857-CBB9-091A5D0F11CD}"/>
              </a:ext>
            </a:extLst>
          </p:cNvPr>
          <p:cNvSpPr txBox="1">
            <a:spLocks noGrp="1" noChangeArrowheads="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27651" name="Google Shape;351;p10:notes">
            <a:extLst>
              <a:ext uri="{FF2B5EF4-FFF2-40B4-BE49-F238E27FC236}">
                <a16:creationId xmlns:a16="http://schemas.microsoft.com/office/drawing/2014/main" id="{2B582454-A74E-00E1-3BB3-8F0F24D12510}"/>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9698" name="Google Shape;350;p10:notes">
            <a:extLst>
              <a:ext uri="{FF2B5EF4-FFF2-40B4-BE49-F238E27FC236}">
                <a16:creationId xmlns:a16="http://schemas.microsoft.com/office/drawing/2014/main" id="{A386944E-8121-3E62-0611-9189745B9B5D}"/>
              </a:ext>
            </a:extLst>
          </p:cNvPr>
          <p:cNvSpPr txBox="1">
            <a:spLocks noGrp="1" noChangeArrowheads="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29699" name="Google Shape;351;p10:notes">
            <a:extLst>
              <a:ext uri="{FF2B5EF4-FFF2-40B4-BE49-F238E27FC236}">
                <a16:creationId xmlns:a16="http://schemas.microsoft.com/office/drawing/2014/main" id="{A6ABB1C0-C3C6-6E2B-23FD-69035789211C}"/>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794" name="Google Shape;350;p10:notes">
            <a:extLst>
              <a:ext uri="{FF2B5EF4-FFF2-40B4-BE49-F238E27FC236}">
                <a16:creationId xmlns:a16="http://schemas.microsoft.com/office/drawing/2014/main" id="{B9B2A424-9DE9-18A4-BB1E-50962AAFF0FC}"/>
              </a:ext>
            </a:extLst>
          </p:cNvPr>
          <p:cNvSpPr txBox="1">
            <a:spLocks noGrp="1" noChangeArrowheads="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3795" name="Google Shape;351;p10:notes">
            <a:extLst>
              <a:ext uri="{FF2B5EF4-FFF2-40B4-BE49-F238E27FC236}">
                <a16:creationId xmlns:a16="http://schemas.microsoft.com/office/drawing/2014/main" id="{C3E51349-A0F8-BE7F-D29C-FC7AACE85FD3}"/>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5842" name="Google Shape;350;p10:notes">
            <a:extLst>
              <a:ext uri="{FF2B5EF4-FFF2-40B4-BE49-F238E27FC236}">
                <a16:creationId xmlns:a16="http://schemas.microsoft.com/office/drawing/2014/main" id="{6F0D60CD-8E33-4E60-9F93-A809E5CC0A8B}"/>
              </a:ext>
            </a:extLst>
          </p:cNvPr>
          <p:cNvSpPr txBox="1">
            <a:spLocks noGrp="1" noChangeArrowheads="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5843" name="Google Shape;351;p10:notes">
            <a:extLst>
              <a:ext uri="{FF2B5EF4-FFF2-40B4-BE49-F238E27FC236}">
                <a16:creationId xmlns:a16="http://schemas.microsoft.com/office/drawing/2014/main" id="{04CE9B30-E049-5C60-4CE2-D42E1442382C}"/>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7890" name="Google Shape;350;p10:notes">
            <a:extLst>
              <a:ext uri="{FF2B5EF4-FFF2-40B4-BE49-F238E27FC236}">
                <a16:creationId xmlns:a16="http://schemas.microsoft.com/office/drawing/2014/main" id="{4CA4DEC2-C40E-0A25-EB20-8EC96691C834}"/>
              </a:ext>
            </a:extLst>
          </p:cNvPr>
          <p:cNvSpPr txBox="1">
            <a:spLocks noGrp="1" noChangeArrowheads="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7891" name="Google Shape;351;p10:notes">
            <a:extLst>
              <a:ext uri="{FF2B5EF4-FFF2-40B4-BE49-F238E27FC236}">
                <a16:creationId xmlns:a16="http://schemas.microsoft.com/office/drawing/2014/main" id="{AB9DFAA4-B2A5-73F2-76E7-C4D63B7A2DFC}"/>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0" y="0"/>
            <a:ext cx="9144000" cy="649800"/>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2"/>
          <p:cNvSpPr txBox="1">
            <a:spLocks noGrp="1"/>
          </p:cNvSpPr>
          <p:nvPr>
            <p:ph type="body" idx="1"/>
          </p:nvPr>
        </p:nvSpPr>
        <p:spPr>
          <a:xfrm>
            <a:off x="165100" y="914400"/>
            <a:ext cx="8763000" cy="34797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ldNum" idx="12"/>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2"/>
          <p:cNvSpPr txBox="1">
            <a:spLocks noGrp="1"/>
          </p:cNvSpPr>
          <p:nvPr>
            <p:ph type="ftr" idx="11"/>
          </p:nvPr>
        </p:nvSpPr>
        <p:spPr>
          <a:xfrm>
            <a:off x="2706687" y="4760912"/>
            <a:ext cx="3538500" cy="1983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2" name="Google Shape;16;p14">
            <a:extLst>
              <a:ext uri="{FF2B5EF4-FFF2-40B4-BE49-F238E27FC236}">
                <a16:creationId xmlns:a16="http://schemas.microsoft.com/office/drawing/2014/main" id="{230DE04F-7AA5-532F-01B8-2AA0BA3CF685}"/>
              </a:ext>
            </a:extLst>
          </p:cNvPr>
          <p:cNvSpPr txBox="1">
            <a:spLocks noGrp="1"/>
          </p:cNvSpPr>
          <p:nvPr>
            <p:ph type="dt" idx="10"/>
          </p:nvPr>
        </p:nvSpPr>
        <p:spPr>
          <a:xfrm>
            <a:off x="228600" y="3178175"/>
            <a:ext cx="1066800" cy="182563"/>
          </a:xfrm>
          <a:prstGeom prst="rect">
            <a:avLst/>
          </a:prstGeom>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 name="Google Shape;17;p14">
            <a:extLst>
              <a:ext uri="{FF2B5EF4-FFF2-40B4-BE49-F238E27FC236}">
                <a16:creationId xmlns:a16="http://schemas.microsoft.com/office/drawing/2014/main" id="{60C1066C-3CDF-9D79-6348-CD5EB14FC2E0}"/>
              </a:ext>
            </a:extLst>
          </p:cNvPr>
          <p:cNvSpPr txBox="1">
            <a:spLocks noGrp="1"/>
          </p:cNvSpPr>
          <p:nvPr>
            <p:ph type="ftr" idx="11"/>
          </p:nvPr>
        </p:nvSpPr>
        <p:spPr>
          <a:xfrm>
            <a:off x="1562100" y="3178175"/>
            <a:ext cx="1447800" cy="182563"/>
          </a:xfrm>
          <a:prstGeom prst="rect">
            <a:avLst/>
          </a:prstGeom>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 name="Google Shape;18;p14">
            <a:extLst>
              <a:ext uri="{FF2B5EF4-FFF2-40B4-BE49-F238E27FC236}">
                <a16:creationId xmlns:a16="http://schemas.microsoft.com/office/drawing/2014/main" id="{FF61FC15-95A4-3B94-FF71-4A56C7461C19}"/>
              </a:ext>
            </a:extLst>
          </p:cNvPr>
          <p:cNvSpPr txBox="1">
            <a:spLocks noGrp="1"/>
          </p:cNvSpPr>
          <p:nvPr>
            <p:ph type="sldNum" idx="12"/>
          </p:nvPr>
        </p:nvSpPr>
        <p:spPr>
          <a:xfrm>
            <a:off x="3276600" y="3178175"/>
            <a:ext cx="1066800" cy="182563"/>
          </a:xfrm>
        </p:spPr>
        <p:txBody>
          <a:bodyPr spcFirstLastPara="1" tIns="45700" bIns="45700">
            <a:noAutofit/>
          </a:bodyPr>
          <a:lstStyle>
            <a:lvl1pPr marL="0" lvl="0" indent="0" algn="r">
              <a:spcBef>
                <a:spcPts val="0"/>
              </a:spcBef>
              <a:spcAft>
                <a:spcPts val="0"/>
              </a:spcAft>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pPr>
            <a:fld id="{C47352ED-CA36-4D3E-BDAD-C75263ED03EB}" type="slidenum">
              <a:rPr lang="en-US"/>
              <a:pPr>
                <a:defRPr/>
              </a:pPr>
              <a:t>‹#›</a:t>
            </a:fld>
            <a:endParaRPr lang="en-US"/>
          </a:p>
        </p:txBody>
      </p:sp>
    </p:spTree>
    <p:extLst>
      <p:ext uri="{BB962C8B-B14F-4D97-AF65-F5344CB8AC3E}">
        <p14:creationId xmlns:p14="http://schemas.microsoft.com/office/powerpoint/2010/main" val="33746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userDrawn="1">
  <p:cSld name="1_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0" y="0"/>
            <a:ext cx="9144000" cy="649693"/>
          </a:xfrm>
          <a:prstGeom prst="rect">
            <a:avLst/>
          </a:prstGeom>
        </p:spPr>
        <p:txBody>
          <a:bodyPr spcFirstLastPara="1">
            <a:normAutofit/>
          </a:bodyPr>
          <a:lstStyle>
            <a:lvl1pPr lvl="0" algn="ctr">
              <a:spcBef>
                <a:spcPts val="0"/>
              </a:spcBef>
              <a:spcAft>
                <a:spcPts val="0"/>
              </a:spcAft>
              <a:buSzPts val="5200"/>
              <a:buNone/>
              <a:tabLst>
                <a:tab pos="4127500" algn="l"/>
              </a:tabLst>
              <a:defRPr sz="3200" b="1" baseline="0">
                <a:latin typeface="+mj-l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dirty="0"/>
          </a:p>
        </p:txBody>
      </p:sp>
      <p:sp>
        <p:nvSpPr>
          <p:cNvPr id="3" name="Text Placeholder 2"/>
          <p:cNvSpPr>
            <a:spLocks noGrp="1"/>
          </p:cNvSpPr>
          <p:nvPr>
            <p:ph type="body" sz="quarter" idx="13"/>
          </p:nvPr>
        </p:nvSpPr>
        <p:spPr>
          <a:xfrm>
            <a:off x="165100" y="914400"/>
            <a:ext cx="8763000" cy="3479800"/>
          </a:xfrm>
        </p:spPr>
        <p:txBody>
          <a:bodyPr/>
          <a:lstStyle>
            <a:lvl1pPr>
              <a:defRPr sz="2400">
                <a:latin typeface="+mn-lt"/>
              </a:defRPr>
            </a:lvl1pPr>
            <a:lvl2pPr>
              <a:defRPr sz="2200">
                <a:latin typeface="+mn-lt"/>
              </a:defRPr>
            </a:lvl2pPr>
            <a:lvl3pPr>
              <a:defRPr sz="2200">
                <a:latin typeface="+mn-lt"/>
              </a:defRPr>
            </a:lvl3pPr>
            <a:lvl4pPr>
              <a:defRPr sz="2000">
                <a:latin typeface="+mn-lt"/>
              </a:defRPr>
            </a:lvl4pPr>
            <a:lvl5pPr>
              <a:defRPr sz="20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12;p2">
            <a:extLst>
              <a:ext uri="{FF2B5EF4-FFF2-40B4-BE49-F238E27FC236}">
                <a16:creationId xmlns:a16="http://schemas.microsoft.com/office/drawing/2014/main" id="{87366851-8051-EF9D-CEB4-C5A15AB3B1FE}"/>
              </a:ext>
            </a:extLst>
          </p:cNvPr>
          <p:cNvSpPr txBox="1">
            <a:spLocks noGrp="1"/>
          </p:cNvSpPr>
          <p:nvPr>
            <p:ph type="sldNum" idx="14"/>
          </p:nvPr>
        </p:nvSpPr>
        <p:spPr/>
        <p:txBody>
          <a:bodyPr/>
          <a:lstStyle>
            <a:lvl1pPr>
              <a:defRPr/>
            </a:lvl1pPr>
          </a:lstStyle>
          <a:p>
            <a:pPr>
              <a:defRPr/>
            </a:pPr>
            <a:fld id="{91BA329B-4763-4EC2-B676-7001A0054F00}" type="slidenum">
              <a:rPr lang="en-US" altLang="en-US"/>
              <a:pPr>
                <a:defRPr/>
              </a:pPr>
              <a:t>‹#›</a:t>
            </a:fld>
            <a:endParaRPr lang="en-US" altLang="en-US"/>
          </a:p>
        </p:txBody>
      </p:sp>
      <p:sp>
        <p:nvSpPr>
          <p:cNvPr id="4" name="Footer Placeholder 4">
            <a:extLst>
              <a:ext uri="{FF2B5EF4-FFF2-40B4-BE49-F238E27FC236}">
                <a16:creationId xmlns:a16="http://schemas.microsoft.com/office/drawing/2014/main" id="{C432C5EE-4C71-0B91-C9B9-ABC2C7C793AE}"/>
              </a:ext>
            </a:extLst>
          </p:cNvPr>
          <p:cNvSpPr>
            <a:spLocks noGrp="1"/>
          </p:cNvSpPr>
          <p:nvPr>
            <p:ph type="ftr" sz="quarter" idx="15"/>
          </p:nvPr>
        </p:nvSpPr>
        <p:spPr bwMode="auto">
          <a:xfrm>
            <a:off x="2706688" y="4760913"/>
            <a:ext cx="3538537" cy="198437"/>
          </a:xfrm>
          <a:prstGeom prst="rect">
            <a:avLst/>
          </a:prstGeom>
        </p:spPr>
        <p:txBody>
          <a:bodyPr vert="horz" wrap="square" lIns="91440" tIns="45720" rIns="91440" bIns="45720" numCol="1" anchor="ctr" anchorCtr="0" compatLnSpc="1">
            <a:prstTxWarp prst="textNoShape">
              <a:avLst/>
            </a:prstTxWarp>
          </a:bodyPr>
          <a:lstStyle>
            <a:lvl1pPr algn="ctr" eaLnBrk="1" hangingPunct="1">
              <a:buClr>
                <a:srgbClr val="000000"/>
              </a:buClr>
              <a:buFont typeface="Arial" pitchFamily="34" charset="0"/>
              <a:buNone/>
              <a:defRPr sz="900" b="1">
                <a:solidFill>
                  <a:srgbClr val="898989"/>
                </a:solidFill>
              </a:defRPr>
            </a:lvl1pPr>
          </a:lstStyle>
          <a:p>
            <a:pPr>
              <a:defRPr/>
            </a:pPr>
            <a:r>
              <a:rPr lang="en-US"/>
              <a:t>Department of CSE (AI &amp; ML) - Review 0- Abstract Selection</a:t>
            </a:r>
          </a:p>
        </p:txBody>
      </p:sp>
    </p:spTree>
    <p:extLst>
      <p:ext uri="{BB962C8B-B14F-4D97-AF65-F5344CB8AC3E}">
        <p14:creationId xmlns:p14="http://schemas.microsoft.com/office/powerpoint/2010/main" val="2793411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4"/>
          <p:cNvSpPr txBox="1">
            <a:spLocks noGrp="1"/>
          </p:cNvSpPr>
          <p:nvPr>
            <p:ph type="sldNum" idx="12"/>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4"/>
          <p:cNvSpPr txBox="1">
            <a:spLocks noGrp="1"/>
          </p:cNvSpPr>
          <p:nvPr>
            <p:ph type="ftr" idx="11"/>
          </p:nvPr>
        </p:nvSpPr>
        <p:spPr>
          <a:xfrm>
            <a:off x="2706687" y="4760912"/>
            <a:ext cx="3538500" cy="1983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150" y="444500"/>
            <a:ext cx="8521800" cy="573000"/>
          </a:xfrm>
          <a:prstGeom prst="rect">
            <a:avLst/>
          </a:prstGeom>
          <a:noFill/>
          <a:ln>
            <a:noFill/>
          </a:ln>
        </p:spPr>
        <p:txBody>
          <a:bodyPr spcFirstLastPara="1" wrap="square" lIns="91425" tIns="91425" rIns="91425" bIns="91425" anchor="t" anchorCtr="0">
            <a:noAutofit/>
          </a:bodyPr>
          <a:lstStyle>
            <a:lvl1pPr marR="0" lvl="0" algn="l">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150" y="1152525"/>
            <a:ext cx="8521800" cy="3416400"/>
          </a:xfrm>
          <a:prstGeom prst="rect">
            <a:avLst/>
          </a:prstGeom>
          <a:noFill/>
          <a:ln>
            <a:noFill/>
          </a:ln>
        </p:spPr>
        <p:txBody>
          <a:bodyPr spcFirstLastPara="1" wrap="square" lIns="91425" tIns="91425" rIns="91425" bIns="91425" anchor="t" anchorCtr="0">
            <a:noAutofit/>
          </a:bodyPr>
          <a:lstStyle>
            <a:lvl1pPr marL="457200" marR="0" lvl="0"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9" name="Google Shape;9;p1"/>
          <p:cNvSpPr txBox="1">
            <a:spLocks noGrp="1"/>
          </p:cNvSpPr>
          <p:nvPr>
            <p:ph type="ftr" idx="11"/>
          </p:nvPr>
        </p:nvSpPr>
        <p:spPr>
          <a:xfrm>
            <a:off x="2706687" y="4760912"/>
            <a:ext cx="3538500" cy="1983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11150" y="444500"/>
            <a:ext cx="8521800" cy="573000"/>
          </a:xfrm>
          <a:prstGeom prst="rect">
            <a:avLst/>
          </a:prstGeom>
          <a:noFill/>
          <a:ln>
            <a:noFill/>
          </a:ln>
        </p:spPr>
        <p:txBody>
          <a:bodyPr spcFirstLastPara="1" wrap="square" lIns="91425" tIns="91425" rIns="91425" bIns="91425" anchor="t" anchorCtr="0">
            <a:noAutofit/>
          </a:bodyPr>
          <a:lstStyle>
            <a:lvl1pPr marR="0" lvl="0" algn="l">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7" name="Google Shape;17;p3"/>
          <p:cNvSpPr txBox="1">
            <a:spLocks noGrp="1"/>
          </p:cNvSpPr>
          <p:nvPr>
            <p:ph type="body" idx="1"/>
          </p:nvPr>
        </p:nvSpPr>
        <p:spPr>
          <a:xfrm>
            <a:off x="311150" y="1152525"/>
            <a:ext cx="8521800" cy="3416400"/>
          </a:xfrm>
          <a:prstGeom prst="rect">
            <a:avLst/>
          </a:prstGeom>
          <a:noFill/>
          <a:ln>
            <a:noFill/>
          </a:ln>
        </p:spPr>
        <p:txBody>
          <a:bodyPr spcFirstLastPara="1" wrap="square" lIns="91425" tIns="91425" rIns="91425" bIns="91425" anchor="t" anchorCtr="0">
            <a:noAutofit/>
          </a:bodyPr>
          <a:lstStyle>
            <a:lvl1pPr marL="457200" marR="0" lvl="0"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8" name="Google Shape;18;p3"/>
          <p:cNvSpPr txBox="1">
            <a:spLocks noGrp="1"/>
          </p:cNvSpPr>
          <p:nvPr>
            <p:ph type="sldNum" idx="12"/>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19" name="Google Shape;19;p3"/>
          <p:cNvSpPr txBox="1">
            <a:spLocks noGrp="1"/>
          </p:cNvSpPr>
          <p:nvPr>
            <p:ph type="ftr" idx="11"/>
          </p:nvPr>
        </p:nvSpPr>
        <p:spPr>
          <a:xfrm>
            <a:off x="2706687" y="4760912"/>
            <a:ext cx="3538500" cy="1983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900" b="1" i="0" u="none">
                <a:solidFill>
                  <a:srgbClr val="898989"/>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ourworldindata.org/grapher/coal-consumption-by-country-terawatt-hours-twh"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hyperlink" Target="https://ourworldindata.org/grapher/oil-consumption-by-country" TargetMode="External"/><Relationship Id="rId4" Type="http://schemas.openxmlformats.org/officeDocument/2006/relationships/hyperlink" Target="https://ourworldindata.org/grapher/natural-gas-consumption-by-region"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5"/>
          <p:cNvSpPr txBox="1">
            <a:spLocks noGrp="1"/>
          </p:cNvSpPr>
          <p:nvPr>
            <p:ph type="ctrTitle"/>
          </p:nvPr>
        </p:nvSpPr>
        <p:spPr>
          <a:xfrm>
            <a:off x="-9525" y="1251142"/>
            <a:ext cx="9144000" cy="1712912"/>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5200"/>
              <a:buNone/>
            </a:pPr>
            <a:br>
              <a:rPr lang="en-US" sz="2000" b="1" i="0" u="none" dirty="0">
                <a:solidFill>
                  <a:srgbClr val="000000"/>
                </a:solidFill>
                <a:latin typeface="Times New Roman"/>
                <a:ea typeface="Times New Roman"/>
                <a:cs typeface="Times New Roman"/>
                <a:sym typeface="Times New Roman"/>
              </a:rPr>
            </a:br>
            <a:br>
              <a:rPr lang="en-US" sz="2000" b="1" i="0" u="none" dirty="0">
                <a:solidFill>
                  <a:srgbClr val="000000"/>
                </a:solidFill>
                <a:latin typeface="Times New Roman"/>
                <a:ea typeface="Times New Roman"/>
                <a:cs typeface="Times New Roman"/>
                <a:sym typeface="Times New Roman"/>
              </a:rPr>
            </a:br>
            <a:br>
              <a:rPr lang="en-US" sz="2000" b="1" i="0" u="none" dirty="0">
                <a:solidFill>
                  <a:srgbClr val="000000"/>
                </a:solidFill>
                <a:latin typeface="Times New Roman"/>
                <a:ea typeface="Times New Roman"/>
                <a:cs typeface="Times New Roman"/>
                <a:sym typeface="Times New Roman"/>
              </a:rPr>
            </a:br>
            <a:br>
              <a:rPr lang="en-US" sz="2000" b="1" i="0" u="none" dirty="0">
                <a:solidFill>
                  <a:srgbClr val="000000"/>
                </a:solidFill>
                <a:latin typeface="Times New Roman"/>
                <a:ea typeface="Times New Roman"/>
                <a:cs typeface="Times New Roman"/>
                <a:sym typeface="Times New Roman"/>
              </a:rPr>
            </a:br>
            <a:r>
              <a:rPr lang="en-US" sz="2000" b="1" i="0" u="none" dirty="0">
                <a:solidFill>
                  <a:srgbClr val="000000"/>
                </a:solidFill>
                <a:latin typeface="Times New Roman"/>
                <a:ea typeface="Times New Roman"/>
                <a:cs typeface="Times New Roman"/>
                <a:sym typeface="Times New Roman"/>
              </a:rPr>
              <a:t>Gokaraju Rangaraju Institute of Engineering and Technology </a:t>
            </a:r>
            <a:br>
              <a:rPr lang="en-US" sz="2000" b="1" i="0" u="none" dirty="0">
                <a:solidFill>
                  <a:srgbClr val="000000"/>
                </a:solidFill>
                <a:latin typeface="Times New Roman"/>
                <a:ea typeface="Times New Roman"/>
                <a:cs typeface="Times New Roman"/>
                <a:sym typeface="Times New Roman"/>
              </a:rPr>
            </a:br>
            <a:r>
              <a:rPr lang="en-US" sz="2000" b="1" i="0" u="none" dirty="0">
                <a:solidFill>
                  <a:srgbClr val="000000"/>
                </a:solidFill>
                <a:latin typeface="Times New Roman"/>
                <a:ea typeface="Times New Roman"/>
                <a:cs typeface="Times New Roman"/>
                <a:sym typeface="Times New Roman"/>
              </a:rPr>
              <a:t>(Autonomous)</a:t>
            </a:r>
            <a:br>
              <a:rPr lang="en-US" sz="2000" b="1" i="0" u="none" dirty="0">
                <a:solidFill>
                  <a:srgbClr val="000000"/>
                </a:solidFill>
                <a:latin typeface="Times New Roman"/>
                <a:ea typeface="Times New Roman"/>
                <a:cs typeface="Times New Roman"/>
                <a:sym typeface="Times New Roman"/>
              </a:rPr>
            </a:br>
            <a:r>
              <a:rPr lang="en-US" sz="2000" b="1" i="0" u="none" dirty="0">
                <a:solidFill>
                  <a:srgbClr val="000000"/>
                </a:solidFill>
                <a:latin typeface="Times New Roman"/>
                <a:ea typeface="Times New Roman"/>
                <a:cs typeface="Times New Roman"/>
                <a:sym typeface="Times New Roman"/>
              </a:rPr>
              <a:t>Department of Data Science</a:t>
            </a:r>
            <a:br>
              <a:rPr lang="en-US" sz="2000" b="1" i="0" u="none" dirty="0">
                <a:solidFill>
                  <a:srgbClr val="000000"/>
                </a:solidFill>
                <a:latin typeface="Times New Roman"/>
                <a:ea typeface="Times New Roman"/>
                <a:cs typeface="Times New Roman"/>
                <a:sym typeface="Times New Roman"/>
              </a:rPr>
            </a:br>
            <a:br>
              <a:rPr lang="en-US" sz="2000" b="1" i="0" u="none" dirty="0">
                <a:solidFill>
                  <a:srgbClr val="000000"/>
                </a:solidFill>
                <a:latin typeface="Times New Roman"/>
                <a:ea typeface="Times New Roman"/>
                <a:cs typeface="Times New Roman"/>
                <a:sym typeface="Times New Roman"/>
              </a:rPr>
            </a:br>
            <a:r>
              <a:rPr lang="en-US" sz="2000" b="1" i="0" u="none" dirty="0">
                <a:solidFill>
                  <a:srgbClr val="000000"/>
                </a:solidFill>
                <a:latin typeface="Times New Roman"/>
                <a:ea typeface="Times New Roman"/>
                <a:cs typeface="Times New Roman"/>
                <a:sym typeface="Times New Roman"/>
              </a:rPr>
              <a:t>M</a:t>
            </a:r>
            <a:r>
              <a:rPr lang="en-US" sz="2000" b="1" i="0" u="none" dirty="0">
                <a:solidFill>
                  <a:srgbClr val="000000"/>
                </a:solidFill>
                <a:latin typeface="Arial"/>
                <a:ea typeface="Arial"/>
                <a:cs typeface="Arial"/>
                <a:sym typeface="Arial"/>
              </a:rPr>
              <a:t>ini</a:t>
            </a:r>
            <a:r>
              <a:rPr lang="en-US" sz="2000" b="1" i="0" u="none" dirty="0">
                <a:solidFill>
                  <a:srgbClr val="000000"/>
                </a:solidFill>
                <a:latin typeface="Times New Roman"/>
                <a:ea typeface="Times New Roman"/>
                <a:cs typeface="Times New Roman"/>
                <a:sym typeface="Times New Roman"/>
              </a:rPr>
              <a:t> Project Work</a:t>
            </a:r>
            <a:br>
              <a:rPr lang="en-US" sz="2000" b="1" i="0" u="none" dirty="0">
                <a:solidFill>
                  <a:srgbClr val="000000"/>
                </a:solidFill>
                <a:latin typeface="Times New Roman"/>
                <a:ea typeface="Times New Roman"/>
                <a:cs typeface="Times New Roman"/>
                <a:sym typeface="Times New Roman"/>
              </a:rPr>
            </a:br>
            <a:r>
              <a:rPr lang="en-US" sz="2000" b="1" i="0" u="none" dirty="0">
                <a:solidFill>
                  <a:srgbClr val="000000"/>
                </a:solidFill>
                <a:latin typeface="Times New Roman"/>
                <a:ea typeface="Times New Roman"/>
                <a:cs typeface="Times New Roman"/>
                <a:sym typeface="Times New Roman"/>
              </a:rPr>
              <a:t>(CSE(DS))</a:t>
            </a:r>
            <a:endParaRPr sz="2000" dirty="0"/>
          </a:p>
        </p:txBody>
      </p:sp>
      <p:sp>
        <p:nvSpPr>
          <p:cNvPr id="29" name="Google Shape;29;p5"/>
          <p:cNvSpPr txBox="1">
            <a:spLocks noGrp="1"/>
          </p:cNvSpPr>
          <p:nvPr>
            <p:ph type="subTitle" idx="4294967295"/>
          </p:nvPr>
        </p:nvSpPr>
        <p:spPr>
          <a:xfrm>
            <a:off x="9525" y="2571750"/>
            <a:ext cx="9144000" cy="523875"/>
          </a:xfrm>
          <a:prstGeom prst="rect">
            <a:avLst/>
          </a:prstGeom>
          <a:noFill/>
          <a:ln>
            <a:noFill/>
          </a:ln>
        </p:spPr>
        <p:txBody>
          <a:bodyPr spcFirstLastPara="1" wrap="square" lIns="91425" tIns="91425" rIns="91425" bIns="91425" anchor="t" anchorCtr="0">
            <a:noAutofit/>
          </a:bodyPr>
          <a:lstStyle/>
          <a:p>
            <a:pPr marL="0" indent="0" algn="ctr" eaLnBrk="1" hangingPunct="1">
              <a:lnSpc>
                <a:spcPct val="115000"/>
              </a:lnSpc>
              <a:buClr>
                <a:srgbClr val="595959"/>
              </a:buClr>
              <a:buSzPts val="1800"/>
              <a:defRPr/>
            </a:pPr>
            <a:endParaRPr lang="en-US" altLang="en-US" sz="2200" b="1" dirty="0">
              <a:solidFill>
                <a:schemeClr val="accent1">
                  <a:lumMod val="75000"/>
                </a:schemeClr>
              </a:solidFill>
              <a:latin typeface="Times New Roman" panose="02020603050405020304" pitchFamily="18" charset="0"/>
              <a:cs typeface="Times New Roman" panose="02020603050405020304" pitchFamily="18" charset="0"/>
            </a:endParaRPr>
          </a:p>
          <a:p>
            <a:pPr marL="0" indent="0" algn="ctr" eaLnBrk="1" hangingPunct="1">
              <a:lnSpc>
                <a:spcPct val="115000"/>
              </a:lnSpc>
              <a:buClr>
                <a:srgbClr val="595959"/>
              </a:buClr>
              <a:buSzPts val="1800"/>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marL="342900" marR="0" lvl="0" indent="-342900" algn="l" rtl="0">
              <a:spcBef>
                <a:spcPts val="0"/>
              </a:spcBef>
              <a:spcAft>
                <a:spcPts val="0"/>
              </a:spcAft>
              <a:buNone/>
            </a:pPr>
            <a:endParaRPr sz="2200" b="1" i="0" u="none" dirty="0">
              <a:solidFill>
                <a:srgbClr val="0D5BDC"/>
              </a:solidFill>
              <a:latin typeface="Times New Roman"/>
              <a:ea typeface="Times New Roman"/>
              <a:cs typeface="Times New Roman"/>
              <a:sym typeface="Times New Roman"/>
            </a:endParaRPr>
          </a:p>
        </p:txBody>
      </p:sp>
      <p:pic>
        <p:nvPicPr>
          <p:cNvPr id="30" name="Google Shape;30;p5" descr="Untitled-1 copy"/>
          <p:cNvPicPr preferRelativeResize="0"/>
          <p:nvPr/>
        </p:nvPicPr>
        <p:blipFill rotWithShape="1">
          <a:blip r:embed="rId3">
            <a:alphaModFix/>
          </a:blip>
          <a:srcRect l="25561" t="23017" r="26994" b="21855"/>
          <a:stretch/>
        </p:blipFill>
        <p:spPr>
          <a:xfrm>
            <a:off x="4271962" y="114300"/>
            <a:ext cx="604837" cy="554037"/>
          </a:xfrm>
          <a:prstGeom prst="rect">
            <a:avLst/>
          </a:prstGeom>
          <a:noFill/>
          <a:ln>
            <a:noFill/>
          </a:ln>
        </p:spPr>
      </p:pic>
      <p:sp>
        <p:nvSpPr>
          <p:cNvPr id="31" name="Google Shape;31;p5"/>
          <p:cNvSpPr txBox="1"/>
          <p:nvPr/>
        </p:nvSpPr>
        <p:spPr>
          <a:xfrm>
            <a:off x="330300" y="3500437"/>
            <a:ext cx="4260900" cy="142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b="1" dirty="0">
                <a:solidFill>
                  <a:schemeClr val="dk1"/>
                </a:solidFill>
                <a:latin typeface="Times New Roman"/>
                <a:ea typeface="Times New Roman"/>
                <a:cs typeface="Times New Roman"/>
                <a:sym typeface="Times New Roman"/>
              </a:rPr>
              <a:t>Presented by:</a:t>
            </a:r>
            <a:endParaRPr sz="1600" b="1"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600" b="1" dirty="0">
                <a:solidFill>
                  <a:schemeClr val="dk1"/>
                </a:solidFill>
                <a:latin typeface="Times New Roman"/>
                <a:ea typeface="Times New Roman"/>
                <a:cs typeface="Times New Roman"/>
                <a:sym typeface="Times New Roman"/>
              </a:rPr>
              <a:t>1. B. Karthikeya (22241A6771)</a:t>
            </a:r>
            <a:endParaRPr sz="1600" b="1"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600" b="1" dirty="0">
                <a:solidFill>
                  <a:schemeClr val="dk1"/>
                </a:solidFill>
                <a:latin typeface="Times New Roman"/>
                <a:ea typeface="Times New Roman"/>
                <a:cs typeface="Times New Roman"/>
                <a:sym typeface="Times New Roman"/>
              </a:rPr>
              <a:t>2. B. Abhilash Reddy (22241A6775)</a:t>
            </a:r>
            <a:endParaRPr sz="1600" b="1"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600" b="1" dirty="0">
                <a:solidFill>
                  <a:schemeClr val="dk1"/>
                </a:solidFill>
                <a:latin typeface="Times New Roman"/>
                <a:ea typeface="Times New Roman"/>
                <a:cs typeface="Times New Roman"/>
                <a:sym typeface="Times New Roman"/>
              </a:rPr>
              <a:t>3. B. Sushanth (22241A6776)</a:t>
            </a:r>
            <a:endParaRPr sz="1600" b="1"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Times New Roman"/>
              <a:buNone/>
            </a:pPr>
            <a:endParaRPr sz="1600" b="1" dirty="0">
              <a:latin typeface="Times New Roman"/>
              <a:ea typeface="Times New Roman"/>
              <a:cs typeface="Times New Roman"/>
              <a:sym typeface="Times New Roman"/>
            </a:endParaRPr>
          </a:p>
        </p:txBody>
      </p:sp>
      <p:sp>
        <p:nvSpPr>
          <p:cNvPr id="32" name="Google Shape;32;p5"/>
          <p:cNvSpPr txBox="1"/>
          <p:nvPr/>
        </p:nvSpPr>
        <p:spPr>
          <a:xfrm>
            <a:off x="5945787" y="3500425"/>
            <a:ext cx="3294000" cy="14208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Under the Guidance of:</a:t>
            </a:r>
            <a:endParaRPr sz="1600" b="1">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100"/>
              <a:buFont typeface="Arial"/>
              <a:buNone/>
            </a:pPr>
            <a:r>
              <a:rPr lang="en-US" sz="1600" b="1">
                <a:solidFill>
                  <a:srgbClr val="006600"/>
                </a:solidFill>
                <a:latin typeface="Times New Roman"/>
                <a:ea typeface="Times New Roman"/>
                <a:cs typeface="Times New Roman"/>
                <a:sym typeface="Times New Roman"/>
              </a:rPr>
              <a:t>Dr. R.P. Ram Kumar</a:t>
            </a:r>
            <a:endParaRPr sz="1600" b="1">
              <a:solidFill>
                <a:srgbClr val="006600"/>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100"/>
              <a:buFont typeface="Arial"/>
              <a:buNone/>
            </a:pPr>
            <a:r>
              <a:rPr lang="en-US" sz="1600" b="1">
                <a:solidFill>
                  <a:srgbClr val="006600"/>
                </a:solidFill>
                <a:latin typeface="Times New Roman"/>
                <a:ea typeface="Times New Roman"/>
                <a:cs typeface="Times New Roman"/>
                <a:sym typeface="Times New Roman"/>
              </a:rPr>
              <a:t>Professor</a:t>
            </a:r>
            <a:endParaRPr sz="1600" b="1">
              <a:solidFill>
                <a:srgbClr val="006600"/>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100"/>
              <a:buFont typeface="Arial"/>
              <a:buNone/>
            </a:pPr>
            <a:r>
              <a:rPr lang="en-US" sz="1600" b="1">
                <a:solidFill>
                  <a:srgbClr val="006600"/>
                </a:solidFill>
                <a:latin typeface="Times New Roman"/>
                <a:ea typeface="Times New Roman"/>
                <a:cs typeface="Times New Roman"/>
                <a:sym typeface="Times New Roman"/>
              </a:rPr>
              <a:t>CSE(DS) Department</a:t>
            </a:r>
            <a:endParaRPr sz="1600" b="1">
              <a:solidFill>
                <a:srgbClr val="0066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600" b="1">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6"/>
          <p:cNvSpPr txBox="1">
            <a:spLocks noGrp="1"/>
          </p:cNvSpPr>
          <p:nvPr>
            <p:ph type="ctrTitle"/>
          </p:nvPr>
        </p:nvSpPr>
        <p:spPr>
          <a:xfrm>
            <a:off x="0" y="0"/>
            <a:ext cx="9144000" cy="649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endParaRPr/>
          </a:p>
        </p:txBody>
      </p:sp>
      <p:sp>
        <p:nvSpPr>
          <p:cNvPr id="39" name="Google Shape;39;p6"/>
          <p:cNvSpPr txBox="1">
            <a:spLocks noGrp="1"/>
          </p:cNvSpPr>
          <p:nvPr>
            <p:ph type="body" idx="1"/>
          </p:nvPr>
        </p:nvSpPr>
        <p:spPr>
          <a:xfrm>
            <a:off x="165100" y="914400"/>
            <a:ext cx="8763000" cy="347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6"/>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595959"/>
              </a:buClr>
              <a:buSzPts val="1000"/>
              <a:buFont typeface="Arial"/>
              <a:buNone/>
            </a:pPr>
            <a:fld id="{00000000-1234-1234-1234-123412341234}" type="slidenum">
              <a:rPr lang="en-US"/>
              <a:t>2</a:t>
            </a:fld>
            <a:endParaRPr/>
          </a:p>
        </p:txBody>
      </p:sp>
      <p:pic>
        <p:nvPicPr>
          <p:cNvPr id="41" name="Google Shape;41;p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8"/>
          <p:cNvSpPr txBox="1">
            <a:spLocks noGrp="1"/>
          </p:cNvSpPr>
          <p:nvPr>
            <p:ph type="ctrTitle"/>
          </p:nvPr>
        </p:nvSpPr>
        <p:spPr>
          <a:xfrm>
            <a:off x="-50800" y="1818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dirty="0">
                <a:solidFill>
                  <a:srgbClr val="000000"/>
                </a:solidFill>
                <a:latin typeface="Times New Roman"/>
                <a:ea typeface="Times New Roman"/>
                <a:cs typeface="Times New Roman"/>
                <a:sym typeface="Times New Roman"/>
              </a:rPr>
              <a:t>Abstract</a:t>
            </a:r>
            <a:endParaRPr dirty="0"/>
          </a:p>
        </p:txBody>
      </p:sp>
      <p:sp>
        <p:nvSpPr>
          <p:cNvPr id="54" name="Google Shape;54;p8"/>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3</a:t>
            </a:fld>
            <a:endParaRPr/>
          </a:p>
        </p:txBody>
      </p:sp>
      <p:sp>
        <p:nvSpPr>
          <p:cNvPr id="55" name="Google Shape;55;p8"/>
          <p:cNvSpPr txBox="1">
            <a:spLocks noGrp="1"/>
          </p:cNvSpPr>
          <p:nvPr>
            <p:ph type="body" idx="1"/>
          </p:nvPr>
        </p:nvSpPr>
        <p:spPr>
          <a:xfrm>
            <a:off x="190500" y="582283"/>
            <a:ext cx="8763000" cy="3671400"/>
          </a:xfrm>
          <a:prstGeom prst="rect">
            <a:avLst/>
          </a:prstGeom>
          <a:noFill/>
          <a:ln>
            <a:noFill/>
          </a:ln>
        </p:spPr>
        <p:txBody>
          <a:bodyPr spcFirstLastPara="1" wrap="square" lIns="91425" tIns="91425" rIns="91425" bIns="91425" anchor="t" anchorCtr="0">
            <a:noAutofit/>
          </a:bodyPr>
          <a:lstStyle/>
          <a:p>
            <a:pPr marL="152400" lvl="0" indent="0" algn="just" rtl="0">
              <a:lnSpc>
                <a:spcPct val="115000"/>
              </a:lnSpc>
              <a:spcBef>
                <a:spcPts val="0"/>
              </a:spcBef>
              <a:spcAft>
                <a:spcPts val="0"/>
              </a:spcAft>
              <a:buClr>
                <a:schemeClr val="dk1"/>
              </a:buClr>
              <a:buSzPts val="1100"/>
              <a:buFont typeface="Arial"/>
              <a:buNone/>
            </a:pPr>
            <a:r>
              <a:rPr lang="en-US" sz="1800" dirty="0">
                <a:solidFill>
                  <a:srgbClr val="000000"/>
                </a:solidFill>
                <a:effectLst/>
                <a:latin typeface="Times New Roman" panose="02020603050405020304" pitchFamily="18" charset="0"/>
                <a:ea typeface="Times New Roman" panose="02020603050405020304" pitchFamily="18" charset="0"/>
              </a:rPr>
              <a:t>The use of non-renewable energy resources, such as coal, oil, and natural gas, significantly impacts nature by causing air and water pollution, climate change, habitat destruction, soil degradation, and resource depletion. These activities release greenhouse gases and toxins, disrupt ecosystems, and reduce biodiversity, so understanding these trends is crucial. This Project focuses on a Comprehensive analysis of Global Energy Trends and their consumption every year using “Time series analysis and Fine-tuned LLM models” by incorporating enhanced prediction and analysis of Global Energy Consumption from Natural Resources like Coal, Oil, Natural Gas. This Project leverages Time Series Analysis (ARIMA, SARIMA) and Fine-Tuned Large Language Models (LLMs) like Mistral, Llama</a:t>
            </a:r>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to analyze and predict global energy consumption trends, using historical energy data from sources like Our World in Data (Stanford University), BP Statistical Review, the project identifies key consumption patterns across Coal, Oil, Natural gas</a:t>
            </a:r>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to support informed decision-making for Environmental Sustainability</a:t>
            </a:r>
            <a:endParaRPr sz="1900"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Problem Statement</a:t>
            </a:r>
            <a:endParaRPr/>
          </a:p>
        </p:txBody>
      </p:sp>
      <p:sp>
        <p:nvSpPr>
          <p:cNvPr id="112" name="Google Shape;112;p17"/>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4</a:t>
            </a:fld>
            <a:endParaRPr/>
          </a:p>
        </p:txBody>
      </p:sp>
      <p:sp>
        <p:nvSpPr>
          <p:cNvPr id="113" name="Google Shape;113;p17"/>
          <p:cNvSpPr txBox="1"/>
          <p:nvPr/>
        </p:nvSpPr>
        <p:spPr>
          <a:xfrm>
            <a:off x="331150" y="803225"/>
            <a:ext cx="8454900" cy="3910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900">
                <a:latin typeface="Times New Roman"/>
                <a:ea typeface="Times New Roman"/>
                <a:cs typeface="Times New Roman"/>
                <a:sym typeface="Times New Roman"/>
              </a:rPr>
              <a:t>For efficient energy management and policy making, it is essential to accurately forecast changes in global energy use. The complex, non-linear patterns of energy use are frequently difficult for traditional forecasting techniques to capture. By integrating historical data and several contributing factors, this research seeks to improve energy consumption projections through the use of time series analysis and refined Large Language Models (LLMs). The objective is to create a more accurate and dependable model that will help policymakers and energy providers around the world make well-informed decisions.</a:t>
            </a:r>
            <a:endParaRPr sz="19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Research Gaps</a:t>
            </a:r>
            <a:endParaRPr/>
          </a:p>
        </p:txBody>
      </p:sp>
      <p:sp>
        <p:nvSpPr>
          <p:cNvPr id="98" name="Google Shape;98;p15"/>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5</a:t>
            </a:fld>
            <a:endParaRPr/>
          </a:p>
        </p:txBody>
      </p:sp>
      <p:sp>
        <p:nvSpPr>
          <p:cNvPr id="99" name="Google Shape;99;p15"/>
          <p:cNvSpPr txBox="1"/>
          <p:nvPr/>
        </p:nvSpPr>
        <p:spPr>
          <a:xfrm>
            <a:off x="237200" y="685800"/>
            <a:ext cx="8666400" cy="39768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900" b="1">
                <a:latin typeface="Times New Roman"/>
                <a:ea typeface="Times New Roman"/>
                <a:cs typeface="Times New Roman"/>
                <a:sym typeface="Times New Roman"/>
              </a:rPr>
              <a:t>Data Quality and Availability:</a:t>
            </a:r>
            <a:r>
              <a:rPr lang="en-US" sz="1900">
                <a:latin typeface="Times New Roman"/>
                <a:ea typeface="Times New Roman"/>
                <a:cs typeface="Times New Roman"/>
                <a:sym typeface="Times New Roman"/>
              </a:rPr>
              <a:t> Many studies rely on limited or incomplete datasets, which may not capture the full range of factors affecting energy consumption.</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Complexity of Hybrid Models:</a:t>
            </a:r>
            <a:r>
              <a:rPr lang="en-US" sz="1900">
                <a:latin typeface="Times New Roman"/>
                <a:ea typeface="Times New Roman"/>
                <a:cs typeface="Times New Roman"/>
                <a:sym typeface="Times New Roman"/>
              </a:rPr>
              <a:t> Combining multiple forecasting models can lead to overly complex systems that are difficult to deploy and maintain in real-world scenarios.</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Data Dependency: </a:t>
            </a:r>
            <a:r>
              <a:rPr lang="en-US" sz="1900">
                <a:latin typeface="Times New Roman"/>
                <a:ea typeface="Times New Roman"/>
                <a:cs typeface="Times New Roman"/>
                <a:sym typeface="Times New Roman"/>
              </a:rPr>
              <a:t>Deep learning models require large amounts of high-quality data for training, which may not always be available in every setting.</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Data Consistency:</a:t>
            </a:r>
            <a:r>
              <a:rPr lang="en-US" sz="1900">
                <a:latin typeface="Times New Roman"/>
                <a:ea typeface="Times New Roman"/>
                <a:cs typeface="Times New Roman"/>
                <a:sym typeface="Times New Roman"/>
              </a:rPr>
              <a:t> Real-world data on energy consumption can be inconsistent, which affects the performance of machine learning models.</a:t>
            </a:r>
            <a:endParaRPr sz="19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p:nvPr/>
        </p:nvSpPr>
        <p:spPr>
          <a:xfrm>
            <a:off x="237200" y="685800"/>
            <a:ext cx="8666400" cy="39768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900" b="1">
                <a:latin typeface="Times New Roman"/>
                <a:ea typeface="Times New Roman"/>
                <a:cs typeface="Times New Roman"/>
                <a:sym typeface="Times New Roman"/>
              </a:rPr>
              <a:t>Model Complexity:</a:t>
            </a:r>
            <a:r>
              <a:rPr lang="en-US" sz="1900">
                <a:latin typeface="Times New Roman"/>
                <a:ea typeface="Times New Roman"/>
                <a:cs typeface="Times New Roman"/>
                <a:sym typeface="Times New Roman"/>
              </a:rPr>
              <a:t> LSTM models, while powerful, are computationally expensive and require significant resources, making them challenging for real-time applications.</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Long-Term Prediction:</a:t>
            </a:r>
            <a:r>
              <a:rPr lang="en-US" sz="1900">
                <a:latin typeface="Times New Roman"/>
                <a:ea typeface="Times New Roman"/>
                <a:cs typeface="Times New Roman"/>
                <a:sym typeface="Times New Roman"/>
              </a:rPr>
              <a:t> The models used face uncertainty in projecting long-term energy consumption impacts due to the unpredictability of future climate scenarios.</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Overfitting:</a:t>
            </a:r>
            <a:r>
              <a:rPr lang="en-US" sz="1900">
                <a:latin typeface="Times New Roman"/>
                <a:ea typeface="Times New Roman"/>
                <a:cs typeface="Times New Roman"/>
                <a:sym typeface="Times New Roman"/>
              </a:rPr>
              <a:t> Short-term models, such as LSTM and GRU, are prone to overfitting when trained on limited data, reducing their generalizability to new or unseen scenarios.</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Integration with Real-World Systems:</a:t>
            </a:r>
            <a:r>
              <a:rPr lang="en-US" sz="1900">
                <a:latin typeface="Times New Roman"/>
                <a:ea typeface="Times New Roman"/>
                <a:cs typeface="Times New Roman"/>
                <a:sym typeface="Times New Roman"/>
              </a:rPr>
              <a:t> The proposed models may not integrate easily into existing building management systems, making practical implementation challenging.</a:t>
            </a:r>
            <a:endParaRPr sz="1900">
              <a:latin typeface="Times New Roman"/>
              <a:ea typeface="Times New Roman"/>
              <a:cs typeface="Times New Roman"/>
              <a:sym typeface="Times New Roman"/>
            </a:endParaRPr>
          </a:p>
        </p:txBody>
      </p:sp>
      <p:sp>
        <p:nvSpPr>
          <p:cNvPr id="105" name="Google Shape;105;p16"/>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Research Gaps</a:t>
            </a:r>
            <a:endParaRPr/>
          </a:p>
        </p:txBody>
      </p:sp>
      <p:sp>
        <p:nvSpPr>
          <p:cNvPr id="106" name="Google Shape;106;p16"/>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Objectives</a:t>
            </a:r>
            <a:endParaRPr/>
          </a:p>
        </p:txBody>
      </p:sp>
      <p:sp>
        <p:nvSpPr>
          <p:cNvPr id="119" name="Google Shape;119;p18"/>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7</a:t>
            </a:fld>
            <a:endParaRPr/>
          </a:p>
        </p:txBody>
      </p:sp>
      <p:sp>
        <p:nvSpPr>
          <p:cNvPr id="120" name="Google Shape;120;p18"/>
          <p:cNvSpPr txBox="1"/>
          <p:nvPr/>
        </p:nvSpPr>
        <p:spPr>
          <a:xfrm>
            <a:off x="385500" y="544875"/>
            <a:ext cx="8373000" cy="423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b="1">
                <a:latin typeface="Times New Roman"/>
                <a:ea typeface="Times New Roman"/>
                <a:cs typeface="Times New Roman"/>
                <a:sym typeface="Times New Roman"/>
              </a:rPr>
              <a:t>To Develop a predictive model</a:t>
            </a:r>
            <a:r>
              <a:rPr lang="en-US" sz="1900">
                <a:latin typeface="Times New Roman"/>
                <a:ea typeface="Times New Roman"/>
                <a:cs typeface="Times New Roman"/>
                <a:sym typeface="Times New Roman"/>
              </a:rPr>
              <a:t> for global energy consumption trends using time series analysis and fine-tuned Large Language Models (LLMs).</a:t>
            </a:r>
            <a:endParaRPr sz="1900">
              <a:latin typeface="Times New Roman"/>
              <a:ea typeface="Times New Roman"/>
              <a:cs typeface="Times New Roman"/>
              <a:sym typeface="Times New Roman"/>
            </a:endParaRPr>
          </a:p>
          <a:p>
            <a:pPr marL="0" lvl="0" indent="0" algn="l" rtl="0">
              <a:spcBef>
                <a:spcPts val="0"/>
              </a:spcBef>
              <a:spcAft>
                <a:spcPts val="0"/>
              </a:spcAft>
              <a:buNone/>
            </a:pPr>
            <a:endParaRPr sz="1900">
              <a:latin typeface="Times New Roman"/>
              <a:ea typeface="Times New Roman"/>
              <a:cs typeface="Times New Roman"/>
              <a:sym typeface="Times New Roman"/>
            </a:endParaRPr>
          </a:p>
          <a:p>
            <a:pPr marL="0" lvl="0" indent="0" algn="l" rtl="0">
              <a:spcBef>
                <a:spcPts val="0"/>
              </a:spcBef>
              <a:spcAft>
                <a:spcPts val="0"/>
              </a:spcAft>
              <a:buNone/>
            </a:pPr>
            <a:r>
              <a:rPr lang="en-US" sz="1900" b="1">
                <a:solidFill>
                  <a:schemeClr val="dk1"/>
                </a:solidFill>
                <a:latin typeface="Times New Roman"/>
                <a:ea typeface="Times New Roman"/>
                <a:cs typeface="Times New Roman"/>
                <a:sym typeface="Times New Roman"/>
              </a:rPr>
              <a:t>To </a:t>
            </a:r>
            <a:r>
              <a:rPr lang="en-US" sz="1900" b="1">
                <a:latin typeface="Times New Roman"/>
                <a:ea typeface="Times New Roman"/>
                <a:cs typeface="Times New Roman"/>
                <a:sym typeface="Times New Roman"/>
              </a:rPr>
              <a:t>Integrate multiple data sources</a:t>
            </a:r>
            <a:r>
              <a:rPr lang="en-US" sz="1900">
                <a:latin typeface="Times New Roman"/>
                <a:ea typeface="Times New Roman"/>
                <a:cs typeface="Times New Roman"/>
                <a:sym typeface="Times New Roman"/>
              </a:rPr>
              <a:t> including historical energy consumption data, socio-economic factors, and environmental variables to improve model accuracy.</a:t>
            </a:r>
            <a:endParaRPr sz="1900">
              <a:latin typeface="Times New Roman"/>
              <a:ea typeface="Times New Roman"/>
              <a:cs typeface="Times New Roman"/>
              <a:sym typeface="Times New Roman"/>
            </a:endParaRPr>
          </a:p>
          <a:p>
            <a:pPr marL="0" lvl="0" indent="0" algn="l" rtl="0">
              <a:spcBef>
                <a:spcPts val="0"/>
              </a:spcBef>
              <a:spcAft>
                <a:spcPts val="0"/>
              </a:spcAft>
              <a:buNone/>
            </a:pPr>
            <a:endParaRPr sz="1900">
              <a:latin typeface="Times New Roman"/>
              <a:ea typeface="Times New Roman"/>
              <a:cs typeface="Times New Roman"/>
              <a:sym typeface="Times New Roman"/>
            </a:endParaRPr>
          </a:p>
          <a:p>
            <a:pPr marL="0" lvl="0" indent="0" algn="l" rtl="0">
              <a:spcBef>
                <a:spcPts val="0"/>
              </a:spcBef>
              <a:spcAft>
                <a:spcPts val="0"/>
              </a:spcAft>
              <a:buNone/>
            </a:pPr>
            <a:r>
              <a:rPr lang="en-US" sz="1900" b="1">
                <a:solidFill>
                  <a:schemeClr val="dk1"/>
                </a:solidFill>
                <a:latin typeface="Times New Roman"/>
                <a:ea typeface="Times New Roman"/>
                <a:cs typeface="Times New Roman"/>
                <a:sym typeface="Times New Roman"/>
              </a:rPr>
              <a:t>To </a:t>
            </a:r>
            <a:r>
              <a:rPr lang="en-US" sz="1900" b="1">
                <a:latin typeface="Times New Roman"/>
                <a:ea typeface="Times New Roman"/>
                <a:cs typeface="Times New Roman"/>
                <a:sym typeface="Times New Roman"/>
              </a:rPr>
              <a:t>Evaluate the performance</a:t>
            </a:r>
            <a:r>
              <a:rPr lang="en-US" sz="1900">
                <a:latin typeface="Times New Roman"/>
                <a:ea typeface="Times New Roman"/>
                <a:cs typeface="Times New Roman"/>
                <a:sym typeface="Times New Roman"/>
              </a:rPr>
              <a:t> of the proposed model by comparing it with traditional energy forecasting techniques in terms of accuracy and efficiency.</a:t>
            </a:r>
            <a:endParaRPr sz="1900">
              <a:latin typeface="Times New Roman"/>
              <a:ea typeface="Times New Roman"/>
              <a:cs typeface="Times New Roman"/>
              <a:sym typeface="Times New Roman"/>
            </a:endParaRPr>
          </a:p>
          <a:p>
            <a:pPr marL="0" lvl="0" indent="0" algn="l" rtl="0">
              <a:spcBef>
                <a:spcPts val="0"/>
              </a:spcBef>
              <a:spcAft>
                <a:spcPts val="0"/>
              </a:spcAft>
              <a:buNone/>
            </a:pPr>
            <a:endParaRPr sz="1900">
              <a:latin typeface="Times New Roman"/>
              <a:ea typeface="Times New Roman"/>
              <a:cs typeface="Times New Roman"/>
              <a:sym typeface="Times New Roman"/>
            </a:endParaRPr>
          </a:p>
          <a:p>
            <a:pPr marL="0" lvl="0" indent="0" algn="l" rtl="0">
              <a:spcBef>
                <a:spcPts val="0"/>
              </a:spcBef>
              <a:spcAft>
                <a:spcPts val="0"/>
              </a:spcAft>
              <a:buNone/>
            </a:pPr>
            <a:r>
              <a:rPr lang="en-US" sz="1900" b="1">
                <a:solidFill>
                  <a:schemeClr val="dk1"/>
                </a:solidFill>
                <a:latin typeface="Times New Roman"/>
                <a:ea typeface="Times New Roman"/>
                <a:cs typeface="Times New Roman"/>
                <a:sym typeface="Times New Roman"/>
              </a:rPr>
              <a:t>To </a:t>
            </a:r>
            <a:r>
              <a:rPr lang="en-US" sz="1900" b="1">
                <a:latin typeface="Times New Roman"/>
                <a:ea typeface="Times New Roman"/>
                <a:cs typeface="Times New Roman"/>
                <a:sym typeface="Times New Roman"/>
              </a:rPr>
              <a:t>Identify key factors</a:t>
            </a:r>
            <a:r>
              <a:rPr lang="en-US" sz="1900">
                <a:latin typeface="Times New Roman"/>
                <a:ea typeface="Times New Roman"/>
                <a:cs typeface="Times New Roman"/>
                <a:sym typeface="Times New Roman"/>
              </a:rPr>
              <a:t> influencing global energy consumption patterns and integrate them into the predictive framework.</a:t>
            </a:r>
            <a:endParaRPr sz="1900">
              <a:latin typeface="Times New Roman"/>
              <a:ea typeface="Times New Roman"/>
              <a:cs typeface="Times New Roman"/>
              <a:sym typeface="Times New Roman"/>
            </a:endParaRPr>
          </a:p>
          <a:p>
            <a:pPr marL="0" lvl="0" indent="0" algn="l" rtl="0">
              <a:spcBef>
                <a:spcPts val="0"/>
              </a:spcBef>
              <a:spcAft>
                <a:spcPts val="0"/>
              </a:spcAft>
              <a:buNone/>
            </a:pPr>
            <a:endParaRPr sz="1900">
              <a:latin typeface="Times New Roman"/>
              <a:ea typeface="Times New Roman"/>
              <a:cs typeface="Times New Roman"/>
              <a:sym typeface="Times New Roman"/>
            </a:endParaRPr>
          </a:p>
          <a:p>
            <a:pPr marL="0" lvl="0" indent="0" algn="l" rtl="0">
              <a:spcBef>
                <a:spcPts val="0"/>
              </a:spcBef>
              <a:spcAft>
                <a:spcPts val="0"/>
              </a:spcAft>
              <a:buNone/>
            </a:pPr>
            <a:r>
              <a:rPr lang="en-US" sz="1900" b="1">
                <a:solidFill>
                  <a:schemeClr val="dk1"/>
                </a:solidFill>
                <a:latin typeface="Times New Roman"/>
                <a:ea typeface="Times New Roman"/>
                <a:cs typeface="Times New Roman"/>
                <a:sym typeface="Times New Roman"/>
              </a:rPr>
              <a:t>To </a:t>
            </a:r>
            <a:r>
              <a:rPr lang="en-US" sz="1900" b="1">
                <a:latin typeface="Times New Roman"/>
                <a:ea typeface="Times New Roman"/>
                <a:cs typeface="Times New Roman"/>
                <a:sym typeface="Times New Roman"/>
              </a:rPr>
              <a:t>Provide actionable insights</a:t>
            </a:r>
            <a:r>
              <a:rPr lang="en-US" sz="1900">
                <a:latin typeface="Times New Roman"/>
                <a:ea typeface="Times New Roman"/>
                <a:cs typeface="Times New Roman"/>
                <a:sym typeface="Times New Roman"/>
              </a:rPr>
              <a:t> for energy policymakers and businesses to better manage energy resources and anticipate future demand.</a:t>
            </a:r>
            <a:endParaRPr sz="19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4" name="Picture 3">
            <a:extLst>
              <a:ext uri="{FF2B5EF4-FFF2-40B4-BE49-F238E27FC236}">
                <a16:creationId xmlns:a16="http://schemas.microsoft.com/office/drawing/2014/main" id="{495C9AD8-C9DC-4061-9845-21B665B34C1F}"/>
              </a:ext>
            </a:extLst>
          </p:cNvPr>
          <p:cNvPicPr>
            <a:picLocks noChangeAspect="1"/>
          </p:cNvPicPr>
          <p:nvPr/>
        </p:nvPicPr>
        <p:blipFill>
          <a:blip r:embed="rId3"/>
          <a:stretch>
            <a:fillRect/>
          </a:stretch>
        </p:blipFill>
        <p:spPr>
          <a:xfrm>
            <a:off x="0" y="343"/>
            <a:ext cx="9144000" cy="5142814"/>
          </a:xfrm>
          <a:prstGeom prst="rect">
            <a:avLst/>
          </a:prstGeom>
        </p:spPr>
      </p:pic>
      <p:sp>
        <p:nvSpPr>
          <p:cNvPr id="126" name="Google Shape;126;p19"/>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20"/>
          <p:cNvPicPr preferRelativeResize="0"/>
          <p:nvPr/>
        </p:nvPicPr>
        <p:blipFill>
          <a:blip r:embed="rId3">
            <a:alphaModFix/>
          </a:blip>
          <a:stretch>
            <a:fillRect/>
          </a:stretch>
        </p:blipFill>
        <p:spPr>
          <a:xfrm>
            <a:off x="-24800" y="-35050"/>
            <a:ext cx="9193575" cy="5205749"/>
          </a:xfrm>
          <a:prstGeom prst="rect">
            <a:avLst/>
          </a:prstGeom>
          <a:noFill/>
          <a:ln>
            <a:noFill/>
          </a:ln>
        </p:spPr>
      </p:pic>
      <p:sp>
        <p:nvSpPr>
          <p:cNvPr id="132" name="Google Shape;132;p20"/>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F41B0-1EFB-1C79-E66C-41CEDEBCB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980EA-FFC6-2754-1AAB-FADCA1F9CE29}"/>
              </a:ext>
            </a:extLst>
          </p:cNvPr>
          <p:cNvSpPr>
            <a:spLocks noGrp="1"/>
          </p:cNvSpPr>
          <p:nvPr>
            <p:ph type="ctrTitle"/>
          </p:nvPr>
        </p:nvSpPr>
        <p:spPr>
          <a:xfrm>
            <a:off x="0" y="0"/>
            <a:ext cx="9144000" cy="649288"/>
          </a:xfrm>
        </p:spPr>
        <p:txBody>
          <a:bodyPr>
            <a:normAutofit fontScale="90000"/>
          </a:bodyPr>
          <a:lstStyle/>
          <a:p>
            <a:pPr>
              <a:lnSpc>
                <a:spcPct val="120000"/>
              </a:lnSpc>
              <a:defRPr/>
            </a:pPr>
            <a:r>
              <a:rPr lang="en-US" dirty="0">
                <a:latin typeface="Times New Roman" panose="02020603050405020304" pitchFamily="18" charset="0"/>
                <a:ea typeface="Times New Roman"/>
                <a:cs typeface="Times New Roman" panose="02020603050405020304" pitchFamily="18" charset="0"/>
                <a:sym typeface="Times New Roman"/>
              </a:rPr>
              <a:t>Description of Architecture Diagram</a:t>
            </a:r>
            <a:endParaRPr lang="en-US" sz="700" dirty="0">
              <a:latin typeface="Times New Roman" panose="02020603050405020304" pitchFamily="18" charset="0"/>
              <a:ea typeface="Times New Roman"/>
              <a:cs typeface="Times New Roman" panose="02020603050405020304" pitchFamily="18" charset="0"/>
              <a:sym typeface="Times New Roman"/>
            </a:endParaRPr>
          </a:p>
        </p:txBody>
      </p:sp>
      <p:sp>
        <p:nvSpPr>
          <p:cNvPr id="16387" name="Slide Number Placeholder 2">
            <a:extLst>
              <a:ext uri="{FF2B5EF4-FFF2-40B4-BE49-F238E27FC236}">
                <a16:creationId xmlns:a16="http://schemas.microsoft.com/office/drawing/2014/main" id="{254B6D43-4C59-8E4C-DAE3-3CEB3532BDF5}"/>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A9C0001-0DD8-4DF5-878B-4496F178F9D6}" type="slidenum">
              <a:rPr lang="en-US" altLang="en-US" sz="1000" smtClean="0">
                <a:solidFill>
                  <a:srgbClr val="595959"/>
                </a:solidFill>
              </a:rPr>
              <a:pPr/>
              <a:t>10</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D7385EE7-7D18-05B8-A49F-B51FEEC17C1A}"/>
              </a:ext>
            </a:extLst>
          </p:cNvPr>
          <p:cNvSpPr>
            <a:spLocks noGrp="1"/>
          </p:cNvSpPr>
          <p:nvPr>
            <p:ph type="body" sz="quarter" idx="13"/>
          </p:nvPr>
        </p:nvSpPr>
        <p:spPr/>
        <p:txBody>
          <a:bodyPr spcFirstLastPara="1">
            <a:normAutofit fontScale="92500" lnSpcReduction="20000"/>
          </a:bodyPr>
          <a:lstStyle/>
          <a:p>
            <a:pPr marL="228600" indent="0" algn="just" eaLnBrk="1" fontAlgn="auto" hangingPunct="1">
              <a:lnSpc>
                <a:spcPct val="115000"/>
              </a:lnSpc>
              <a:spcBef>
                <a:spcPts val="0"/>
              </a:spcBef>
              <a:spcAft>
                <a:spcPts val="0"/>
              </a:spcAft>
              <a:buClr>
                <a:schemeClr val="dk2"/>
              </a:buClr>
              <a:buSzPts val="1800"/>
              <a:defRPr/>
            </a:pPr>
            <a:r>
              <a:rPr lang="en-IN" sz="1800" dirty="0">
                <a:effectLst/>
                <a:latin typeface="Times New Roman" panose="02020603050405020304" pitchFamily="18" charset="0"/>
                <a:ea typeface="Times New Roman" panose="02020603050405020304" pitchFamily="18" charset="0"/>
              </a:rPr>
              <a:t>The above figure shows an eight-step process for working with time series data using ARIMA and SARIMA models through different steps, from testing the data to evaluating predictions in a clear, structured way. We start with the Augmented Dickey-Fuller (ADF) test to see if the data is steady and consistent over time like checking if the data is stationary meaning its statistical properties, like mean and variance, stay consistent over time. Stationarity is crucial for models like ARIMA and SARIMA to work effectively, as they rely on predictable patterns. If the ADF test shows the data if the data is not stationary (e.g., it has trends or changing variance), we will need to transform it often by differencing before modelling. Essentially, the ADF test helps ensure your data is ready for accurate forecasting by confirming it doesn’t have unstable shifts. Stationarity transformation methods other stationarity tests; if not, we adjust it by differencing. Then, we tweak ARIMA by picking the best (p, d, q) parameters which defines the choosing how much past data, smoothing, and error to factor in and for SARIMA, we add seasonal settings (P, D, Q, m) to capture patterns that repeat, like yearly cycles.</a:t>
            </a:r>
            <a:endParaRPr lang="en-US" dirty="0">
              <a:solidFill>
                <a:schemeClr val="dk2"/>
              </a:solidFill>
              <a:sym typeface="Arial"/>
            </a:endParaRPr>
          </a:p>
        </p:txBody>
      </p:sp>
    </p:spTree>
    <p:extLst>
      <p:ext uri="{BB962C8B-B14F-4D97-AF65-F5344CB8AC3E}">
        <p14:creationId xmlns:p14="http://schemas.microsoft.com/office/powerpoint/2010/main" val="2264457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5" name="Picture 4">
            <a:extLst>
              <a:ext uri="{FF2B5EF4-FFF2-40B4-BE49-F238E27FC236}">
                <a16:creationId xmlns:a16="http://schemas.microsoft.com/office/drawing/2014/main" id="{C0C59DE2-342A-404F-6CA7-96383575D3E3}"/>
              </a:ext>
            </a:extLst>
          </p:cNvPr>
          <p:cNvPicPr>
            <a:picLocks noChangeAspect="1"/>
          </p:cNvPicPr>
          <p:nvPr/>
        </p:nvPicPr>
        <p:blipFill>
          <a:blip r:embed="rId3"/>
          <a:stretch>
            <a:fillRect/>
          </a:stretch>
        </p:blipFill>
        <p:spPr>
          <a:xfrm>
            <a:off x="83671" y="0"/>
            <a:ext cx="8976658" cy="5143500"/>
          </a:xfrm>
          <a:prstGeom prst="rect">
            <a:avLst/>
          </a:prstGeom>
        </p:spPr>
      </p:pic>
      <p:sp>
        <p:nvSpPr>
          <p:cNvPr id="138" name="Google Shape;138;p21"/>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837D2-B161-9D36-01A7-F6F2267DB843}"/>
              </a:ext>
            </a:extLst>
          </p:cNvPr>
          <p:cNvSpPr>
            <a:spLocks noGrp="1"/>
          </p:cNvSpPr>
          <p:nvPr>
            <p:ph type="ctrTitle"/>
          </p:nvPr>
        </p:nvSpPr>
        <p:spPr>
          <a:xfrm>
            <a:off x="0" y="0"/>
            <a:ext cx="9144000" cy="649288"/>
          </a:xfrm>
        </p:spPr>
        <p:txBody>
          <a:bodyPr>
            <a:normAutofit fontScale="90000"/>
          </a:bodyPr>
          <a:lstStyle/>
          <a:p>
            <a:pPr>
              <a:lnSpc>
                <a:spcPct val="120000"/>
              </a:lnSpc>
              <a:defRPr/>
            </a:pPr>
            <a:r>
              <a:rPr lang="en-US" dirty="0">
                <a:latin typeface="Times New Roman" panose="02020603050405020304" pitchFamily="18" charset="0"/>
                <a:ea typeface="Times New Roman"/>
                <a:cs typeface="Times New Roman" panose="02020603050405020304" pitchFamily="18" charset="0"/>
                <a:sym typeface="Times New Roman"/>
              </a:rPr>
              <a:t>Description of Architecture Diagram</a:t>
            </a:r>
            <a:endParaRPr lang="en-US" sz="700" dirty="0">
              <a:latin typeface="Times New Roman" panose="02020603050405020304" pitchFamily="18" charset="0"/>
              <a:ea typeface="Times New Roman"/>
              <a:cs typeface="Times New Roman" panose="02020603050405020304" pitchFamily="18" charset="0"/>
              <a:sym typeface="Times New Roman"/>
            </a:endParaRPr>
          </a:p>
        </p:txBody>
      </p:sp>
      <p:sp>
        <p:nvSpPr>
          <p:cNvPr id="16387" name="Slide Number Placeholder 2">
            <a:extLst>
              <a:ext uri="{FF2B5EF4-FFF2-40B4-BE49-F238E27FC236}">
                <a16:creationId xmlns:a16="http://schemas.microsoft.com/office/drawing/2014/main" id="{01063217-D976-9EDC-D572-A03AE57AB504}"/>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A9C0001-0DD8-4DF5-878B-4496F178F9D6}" type="slidenum">
              <a:rPr lang="en-US" altLang="en-US" sz="1000" smtClean="0">
                <a:solidFill>
                  <a:srgbClr val="595959"/>
                </a:solidFill>
              </a:rPr>
              <a:pPr/>
              <a:t>12</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8953AD58-E602-0715-82B4-62781D7722FE}"/>
              </a:ext>
            </a:extLst>
          </p:cNvPr>
          <p:cNvSpPr>
            <a:spLocks noGrp="1"/>
          </p:cNvSpPr>
          <p:nvPr>
            <p:ph type="body" sz="quarter" idx="13"/>
          </p:nvPr>
        </p:nvSpPr>
        <p:spPr/>
        <p:txBody>
          <a:bodyPr spcFirstLastPara="1">
            <a:normAutofit fontScale="92500" lnSpcReduction="10000"/>
          </a:bodyPr>
          <a:lstStyle/>
          <a:p>
            <a:pPr marL="228600" indent="0" algn="just" eaLnBrk="1" fontAlgn="auto" hangingPunct="1">
              <a:lnSpc>
                <a:spcPct val="115000"/>
              </a:lnSpc>
              <a:spcBef>
                <a:spcPts val="0"/>
              </a:spcBef>
              <a:spcAft>
                <a:spcPts val="0"/>
              </a:spcAft>
              <a:buClr>
                <a:schemeClr val="dk2"/>
              </a:buClr>
              <a:buSzPts val="1800"/>
              <a:defRPr/>
            </a:pPr>
            <a:r>
              <a:rPr lang="en-IN" sz="1800" dirty="0">
                <a:effectLst/>
                <a:latin typeface="Times New Roman" panose="02020603050405020304" pitchFamily="18" charset="0"/>
                <a:ea typeface="Times New Roman" panose="02020603050405020304" pitchFamily="18" charset="0"/>
              </a:rPr>
              <a:t>The above figure shows a four-step workflow for training and using a large language model (LLM) to analyse numerical data, generate outputs, and make predictions, guiding from model training to evaluation in a structured sequence. The process starts with the model training process, where the basic LLM starts with random weights with no prior knowledge, we perform predictions with this basic LLM with no initial knowledge about the dataset. We then fine-tune the model with structured numerical data, after fine-tuning with several techniques like Lora and </a:t>
            </a:r>
            <a:r>
              <a:rPr lang="en-IN" sz="1800" dirty="0" err="1">
                <a:effectLst/>
                <a:latin typeface="Times New Roman" panose="02020603050405020304" pitchFamily="18" charset="0"/>
                <a:ea typeface="Times New Roman" panose="02020603050405020304" pitchFamily="18" charset="0"/>
              </a:rPr>
              <a:t>QLora</a:t>
            </a:r>
            <a:r>
              <a:rPr lang="en-IN" sz="1800" dirty="0">
                <a:effectLst/>
                <a:latin typeface="Times New Roman" panose="02020603050405020304" pitchFamily="18" charset="0"/>
                <a:ea typeface="Times New Roman" panose="02020603050405020304" pitchFamily="18" charset="0"/>
              </a:rPr>
              <a:t>, the model is now ready to predict the data, comparing them to the real data to see how the model is performing and measure the loss. Then, we further re fine-tune the model with increased epochs, improving its settings to lower the loss, learning from its mistakes, and repeats this cycle (called epochs) to get better each time. Once trained, the model moves to output generation, where it can able to generate summaries and numerical predictions, or even power a chatbot to answer energy-related questions</a:t>
            </a:r>
            <a:endParaRPr lang="en-US" dirty="0">
              <a:solidFill>
                <a:schemeClr val="dk2"/>
              </a:solidFil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a:spLocks noGrp="1"/>
          </p:cNvSpPr>
          <p:nvPr>
            <p:ph type="ctrTitle"/>
          </p:nvPr>
        </p:nvSpPr>
        <p:spPr>
          <a:xfrm>
            <a:off x="0" y="-6820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Software and Hardware Requirements</a:t>
            </a:r>
            <a:endParaRPr/>
          </a:p>
        </p:txBody>
      </p:sp>
      <p:sp>
        <p:nvSpPr>
          <p:cNvPr id="144" name="Google Shape;144;p2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13</a:t>
            </a:fld>
            <a:endParaRPr/>
          </a:p>
        </p:txBody>
      </p:sp>
      <p:graphicFrame>
        <p:nvGraphicFramePr>
          <p:cNvPr id="145" name="Google Shape;145;p22"/>
          <p:cNvGraphicFramePr/>
          <p:nvPr>
            <p:extLst>
              <p:ext uri="{D42A27DB-BD31-4B8C-83A1-F6EECF244321}">
                <p14:modId xmlns:p14="http://schemas.microsoft.com/office/powerpoint/2010/main" val="1715187721"/>
              </p:ext>
            </p:extLst>
          </p:nvPr>
        </p:nvGraphicFramePr>
        <p:xfrm>
          <a:off x="358325" y="581012"/>
          <a:ext cx="8427350" cy="4349610"/>
        </p:xfrm>
        <a:graphic>
          <a:graphicData uri="http://schemas.openxmlformats.org/drawingml/2006/table">
            <a:tbl>
              <a:tblPr>
                <a:noFill/>
                <a:tableStyleId>{0EB5F669-19A5-4A0C-AAF8-9CA3CEDFA596}</a:tableStyleId>
              </a:tblPr>
              <a:tblGrid>
                <a:gridCol w="4298075">
                  <a:extLst>
                    <a:ext uri="{9D8B030D-6E8A-4147-A177-3AD203B41FA5}">
                      <a16:colId xmlns:a16="http://schemas.microsoft.com/office/drawing/2014/main" val="20000"/>
                    </a:ext>
                  </a:extLst>
                </a:gridCol>
                <a:gridCol w="4129275">
                  <a:extLst>
                    <a:ext uri="{9D8B030D-6E8A-4147-A177-3AD203B41FA5}">
                      <a16:colId xmlns:a16="http://schemas.microsoft.com/office/drawing/2014/main" val="20001"/>
                    </a:ext>
                  </a:extLst>
                </a:gridCol>
              </a:tblGrid>
              <a:tr h="364775">
                <a:tc>
                  <a:txBody>
                    <a:bodyPr/>
                    <a:lstStyle/>
                    <a:p>
                      <a:pPr marL="0" marR="0" lvl="0" indent="0" algn="ctr" rtl="0">
                        <a:lnSpc>
                          <a:spcPct val="100000"/>
                        </a:lnSpc>
                        <a:spcBef>
                          <a:spcPts val="0"/>
                        </a:spcBef>
                        <a:spcAft>
                          <a:spcPts val="0"/>
                        </a:spcAft>
                        <a:buClr>
                          <a:srgbClr val="000000"/>
                        </a:buClr>
                        <a:buSzPts val="1400"/>
                        <a:buFont typeface="Arial"/>
                        <a:buNone/>
                      </a:pPr>
                      <a:r>
                        <a:rPr lang="en-US" sz="1900" b="1" i="0" u="none" strike="noStrike" cap="none">
                          <a:solidFill>
                            <a:schemeClr val="lt1"/>
                          </a:solidFill>
                          <a:latin typeface="Times New Roman"/>
                          <a:ea typeface="Times New Roman"/>
                          <a:cs typeface="Times New Roman"/>
                          <a:sym typeface="Times New Roman"/>
                        </a:rPr>
                        <a:t>SOFTWARE</a:t>
                      </a:r>
                      <a:endParaRPr sz="1900">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900" b="1" i="0" u="none" strike="noStrike" cap="none">
                          <a:solidFill>
                            <a:schemeClr val="lt1"/>
                          </a:solidFill>
                          <a:latin typeface="Times New Roman"/>
                          <a:ea typeface="Times New Roman"/>
                          <a:cs typeface="Times New Roman"/>
                          <a:sym typeface="Times New Roman"/>
                        </a:rPr>
                        <a:t>HARDWARE</a:t>
                      </a:r>
                      <a:endParaRPr sz="1900">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968600">
                <a:tc>
                  <a:txBody>
                    <a:bodyPr/>
                    <a:lstStyle/>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Operating System</a:t>
                      </a:r>
                      <a:r>
                        <a:rPr lang="en-US" sz="1900" dirty="0">
                          <a:solidFill>
                            <a:schemeClr val="dk1"/>
                          </a:solidFill>
                          <a:latin typeface="Times New Roman"/>
                          <a:ea typeface="Times New Roman"/>
                          <a:cs typeface="Times New Roman"/>
                          <a:sym typeface="Times New Roman"/>
                        </a:rPr>
                        <a:t>: Windows 10/11, macOS, or Linux (Ubuntu preferred)</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Programming Languages</a:t>
                      </a:r>
                      <a:r>
                        <a:rPr lang="en-US" sz="1900" dirty="0">
                          <a:solidFill>
                            <a:schemeClr val="dk1"/>
                          </a:solidFill>
                          <a:latin typeface="Times New Roman"/>
                          <a:ea typeface="Times New Roman"/>
                          <a:cs typeface="Times New Roman"/>
                          <a:sym typeface="Times New Roman"/>
                        </a:rPr>
                        <a:t>: Python (preferred), R (optional for statistical modeling)</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b="1" dirty="0">
                          <a:solidFill>
                            <a:schemeClr val="dk1"/>
                          </a:solidFill>
                          <a:latin typeface="Times New Roman"/>
                          <a:ea typeface="Times New Roman"/>
                          <a:cs typeface="Times New Roman"/>
                          <a:sym typeface="Times New Roman"/>
                        </a:rPr>
                        <a:t>Libraries &amp; Frameworks</a:t>
                      </a:r>
                      <a:r>
                        <a:rPr lang="en-US" sz="1900" dirty="0">
                          <a:solidFill>
                            <a:schemeClr val="dk1"/>
                          </a:solidFill>
                          <a:latin typeface="Times New Roman"/>
                          <a:ea typeface="Times New Roman"/>
                          <a:cs typeface="Times New Roman"/>
                          <a:sym typeface="Times New Roman"/>
                        </a:rPr>
                        <a:t>:</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dirty="0">
                          <a:solidFill>
                            <a:schemeClr val="dk1"/>
                          </a:solidFill>
                          <a:latin typeface="Times New Roman"/>
                          <a:ea typeface="Times New Roman"/>
                          <a:cs typeface="Times New Roman"/>
                          <a:sym typeface="Times New Roman"/>
                        </a:rPr>
                        <a:t>Time Series Analysis: </a:t>
                      </a:r>
                      <a:r>
                        <a:rPr lang="en-US" sz="1900" dirty="0" err="1">
                          <a:solidFill>
                            <a:schemeClr val="dk1"/>
                          </a:solidFill>
                          <a:latin typeface="Times New Roman"/>
                          <a:ea typeface="Times New Roman"/>
                          <a:cs typeface="Times New Roman"/>
                          <a:sym typeface="Times New Roman"/>
                        </a:rPr>
                        <a:t>statsmodels</a:t>
                      </a:r>
                      <a:r>
                        <a:rPr lang="en-US" sz="1900" dirty="0">
                          <a:solidFill>
                            <a:schemeClr val="dk1"/>
                          </a:solidFill>
                          <a:latin typeface="Times New Roman"/>
                          <a:ea typeface="Times New Roman"/>
                          <a:cs typeface="Times New Roman"/>
                          <a:sym typeface="Times New Roman"/>
                        </a:rPr>
                        <a:t>, prophet (LSTM)</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dirty="0">
                          <a:solidFill>
                            <a:schemeClr val="dk1"/>
                          </a:solidFill>
                          <a:latin typeface="Times New Roman"/>
                          <a:ea typeface="Times New Roman"/>
                          <a:cs typeface="Times New Roman"/>
                          <a:sym typeface="Times New Roman"/>
                        </a:rPr>
                        <a:t>Machine Learning: </a:t>
                      </a:r>
                      <a:r>
                        <a:rPr lang="en-US" sz="1900" dirty="0" err="1">
                          <a:solidFill>
                            <a:schemeClr val="dk1"/>
                          </a:solidFill>
                          <a:latin typeface="Times New Roman"/>
                          <a:ea typeface="Times New Roman"/>
                          <a:cs typeface="Times New Roman"/>
                          <a:sym typeface="Times New Roman"/>
                        </a:rPr>
                        <a:t>tensorflow</a:t>
                      </a:r>
                      <a:r>
                        <a:rPr lang="en-US" sz="1900" dirty="0">
                          <a:solidFill>
                            <a:schemeClr val="dk1"/>
                          </a:solidFill>
                          <a:latin typeface="Times New Roman"/>
                          <a:ea typeface="Times New Roman"/>
                          <a:cs typeface="Times New Roman"/>
                          <a:sym typeface="Times New Roman"/>
                        </a:rPr>
                        <a:t>, torch</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dirty="0">
                          <a:solidFill>
                            <a:schemeClr val="dk1"/>
                          </a:solidFill>
                          <a:latin typeface="Times New Roman"/>
                          <a:ea typeface="Times New Roman"/>
                          <a:cs typeface="Times New Roman"/>
                          <a:sym typeface="Times New Roman"/>
                        </a:rPr>
                        <a:t>Data Processing: pandas, </a:t>
                      </a:r>
                      <a:r>
                        <a:rPr lang="en-US" sz="1900" dirty="0" err="1">
                          <a:solidFill>
                            <a:schemeClr val="dk1"/>
                          </a:solidFill>
                          <a:latin typeface="Times New Roman"/>
                          <a:ea typeface="Times New Roman"/>
                          <a:cs typeface="Times New Roman"/>
                          <a:sym typeface="Times New Roman"/>
                        </a:rPr>
                        <a:t>numpy</a:t>
                      </a:r>
                      <a:r>
                        <a:rPr lang="en-US" sz="1900" dirty="0">
                          <a:solidFill>
                            <a:schemeClr val="dk1"/>
                          </a:solidFill>
                          <a:latin typeface="Times New Roman"/>
                          <a:ea typeface="Times New Roman"/>
                          <a:cs typeface="Times New Roman"/>
                          <a:sym typeface="Times New Roman"/>
                        </a:rPr>
                        <a:t>, matplotlib</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dirty="0">
                          <a:solidFill>
                            <a:schemeClr val="dk1"/>
                          </a:solidFill>
                          <a:latin typeface="Times New Roman"/>
                          <a:ea typeface="Times New Roman"/>
                          <a:cs typeface="Times New Roman"/>
                          <a:sym typeface="Times New Roman"/>
                        </a:rPr>
                        <a:t>LLM Fine-Tuning &amp; Inference: transformers, </a:t>
                      </a:r>
                      <a:r>
                        <a:rPr lang="en-US" sz="1900" dirty="0" err="1">
                          <a:solidFill>
                            <a:schemeClr val="dk1"/>
                          </a:solidFill>
                          <a:latin typeface="Times New Roman"/>
                          <a:ea typeface="Times New Roman"/>
                          <a:cs typeface="Times New Roman"/>
                          <a:sym typeface="Times New Roman"/>
                        </a:rPr>
                        <a:t>bitsAndBytes</a:t>
                      </a:r>
                      <a:r>
                        <a:rPr lang="en-US" sz="1900" dirty="0">
                          <a:solidFill>
                            <a:schemeClr val="dk1"/>
                          </a:solidFill>
                          <a:latin typeface="Times New Roman"/>
                          <a:ea typeface="Times New Roman"/>
                          <a:cs typeface="Times New Roman"/>
                          <a:sym typeface="Times New Roman"/>
                        </a:rPr>
                        <a:t>, accelerate</a:t>
                      </a:r>
                      <a:endParaRPr sz="1900" dirty="0">
                        <a:solidFill>
                          <a:schemeClr val="dk1"/>
                        </a:solidFill>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CPU</a:t>
                      </a:r>
                      <a:r>
                        <a:rPr lang="en-US" sz="1900" dirty="0">
                          <a:solidFill>
                            <a:schemeClr val="dk1"/>
                          </a:solidFill>
                          <a:latin typeface="Times New Roman"/>
                          <a:ea typeface="Times New Roman"/>
                          <a:cs typeface="Times New Roman"/>
                          <a:sym typeface="Times New Roman"/>
                        </a:rPr>
                        <a:t>: Intel Core i7/i9 (12th Gen or later) or AMD Ryzen 7/9 (5000 series or later)</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RAM</a:t>
                      </a:r>
                      <a:r>
                        <a:rPr lang="en-US" sz="1900" dirty="0">
                          <a:solidFill>
                            <a:schemeClr val="dk1"/>
                          </a:solidFill>
                          <a:latin typeface="Times New Roman"/>
                          <a:ea typeface="Times New Roman"/>
                          <a:cs typeface="Times New Roman"/>
                          <a:sym typeface="Times New Roman"/>
                        </a:rPr>
                        <a:t>: Minimum 16GB</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b="1" dirty="0">
                          <a:solidFill>
                            <a:schemeClr val="dk1"/>
                          </a:solidFill>
                          <a:latin typeface="Times New Roman"/>
                          <a:ea typeface="Times New Roman"/>
                          <a:cs typeface="Times New Roman"/>
                          <a:sym typeface="Times New Roman"/>
                        </a:rPr>
                        <a:t>GPU</a:t>
                      </a:r>
                      <a:r>
                        <a:rPr lang="en-US" sz="1900" dirty="0">
                          <a:solidFill>
                            <a:schemeClr val="dk1"/>
                          </a:solidFill>
                          <a:latin typeface="Times New Roman"/>
                          <a:ea typeface="Times New Roman"/>
                          <a:cs typeface="Times New Roman"/>
                          <a:sym typeface="Times New Roman"/>
                        </a:rPr>
                        <a:t>: NVIDIA RTX 3090/4090, T4 GPU (for fine-tuning LLMs)</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Cloud GPU Access</a:t>
                      </a:r>
                      <a:r>
                        <a:rPr lang="en-US" sz="1900" dirty="0">
                          <a:solidFill>
                            <a:schemeClr val="dk1"/>
                          </a:solidFill>
                          <a:latin typeface="Times New Roman"/>
                          <a:ea typeface="Times New Roman"/>
                          <a:cs typeface="Times New Roman"/>
                          <a:sym typeface="Times New Roman"/>
                        </a:rPr>
                        <a:t>: Google </a:t>
                      </a:r>
                      <a:r>
                        <a:rPr lang="en-US" sz="1900" dirty="0" err="1">
                          <a:solidFill>
                            <a:schemeClr val="dk1"/>
                          </a:solidFill>
                          <a:latin typeface="Times New Roman"/>
                          <a:ea typeface="Times New Roman"/>
                          <a:cs typeface="Times New Roman"/>
                          <a:sym typeface="Times New Roman"/>
                        </a:rPr>
                        <a:t>Colab</a:t>
                      </a:r>
                      <a:r>
                        <a:rPr lang="en-US" sz="1900" dirty="0">
                          <a:solidFill>
                            <a:schemeClr val="dk1"/>
                          </a:solidFill>
                          <a:latin typeface="Times New Roman"/>
                          <a:ea typeface="Times New Roman"/>
                          <a:cs typeface="Times New Roman"/>
                          <a:sym typeface="Times New Roman"/>
                        </a:rPr>
                        <a:t> (Inference), Kaggle (Training Model)</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Storage</a:t>
                      </a:r>
                      <a:r>
                        <a:rPr lang="en-US" sz="1900" dirty="0">
                          <a:solidFill>
                            <a:schemeClr val="dk1"/>
                          </a:solidFill>
                          <a:latin typeface="Times New Roman"/>
                          <a:ea typeface="Times New Roman"/>
                          <a:cs typeface="Times New Roman"/>
                          <a:sym typeface="Times New Roman"/>
                        </a:rPr>
                        <a:t>: SSD (Minimum 1TB)</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Network</a:t>
                      </a:r>
                      <a:r>
                        <a:rPr lang="en-US" sz="1900" dirty="0">
                          <a:solidFill>
                            <a:schemeClr val="dk1"/>
                          </a:solidFill>
                          <a:latin typeface="Times New Roman"/>
                          <a:ea typeface="Times New Roman"/>
                          <a:cs typeface="Times New Roman"/>
                          <a:sym typeface="Times New Roman"/>
                        </a:rPr>
                        <a:t>: High-speed internet (for cloud-based LLM training &amp; data fetching)</a:t>
                      </a:r>
                      <a:endParaRPr sz="19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900" dirty="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a:spLocks noGrp="1"/>
          </p:cNvSpPr>
          <p:nvPr>
            <p:ph type="body" idx="1"/>
          </p:nvPr>
        </p:nvSpPr>
        <p:spPr>
          <a:xfrm>
            <a:off x="230175" y="559600"/>
            <a:ext cx="8697900" cy="4322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1900"/>
              <a:t>1. Coal Consumption Dataset</a:t>
            </a:r>
            <a:endParaRPr sz="1900"/>
          </a:p>
          <a:p>
            <a:pPr marL="0" lvl="0" indent="0" algn="l" rtl="0">
              <a:lnSpc>
                <a:spcPct val="100000"/>
              </a:lnSpc>
              <a:spcBef>
                <a:spcPts val="0"/>
              </a:spcBef>
              <a:spcAft>
                <a:spcPts val="0"/>
              </a:spcAft>
              <a:buNone/>
            </a:pPr>
            <a:r>
              <a:rPr lang="en-US" sz="1900"/>
              <a:t>   </a:t>
            </a:r>
            <a:r>
              <a:rPr lang="en-US" sz="1900" u="sng">
                <a:solidFill>
                  <a:srgbClr val="00B0F0"/>
                </a:solidFill>
                <a:hlinkClick r:id="rId3">
                  <a:extLst>
                    <a:ext uri="{A12FA001-AC4F-418D-AE19-62706E023703}">
                      <ahyp:hlinkClr xmlns:ahyp="http://schemas.microsoft.com/office/drawing/2018/hyperlinkcolor" val="tx"/>
                    </a:ext>
                  </a:extLst>
                </a:hlinkClick>
              </a:rPr>
              <a:t>https://ourworldindata.org/grapher/coal-consumption-by-country-terawatt-hours-twh</a:t>
            </a:r>
            <a:endParaRPr sz="1900">
              <a:solidFill>
                <a:srgbClr val="00B0F0"/>
              </a:solidFill>
            </a:endParaRPr>
          </a:p>
          <a:p>
            <a:pPr marL="0" lvl="0" indent="0" algn="l" rtl="0">
              <a:lnSpc>
                <a:spcPct val="100000"/>
              </a:lnSpc>
              <a:spcBef>
                <a:spcPts val="0"/>
              </a:spcBef>
              <a:spcAft>
                <a:spcPts val="0"/>
              </a:spcAft>
              <a:buNone/>
            </a:pPr>
            <a:r>
              <a:rPr lang="en-US" sz="1900">
                <a:solidFill>
                  <a:schemeClr val="dk1"/>
                </a:solidFill>
              </a:rPr>
              <a:t>2. Natural Gas Consumption Dataset</a:t>
            </a:r>
            <a:r>
              <a:rPr lang="en-US" sz="1900">
                <a:solidFill>
                  <a:srgbClr val="00B0F0"/>
                </a:solidFill>
              </a:rPr>
              <a:t>	</a:t>
            </a:r>
            <a:endParaRPr sz="1900">
              <a:solidFill>
                <a:srgbClr val="00B0F0"/>
              </a:solidFill>
            </a:endParaRPr>
          </a:p>
          <a:p>
            <a:pPr marL="0" lvl="0" indent="0" algn="l" rtl="0">
              <a:lnSpc>
                <a:spcPct val="100000"/>
              </a:lnSpc>
              <a:spcBef>
                <a:spcPts val="0"/>
              </a:spcBef>
              <a:spcAft>
                <a:spcPts val="0"/>
              </a:spcAft>
              <a:buNone/>
            </a:pPr>
            <a:r>
              <a:rPr lang="en-US" sz="1900">
                <a:solidFill>
                  <a:srgbClr val="00B0F0"/>
                </a:solidFill>
              </a:rPr>
              <a:t>   </a:t>
            </a:r>
            <a:r>
              <a:rPr lang="en-US" sz="1900" u="sng">
                <a:solidFill>
                  <a:srgbClr val="00B0F0"/>
                </a:solidFill>
                <a:hlinkClick r:id="rId4">
                  <a:extLst>
                    <a:ext uri="{A12FA001-AC4F-418D-AE19-62706E023703}">
                      <ahyp:hlinkClr xmlns:ahyp="http://schemas.microsoft.com/office/drawing/2018/hyperlinkcolor" val="tx"/>
                    </a:ext>
                  </a:extLst>
                </a:hlinkClick>
              </a:rPr>
              <a:t>https://ourworldindata.org/grapher/natural-gas-consumption-by-region</a:t>
            </a:r>
            <a:endParaRPr sz="1900">
              <a:solidFill>
                <a:srgbClr val="00B0F0"/>
              </a:solidFill>
            </a:endParaRPr>
          </a:p>
          <a:p>
            <a:pPr marL="0" lvl="0" indent="0" algn="l" rtl="0">
              <a:lnSpc>
                <a:spcPct val="100000"/>
              </a:lnSpc>
              <a:spcBef>
                <a:spcPts val="0"/>
              </a:spcBef>
              <a:spcAft>
                <a:spcPts val="0"/>
              </a:spcAft>
              <a:buNone/>
            </a:pPr>
            <a:r>
              <a:rPr lang="en-US" sz="1900">
                <a:solidFill>
                  <a:schemeClr val="dk1"/>
                </a:solidFill>
              </a:rPr>
              <a:t>3. Oil Consumption Dataset</a:t>
            </a:r>
            <a:endParaRPr sz="1900">
              <a:solidFill>
                <a:schemeClr val="dk1"/>
              </a:solidFill>
            </a:endParaRPr>
          </a:p>
          <a:p>
            <a:pPr marL="0" lvl="0" indent="0" algn="l" rtl="0">
              <a:lnSpc>
                <a:spcPct val="100000"/>
              </a:lnSpc>
              <a:spcBef>
                <a:spcPts val="0"/>
              </a:spcBef>
              <a:spcAft>
                <a:spcPts val="0"/>
              </a:spcAft>
              <a:buNone/>
            </a:pPr>
            <a:r>
              <a:rPr lang="en-US" sz="1900">
                <a:solidFill>
                  <a:srgbClr val="00B0F0"/>
                </a:solidFill>
              </a:rPr>
              <a:t>   </a:t>
            </a:r>
            <a:r>
              <a:rPr lang="en-US" sz="1900" u="sng">
                <a:solidFill>
                  <a:srgbClr val="00B0F0"/>
                </a:solidFill>
                <a:hlinkClick r:id="rId5">
                  <a:extLst>
                    <a:ext uri="{A12FA001-AC4F-418D-AE19-62706E023703}">
                      <ahyp:hlinkClr xmlns:ahyp="http://schemas.microsoft.com/office/drawing/2018/hyperlinkcolor" val="tx"/>
                    </a:ext>
                  </a:extLst>
                </a:hlinkClick>
              </a:rPr>
              <a:t>https://ourworldindata.org/grapher/oil-consumption-by-country</a:t>
            </a:r>
            <a:endParaRPr sz="1900">
              <a:solidFill>
                <a:srgbClr val="00B0F0"/>
              </a:solidFill>
            </a:endParaRPr>
          </a:p>
          <a:p>
            <a:pPr marL="0" lvl="0" indent="0" algn="l" rtl="0">
              <a:lnSpc>
                <a:spcPct val="100000"/>
              </a:lnSpc>
              <a:spcBef>
                <a:spcPts val="0"/>
              </a:spcBef>
              <a:spcAft>
                <a:spcPts val="0"/>
              </a:spcAft>
              <a:buNone/>
            </a:pPr>
            <a:endParaRPr sz="1900">
              <a:solidFill>
                <a:srgbClr val="00B0F0"/>
              </a:solidFill>
            </a:endParaRPr>
          </a:p>
          <a:p>
            <a:pPr marL="0" lvl="0" indent="0" algn="l" rtl="0">
              <a:lnSpc>
                <a:spcPct val="100000"/>
              </a:lnSpc>
              <a:spcBef>
                <a:spcPts val="0"/>
              </a:spcBef>
              <a:spcAft>
                <a:spcPts val="0"/>
              </a:spcAft>
              <a:buNone/>
            </a:pPr>
            <a:r>
              <a:rPr lang="en-US" sz="1900" b="1">
                <a:solidFill>
                  <a:schemeClr val="dk1"/>
                </a:solidFill>
              </a:rPr>
              <a:t>Size of the Datasets</a:t>
            </a:r>
            <a:r>
              <a:rPr lang="en-US" sz="1900">
                <a:solidFill>
                  <a:schemeClr val="dk1"/>
                </a:solidFill>
              </a:rPr>
              <a:t>: 5522 rows Each including 73 Countries and 31 Regions.</a:t>
            </a:r>
            <a:endParaRPr sz="1900">
              <a:solidFill>
                <a:schemeClr val="dk1"/>
              </a:solidFill>
            </a:endParaRPr>
          </a:p>
          <a:p>
            <a:pPr marL="0" lvl="0" indent="0" algn="l" rtl="0">
              <a:lnSpc>
                <a:spcPct val="100000"/>
              </a:lnSpc>
              <a:spcBef>
                <a:spcPts val="0"/>
              </a:spcBef>
              <a:spcAft>
                <a:spcPts val="0"/>
              </a:spcAft>
              <a:buNone/>
            </a:pPr>
            <a:r>
              <a:rPr lang="en-US" sz="1900" b="1">
                <a:solidFill>
                  <a:schemeClr val="dk1"/>
                </a:solidFill>
              </a:rPr>
              <a:t>Attributes</a:t>
            </a:r>
            <a:r>
              <a:rPr lang="en-US" sz="1900">
                <a:solidFill>
                  <a:schemeClr val="dk1"/>
                </a:solidFill>
              </a:rPr>
              <a:t>:</a:t>
            </a:r>
            <a:endParaRPr sz="1900">
              <a:solidFill>
                <a:schemeClr val="dk1"/>
              </a:solidFill>
            </a:endParaRPr>
          </a:p>
          <a:p>
            <a:pPr marL="0" lvl="0" indent="457200" algn="l" rtl="0">
              <a:lnSpc>
                <a:spcPct val="100000"/>
              </a:lnSpc>
              <a:spcBef>
                <a:spcPts val="0"/>
              </a:spcBef>
              <a:spcAft>
                <a:spcPts val="0"/>
              </a:spcAft>
              <a:buNone/>
            </a:pPr>
            <a:r>
              <a:rPr lang="en-US" sz="1900" b="1">
                <a:solidFill>
                  <a:schemeClr val="dk1"/>
                </a:solidFill>
              </a:rPr>
              <a:t>Entity</a:t>
            </a:r>
            <a:r>
              <a:rPr lang="en-US" sz="1900">
                <a:solidFill>
                  <a:schemeClr val="dk1"/>
                </a:solidFill>
              </a:rPr>
              <a:t>: Categorical attribute (Country or Region).</a:t>
            </a:r>
            <a:endParaRPr sz="1900">
              <a:solidFill>
                <a:schemeClr val="dk1"/>
              </a:solidFill>
            </a:endParaRPr>
          </a:p>
          <a:p>
            <a:pPr marL="0" lvl="0" indent="457200" algn="l" rtl="0">
              <a:spcBef>
                <a:spcPts val="0"/>
              </a:spcBef>
              <a:spcAft>
                <a:spcPts val="0"/>
              </a:spcAft>
              <a:buClr>
                <a:schemeClr val="dk1"/>
              </a:buClr>
              <a:buSzPts val="1100"/>
              <a:buFont typeface="Arial"/>
              <a:buNone/>
            </a:pPr>
            <a:r>
              <a:rPr lang="en-US" sz="1900" b="1">
                <a:solidFill>
                  <a:schemeClr val="dk1"/>
                </a:solidFill>
              </a:rPr>
              <a:t>Year</a:t>
            </a:r>
            <a:r>
              <a:rPr lang="en-US" sz="1900">
                <a:solidFill>
                  <a:schemeClr val="dk1"/>
                </a:solidFill>
              </a:rPr>
              <a:t>: Numerical attribute (Integer, representing the year).</a:t>
            </a:r>
            <a:endParaRPr sz="1900">
              <a:solidFill>
                <a:schemeClr val="dk1"/>
              </a:solidFill>
            </a:endParaRPr>
          </a:p>
          <a:p>
            <a:pPr marL="457200" lvl="0" indent="0" algn="l" rtl="0">
              <a:spcBef>
                <a:spcPts val="0"/>
              </a:spcBef>
              <a:spcAft>
                <a:spcPts val="0"/>
              </a:spcAft>
              <a:buNone/>
            </a:pPr>
            <a:r>
              <a:rPr lang="en-US" sz="1900" b="1">
                <a:solidFill>
                  <a:schemeClr val="dk1"/>
                </a:solidFill>
              </a:rPr>
              <a:t>Consumption (TWh)</a:t>
            </a:r>
            <a:r>
              <a:rPr lang="en-US" sz="1900">
                <a:solidFill>
                  <a:schemeClr val="dk1"/>
                </a:solidFill>
              </a:rPr>
              <a:t>: Numerical attribute (Floating point, representing energy consumption in TWh).</a:t>
            </a:r>
            <a:endParaRPr sz="1900">
              <a:solidFill>
                <a:schemeClr val="dk1"/>
              </a:solidFill>
            </a:endParaRPr>
          </a:p>
          <a:p>
            <a:pPr marL="0" lvl="0" indent="0" algn="l" rtl="0">
              <a:spcBef>
                <a:spcPts val="0"/>
              </a:spcBef>
              <a:spcAft>
                <a:spcPts val="0"/>
              </a:spcAft>
              <a:buNone/>
            </a:pPr>
            <a:r>
              <a:rPr lang="en-US" sz="1900" b="1">
                <a:solidFill>
                  <a:schemeClr val="dk1"/>
                </a:solidFill>
              </a:rPr>
              <a:t>Sources</a:t>
            </a:r>
            <a:r>
              <a:rPr lang="en-US" sz="1900">
                <a:solidFill>
                  <a:schemeClr val="dk1"/>
                </a:solidFill>
              </a:rPr>
              <a:t>: Statistical Review of World Energy, Our World in Data.</a:t>
            </a:r>
            <a:endParaRPr sz="1900">
              <a:solidFill>
                <a:schemeClr val="dk1"/>
              </a:solidFill>
            </a:endParaRPr>
          </a:p>
          <a:p>
            <a:pPr marL="342900" lvl="0" indent="0" algn="l" rtl="0">
              <a:lnSpc>
                <a:spcPct val="100000"/>
              </a:lnSpc>
              <a:spcBef>
                <a:spcPts val="0"/>
              </a:spcBef>
              <a:spcAft>
                <a:spcPts val="0"/>
              </a:spcAft>
              <a:buNone/>
            </a:pPr>
            <a:endParaRPr sz="1900"/>
          </a:p>
        </p:txBody>
      </p:sp>
      <p:sp>
        <p:nvSpPr>
          <p:cNvPr id="151" name="Google Shape;151;p23"/>
          <p:cNvSpPr txBox="1">
            <a:spLocks noGrp="1"/>
          </p:cNvSpPr>
          <p:nvPr>
            <p:ph type="ctrTitle"/>
          </p:nvPr>
        </p:nvSpPr>
        <p:spPr>
          <a:xfrm>
            <a:off x="7125" y="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Datasets Details</a:t>
            </a:r>
            <a:endParaRPr/>
          </a:p>
        </p:txBody>
      </p:sp>
      <p:sp>
        <p:nvSpPr>
          <p:cNvPr id="152" name="Google Shape;152;p23"/>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Google Shape;353;p10">
            <a:extLst>
              <a:ext uri="{FF2B5EF4-FFF2-40B4-BE49-F238E27FC236}">
                <a16:creationId xmlns:a16="http://schemas.microsoft.com/office/drawing/2014/main" id="{37FD1DCD-BD88-ED57-41C5-5CA1A5467341}"/>
              </a:ext>
            </a:extLst>
          </p:cNvPr>
          <p:cNvSpPr txBox="1">
            <a:spLocks noChangeArrowheads="1"/>
          </p:cNvSpPr>
          <p:nvPr/>
        </p:nvSpPr>
        <p:spPr bwMode="auto">
          <a:xfrm>
            <a:off x="0" y="0"/>
            <a:ext cx="9144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20000"/>
              </a:lnSpc>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Implementation Details</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Box 1">
            <a:extLst>
              <a:ext uri="{FF2B5EF4-FFF2-40B4-BE49-F238E27FC236}">
                <a16:creationId xmlns:a16="http://schemas.microsoft.com/office/drawing/2014/main" id="{83EB185B-0ACC-BBEF-2572-359E7A9B537A}"/>
              </a:ext>
            </a:extLst>
          </p:cNvPr>
          <p:cNvSpPr txBox="1"/>
          <p:nvPr/>
        </p:nvSpPr>
        <p:spPr>
          <a:xfrm>
            <a:off x="234950" y="571500"/>
            <a:ext cx="8674100" cy="4801314"/>
          </a:xfrm>
          <a:prstGeom prst="rect">
            <a:avLst/>
          </a:prstGeom>
          <a:noFill/>
        </p:spPr>
        <p:txBody>
          <a:bodyPr>
            <a:spAutoFit/>
          </a:bodyPr>
          <a:lstStyle/>
          <a:p>
            <a:pPr algn="just" rtl="0">
              <a:buNone/>
            </a:pPr>
            <a:r>
              <a:rPr lang="en-US" sz="1800" b="1" dirty="0">
                <a:solidFill>
                  <a:srgbClr val="000000"/>
                </a:solidFill>
                <a:effectLst/>
                <a:latin typeface="Times New Roman" panose="02020603050405020304" pitchFamily="18" charset="0"/>
                <a:cs typeface="Times New Roman" panose="02020603050405020304" pitchFamily="18" charset="0"/>
              </a:rPr>
              <a:t>1. Code Style: Adhere to PEP 8</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Follow PEP 8 guidelines: use 4 spaces for indentation, limit lines to 79 characters (or 120 if agreed), use </a:t>
            </a:r>
            <a:r>
              <a:rPr lang="en-US" sz="1800" dirty="0" err="1">
                <a:solidFill>
                  <a:srgbClr val="000000"/>
                </a:solidFill>
                <a:effectLst/>
                <a:latin typeface="Times New Roman" panose="02020603050405020304" pitchFamily="18" charset="0"/>
                <a:cs typeface="Times New Roman" panose="02020603050405020304" pitchFamily="18" charset="0"/>
              </a:rPr>
              <a:t>snake_case</a:t>
            </a:r>
            <a:r>
              <a:rPr lang="en-US" sz="1800" dirty="0">
                <a:solidFill>
                  <a:srgbClr val="000000"/>
                </a:solidFill>
                <a:effectLst/>
                <a:latin typeface="Times New Roman" panose="02020603050405020304" pitchFamily="18" charset="0"/>
                <a:cs typeface="Times New Roman" panose="02020603050405020304" pitchFamily="18" charset="0"/>
              </a:rPr>
              <a:t> for variables/functions, and add spaces around operators.</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Use formatters like black and linters like flake8 to enforce consistent style.</a:t>
            </a:r>
          </a:p>
          <a:p>
            <a:pPr algn="just" rtl="0">
              <a:buFont typeface="Arial" panose="020B0604020202020204" pitchFamily="34" charset="0"/>
              <a:buChar char="•"/>
            </a:pPr>
            <a:endParaRPr lang="en-US" sz="1800" dirty="0">
              <a:solidFill>
                <a:srgbClr val="000000"/>
              </a:solidFill>
              <a:effectLst/>
              <a:latin typeface="Times New Roman" panose="02020603050405020304" pitchFamily="18" charset="0"/>
              <a:cs typeface="Times New Roman" panose="02020603050405020304" pitchFamily="18" charset="0"/>
            </a:endParaRPr>
          </a:p>
          <a:p>
            <a:pPr algn="just" rtl="0">
              <a:buNone/>
            </a:pPr>
            <a:r>
              <a:rPr lang="en-US" sz="1800" b="1" dirty="0">
                <a:solidFill>
                  <a:srgbClr val="000000"/>
                </a:solidFill>
                <a:effectLst/>
                <a:latin typeface="Times New Roman" panose="02020603050405020304" pitchFamily="18" charset="0"/>
                <a:cs typeface="Times New Roman" panose="02020603050405020304" pitchFamily="18" charset="0"/>
              </a:rPr>
              <a:t>2. </a:t>
            </a:r>
            <a:r>
              <a:rPr lang="en-US" sz="1800" b="1" dirty="0" err="1">
                <a:solidFill>
                  <a:srgbClr val="000000"/>
                </a:solidFill>
                <a:effectLst/>
                <a:latin typeface="Times New Roman" panose="02020603050405020304" pitchFamily="18" charset="0"/>
                <a:cs typeface="Times New Roman" panose="02020603050405020304" pitchFamily="18" charset="0"/>
              </a:rPr>
              <a:t>Jupyter</a:t>
            </a:r>
            <a:r>
              <a:rPr lang="en-US" sz="1800" b="1" dirty="0">
                <a:solidFill>
                  <a:srgbClr val="000000"/>
                </a:solidFill>
                <a:effectLst/>
                <a:latin typeface="Times New Roman" panose="02020603050405020304" pitchFamily="18" charset="0"/>
                <a:cs typeface="Times New Roman" panose="02020603050405020304" pitchFamily="18" charset="0"/>
              </a:rPr>
              <a:t> Notebook Best Practices</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Start notebooks with a markdown cell explaining their purpose.</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Use markdown headings to organize sections like data loading, model training, and evaluation.</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Keep code cells short, focusing on one task per cell.</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List all dependencies at the top in a dedicated cell for imports and installations.</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Name notebooks descriptively to reflect their purpose.</a:t>
            </a:r>
          </a:p>
          <a:p>
            <a:pPr algn="just" rtl="0"/>
            <a:endParaRPr lang="en-US" sz="1800" dirty="0">
              <a:solidFill>
                <a:srgbClr val="000000"/>
              </a:solidFill>
              <a:effectLst/>
              <a:latin typeface="Times New Roman" panose="02020603050405020304" pitchFamily="18" charset="0"/>
              <a:cs typeface="Times New Roman" panose="02020603050405020304" pitchFamily="18" charset="0"/>
            </a:endParaRPr>
          </a:p>
          <a:p>
            <a:pPr algn="just" rtl="0">
              <a:buNone/>
            </a:pPr>
            <a:r>
              <a:rPr lang="en-US" sz="1800" b="1" dirty="0">
                <a:solidFill>
                  <a:srgbClr val="000000"/>
                </a:solidFill>
                <a:effectLst/>
                <a:latin typeface="Times New Roman" panose="02020603050405020304" pitchFamily="18" charset="0"/>
                <a:cs typeface="Times New Roman" panose="02020603050405020304" pitchFamily="18" charset="0"/>
              </a:rPr>
              <a:t>3. Version Control: Git Best Practices</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Write clear, descriptive commit messages detailing changes made.</a:t>
            </a:r>
          </a:p>
          <a:p>
            <a:pPr algn="just" rtl="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Work on feature branches instead of directly on master, merging via pull requests.</a:t>
            </a:r>
          </a:p>
          <a:p>
            <a:pPr algn="just">
              <a:defRPr/>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FA840F-9136-0589-2CA2-8738AFDCE7C1}"/>
              </a:ext>
            </a:extLst>
          </p:cNvPr>
          <p:cNvSpPr>
            <a:spLocks noGrp="1"/>
          </p:cNvSpPr>
          <p:nvPr>
            <p:ph type="sldNum" idx="12"/>
          </p:nvPr>
        </p:nvSpPr>
        <p:spPr/>
        <p:txBody>
          <a:bodyPr/>
          <a:lstStyle/>
          <a:p>
            <a:pPr>
              <a:defRPr/>
            </a:pPr>
            <a:fld id="{C47352ED-CA36-4D3E-BDAD-C75263ED03EB}" type="slidenum">
              <a:rPr lang="en-US" smtClean="0"/>
              <a:pPr>
                <a:defRPr/>
              </a:pPr>
              <a:t>16</a:t>
            </a:fld>
            <a:endParaRPr lang="en-US"/>
          </a:p>
        </p:txBody>
      </p:sp>
      <p:sp>
        <p:nvSpPr>
          <p:cNvPr id="4" name="TextBox 3">
            <a:extLst>
              <a:ext uri="{FF2B5EF4-FFF2-40B4-BE49-F238E27FC236}">
                <a16:creationId xmlns:a16="http://schemas.microsoft.com/office/drawing/2014/main" id="{15E21770-1E62-7C02-DE93-22EA9EA271BB}"/>
              </a:ext>
            </a:extLst>
          </p:cNvPr>
          <p:cNvSpPr txBox="1"/>
          <p:nvPr/>
        </p:nvSpPr>
        <p:spPr>
          <a:xfrm>
            <a:off x="346472" y="500519"/>
            <a:ext cx="8451056" cy="4247317"/>
          </a:xfrm>
          <a:prstGeom prst="rect">
            <a:avLst/>
          </a:prstGeom>
          <a:noFill/>
        </p:spPr>
        <p:txBody>
          <a:bodyPr wrap="square">
            <a:spAutoFit/>
          </a:bodyPr>
          <a:lstStyle/>
          <a:p>
            <a:pPr algn="just" rtl="0">
              <a:buFont typeface="Arial" panose="020B0604020202020204" pitchFamily="34" charset="0"/>
              <a:buChar char="•"/>
            </a:pPr>
            <a:r>
              <a:rPr lang="en-US" sz="1500" dirty="0">
                <a:solidFill>
                  <a:srgbClr val="000000"/>
                </a:solidFill>
                <a:effectLst/>
                <a:latin typeface="Times New Roman" panose="02020603050405020304" pitchFamily="18" charset="0"/>
                <a:cs typeface="Times New Roman" panose="02020603050405020304" pitchFamily="18" charset="0"/>
              </a:rPr>
              <a:t>Add sensitive or large files (e.g., .env, datasets) to .</a:t>
            </a:r>
            <a:r>
              <a:rPr lang="en-US" sz="1500" dirty="0" err="1">
                <a:solidFill>
                  <a:srgbClr val="000000"/>
                </a:solidFill>
                <a:effectLst/>
                <a:latin typeface="Times New Roman" panose="02020603050405020304" pitchFamily="18" charset="0"/>
                <a:cs typeface="Times New Roman" panose="02020603050405020304" pitchFamily="18" charset="0"/>
              </a:rPr>
              <a:t>gitignore</a:t>
            </a:r>
            <a:r>
              <a:rPr lang="en-US" sz="1500" dirty="0">
                <a:solidFill>
                  <a:srgbClr val="000000"/>
                </a:solidFill>
                <a:effectLst/>
                <a:latin typeface="Times New Roman" panose="02020603050405020304" pitchFamily="18" charset="0"/>
                <a:cs typeface="Times New Roman" panose="02020603050405020304" pitchFamily="18" charset="0"/>
              </a:rPr>
              <a:t>.</a:t>
            </a:r>
          </a:p>
          <a:p>
            <a:pPr algn="just" rtl="0">
              <a:buFont typeface="Arial" panose="020B0604020202020204" pitchFamily="34" charset="0"/>
              <a:buChar char="•"/>
            </a:pPr>
            <a:r>
              <a:rPr lang="en-US" sz="1500" dirty="0">
                <a:solidFill>
                  <a:srgbClr val="000000"/>
                </a:solidFill>
                <a:effectLst/>
                <a:latin typeface="Times New Roman" panose="02020603050405020304" pitchFamily="18" charset="0"/>
                <a:cs typeface="Times New Roman" panose="02020603050405020304" pitchFamily="18" charset="0"/>
              </a:rPr>
              <a:t>Set up pre-commit hooks to catch issues like secrets or notebook outputs before committing.</a:t>
            </a:r>
          </a:p>
          <a:p>
            <a:pPr algn="just" rtl="0">
              <a:buNone/>
            </a:pPr>
            <a:endParaRPr lang="en-US" sz="1500" dirty="0">
              <a:latin typeface="Times New Roman" panose="02020603050405020304" pitchFamily="18" charset="0"/>
              <a:cs typeface="Times New Roman" panose="02020603050405020304" pitchFamily="18" charset="0"/>
            </a:endParaRPr>
          </a:p>
          <a:p>
            <a:pPr algn="just" rtl="0">
              <a:buNone/>
            </a:pPr>
            <a:r>
              <a:rPr lang="en-US" sz="1500" b="1" dirty="0">
                <a:solidFill>
                  <a:srgbClr val="000000"/>
                </a:solidFill>
                <a:effectLst/>
                <a:latin typeface="Times New Roman" panose="02020603050405020304" pitchFamily="18" charset="0"/>
                <a:cs typeface="Times New Roman" panose="02020603050405020304" pitchFamily="18" charset="0"/>
              </a:rPr>
              <a:t>4. Documentation: Comment and Explain</a:t>
            </a:r>
          </a:p>
          <a:p>
            <a:pPr algn="just" rtl="0">
              <a:buFont typeface="Arial" panose="020B0604020202020204" pitchFamily="34" charset="0"/>
              <a:buChar char="•"/>
            </a:pPr>
            <a:r>
              <a:rPr lang="en-US" sz="1500" dirty="0">
                <a:solidFill>
                  <a:srgbClr val="000000"/>
                </a:solidFill>
                <a:effectLst/>
                <a:latin typeface="Times New Roman" panose="02020603050405020304" pitchFamily="18" charset="0"/>
                <a:cs typeface="Times New Roman" panose="02020603050405020304" pitchFamily="18" charset="0"/>
              </a:rPr>
              <a:t>Add comments or markdown cells to explain complex logic, especially for model training and evaluation.</a:t>
            </a:r>
          </a:p>
          <a:p>
            <a:pPr algn="just" rtl="0">
              <a:buFont typeface="Arial" panose="020B0604020202020204" pitchFamily="34" charset="0"/>
              <a:buChar char="•"/>
            </a:pPr>
            <a:r>
              <a:rPr lang="en-US" sz="1500" dirty="0">
                <a:solidFill>
                  <a:srgbClr val="000000"/>
                </a:solidFill>
                <a:effectLst/>
                <a:latin typeface="Times New Roman" panose="02020603050405020304" pitchFamily="18" charset="0"/>
                <a:cs typeface="Times New Roman" panose="02020603050405020304" pitchFamily="18" charset="0"/>
              </a:rPr>
              <a:t>Document fine-tuning steps for LLMs and parameter choices for ARIMA/SARIMA.</a:t>
            </a:r>
          </a:p>
          <a:p>
            <a:pPr algn="just" rtl="0">
              <a:buFont typeface="Arial" panose="020B0604020202020204" pitchFamily="34" charset="0"/>
              <a:buChar char="•"/>
            </a:pPr>
            <a:r>
              <a:rPr lang="en-US" sz="1500" dirty="0">
                <a:solidFill>
                  <a:srgbClr val="000000"/>
                </a:solidFill>
                <a:effectLst/>
                <a:latin typeface="Times New Roman" panose="02020603050405020304" pitchFamily="18" charset="0"/>
                <a:cs typeface="Times New Roman" panose="02020603050405020304" pitchFamily="18" charset="0"/>
              </a:rPr>
              <a:t>Use markdown cells to describe the purpose of each notebook section.</a:t>
            </a:r>
          </a:p>
          <a:p>
            <a:pPr algn="just" rtl="0">
              <a:buFont typeface="Arial" panose="020B0604020202020204" pitchFamily="34" charset="0"/>
              <a:buChar char="•"/>
            </a:pPr>
            <a:endParaRPr lang="en-US" sz="1500" dirty="0">
              <a:solidFill>
                <a:srgbClr val="000000"/>
              </a:solidFill>
              <a:effectLst/>
              <a:latin typeface="Times New Roman" panose="02020603050405020304" pitchFamily="18" charset="0"/>
              <a:cs typeface="Times New Roman" panose="02020603050405020304" pitchFamily="18" charset="0"/>
            </a:endParaRPr>
          </a:p>
          <a:p>
            <a:pPr algn="just" rtl="0">
              <a:buNone/>
            </a:pPr>
            <a:r>
              <a:rPr lang="en-US" sz="1500" b="1" dirty="0">
                <a:latin typeface="Times New Roman" panose="02020603050405020304" pitchFamily="18" charset="0"/>
                <a:cs typeface="Times New Roman" panose="02020603050405020304" pitchFamily="18" charset="0"/>
              </a:rPr>
              <a:t>5</a:t>
            </a:r>
            <a:r>
              <a:rPr lang="en-US" sz="1500" b="1" dirty="0">
                <a:solidFill>
                  <a:srgbClr val="000000"/>
                </a:solidFill>
                <a:effectLst/>
                <a:latin typeface="Times New Roman" panose="02020603050405020304" pitchFamily="18" charset="0"/>
                <a:cs typeface="Times New Roman" panose="02020603050405020304" pitchFamily="18" charset="0"/>
              </a:rPr>
              <a:t>. Reproducibility: Ensure Code Runs Anywhere</a:t>
            </a:r>
          </a:p>
          <a:p>
            <a:pPr algn="just" rtl="0">
              <a:buFont typeface="Arial" panose="020B0604020202020204" pitchFamily="34" charset="0"/>
              <a:buChar char="•"/>
            </a:pPr>
            <a:r>
              <a:rPr lang="en-US" sz="1500" dirty="0">
                <a:solidFill>
                  <a:srgbClr val="000000"/>
                </a:solidFill>
                <a:effectLst/>
                <a:latin typeface="Times New Roman" panose="02020603050405020304" pitchFamily="18" charset="0"/>
                <a:cs typeface="Times New Roman" panose="02020603050405020304" pitchFamily="18" charset="0"/>
              </a:rPr>
              <a:t>Create a requirements.txt file to list all dependencies for easy setup.</a:t>
            </a:r>
          </a:p>
          <a:p>
            <a:pPr algn="just" rtl="0">
              <a:buFont typeface="Arial" panose="020B0604020202020204" pitchFamily="34" charset="0"/>
              <a:buChar char="•"/>
            </a:pPr>
            <a:r>
              <a:rPr lang="en-US" sz="1500" dirty="0">
                <a:solidFill>
                  <a:srgbClr val="000000"/>
                </a:solidFill>
                <a:effectLst/>
                <a:latin typeface="Times New Roman" panose="02020603050405020304" pitchFamily="18" charset="0"/>
                <a:cs typeface="Times New Roman" panose="02020603050405020304" pitchFamily="18" charset="0"/>
              </a:rPr>
              <a:t>Set random seeds for reproducibility in models like LLMs.</a:t>
            </a:r>
          </a:p>
          <a:p>
            <a:pPr algn="just" rtl="0">
              <a:buFont typeface="Arial" panose="020B0604020202020204" pitchFamily="34" charset="0"/>
              <a:buChar char="•"/>
            </a:pPr>
            <a:r>
              <a:rPr lang="en-US" sz="1500" dirty="0">
                <a:solidFill>
                  <a:srgbClr val="000000"/>
                </a:solidFill>
                <a:effectLst/>
                <a:latin typeface="Times New Roman" panose="02020603050405020304" pitchFamily="18" charset="0"/>
                <a:cs typeface="Times New Roman" panose="02020603050405020304" pitchFamily="18" charset="0"/>
              </a:rPr>
              <a:t>Provide instructions in a README.md for accessing external datasets, avoiding committing large data files to Git.</a:t>
            </a:r>
          </a:p>
          <a:p>
            <a:pPr algn="just" rtl="0">
              <a:buNone/>
            </a:pPr>
            <a:endParaRPr lang="en-US" sz="1500" dirty="0">
              <a:solidFill>
                <a:srgbClr val="000000"/>
              </a:solidFill>
              <a:effectLst/>
              <a:latin typeface="Times New Roman" panose="02020603050405020304" pitchFamily="18" charset="0"/>
              <a:cs typeface="Times New Roman" panose="02020603050405020304" pitchFamily="18" charset="0"/>
            </a:endParaRPr>
          </a:p>
          <a:p>
            <a:pPr algn="just" rtl="0">
              <a:buNone/>
            </a:pPr>
            <a:r>
              <a:rPr lang="en-US" sz="1500" b="1" dirty="0">
                <a:solidFill>
                  <a:srgbClr val="000000"/>
                </a:solidFill>
                <a:effectLst/>
                <a:latin typeface="Times New Roman" panose="02020603050405020304" pitchFamily="18" charset="0"/>
                <a:cs typeface="Times New Roman" panose="02020603050405020304" pitchFamily="18" charset="0"/>
              </a:rPr>
              <a:t>6. Error Handling and Logging</a:t>
            </a:r>
          </a:p>
          <a:p>
            <a:pPr algn="just" rtl="0">
              <a:buFont typeface="Arial" panose="020B0604020202020204" pitchFamily="34" charset="0"/>
              <a:buChar char="•"/>
            </a:pPr>
            <a:r>
              <a:rPr lang="en-US" sz="1500" dirty="0">
                <a:solidFill>
                  <a:srgbClr val="000000"/>
                </a:solidFill>
                <a:effectLst/>
                <a:latin typeface="Times New Roman" panose="02020603050405020304" pitchFamily="18" charset="0"/>
                <a:cs typeface="Times New Roman" panose="02020603050405020304" pitchFamily="18" charset="0"/>
              </a:rPr>
              <a:t>Implement error handling for API calls and model training to catch and manage failures.</a:t>
            </a:r>
          </a:p>
          <a:p>
            <a:pPr algn="just" rtl="0">
              <a:buFont typeface="Arial" panose="020B0604020202020204" pitchFamily="34" charset="0"/>
              <a:buChar char="•"/>
            </a:pPr>
            <a:r>
              <a:rPr lang="en-US" sz="1500" dirty="0">
                <a:solidFill>
                  <a:srgbClr val="000000"/>
                </a:solidFill>
                <a:effectLst/>
                <a:latin typeface="Times New Roman" panose="02020603050405020304" pitchFamily="18" charset="0"/>
                <a:cs typeface="Times New Roman" panose="02020603050405020304" pitchFamily="18" charset="0"/>
              </a:rPr>
              <a:t>Use the logging module instead of print statements for debugging and tracking execution.</a:t>
            </a:r>
          </a:p>
          <a:p>
            <a:pPr algn="just" rtl="0">
              <a:buFont typeface="Arial" panose="020B0604020202020204" pitchFamily="34" charset="0"/>
              <a:buChar char="•"/>
            </a:pPr>
            <a:r>
              <a:rPr lang="en-US" sz="1500" dirty="0">
                <a:solidFill>
                  <a:srgbClr val="000000"/>
                </a:solidFill>
                <a:effectLst/>
                <a:latin typeface="Times New Roman" panose="02020603050405020304" pitchFamily="18" charset="0"/>
                <a:cs typeface="Times New Roman" panose="02020603050405020304" pitchFamily="18" charset="0"/>
              </a:rPr>
              <a:t>Log key steps like data loading, model training, and evaluation to aid troubleshooting.</a:t>
            </a:r>
          </a:p>
        </p:txBody>
      </p:sp>
    </p:spTree>
    <p:extLst>
      <p:ext uri="{BB962C8B-B14F-4D97-AF65-F5344CB8AC3E}">
        <p14:creationId xmlns:p14="http://schemas.microsoft.com/office/powerpoint/2010/main" val="1956231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Google Shape;353;p10">
            <a:extLst>
              <a:ext uri="{FF2B5EF4-FFF2-40B4-BE49-F238E27FC236}">
                <a16:creationId xmlns:a16="http://schemas.microsoft.com/office/drawing/2014/main" id="{6B979406-72D4-3558-A072-15259EE37813}"/>
              </a:ext>
            </a:extLst>
          </p:cNvPr>
          <p:cNvSpPr txBox="1">
            <a:spLocks noChangeArrowheads="1"/>
          </p:cNvSpPr>
          <p:nvPr/>
        </p:nvSpPr>
        <p:spPr bwMode="auto">
          <a:xfrm>
            <a:off x="0" y="152400"/>
            <a:ext cx="9144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20000"/>
              </a:lnSpc>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Test Cases</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Box 1">
            <a:extLst>
              <a:ext uri="{FF2B5EF4-FFF2-40B4-BE49-F238E27FC236}">
                <a16:creationId xmlns:a16="http://schemas.microsoft.com/office/drawing/2014/main" id="{A12C9AC4-7ACC-2717-705A-6E5796894283}"/>
              </a:ext>
            </a:extLst>
          </p:cNvPr>
          <p:cNvSpPr txBox="1"/>
          <p:nvPr/>
        </p:nvSpPr>
        <p:spPr>
          <a:xfrm>
            <a:off x="450491" y="742950"/>
            <a:ext cx="6413935" cy="3754874"/>
          </a:xfrm>
          <a:prstGeom prst="rect">
            <a:avLst/>
          </a:prstGeom>
          <a:noFill/>
        </p:spPr>
        <p:txBody>
          <a:bodyPr wrap="none">
            <a:spAutoFit/>
          </a:bodyPr>
          <a:lstStyle/>
          <a:p>
            <a:pPr rtl="0">
              <a:buNone/>
            </a:pPr>
            <a:r>
              <a:rPr lang="en-IN" sz="1700" b="1" dirty="0">
                <a:solidFill>
                  <a:srgbClr val="000000"/>
                </a:solidFill>
                <a:effectLst/>
                <a:latin typeface="Times New Roman" panose="02020603050405020304" pitchFamily="18" charset="0"/>
                <a:cs typeface="Times New Roman" panose="02020603050405020304" pitchFamily="18" charset="0"/>
              </a:rPr>
              <a:t>Test 1. Time Series Preparation</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Convert World data to time series with Year as index.</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Run stationarity test on World data, log results.</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Perform seasonal decomposition on Africa data.</a:t>
            </a:r>
          </a:p>
          <a:p>
            <a:pPr rtl="0">
              <a:buNone/>
            </a:pPr>
            <a:endParaRPr lang="en-IN" sz="1700" dirty="0">
              <a:solidFill>
                <a:srgbClr val="000000"/>
              </a:solidFill>
              <a:effectLst/>
              <a:latin typeface="Times New Roman" panose="02020603050405020304" pitchFamily="18" charset="0"/>
              <a:cs typeface="Times New Roman" panose="02020603050405020304" pitchFamily="18" charset="0"/>
            </a:endParaRPr>
          </a:p>
          <a:p>
            <a:pPr rtl="0">
              <a:buNone/>
            </a:pPr>
            <a:r>
              <a:rPr lang="en-IN" sz="1700" b="1" dirty="0">
                <a:solidFill>
                  <a:srgbClr val="000000"/>
                </a:solidFill>
                <a:effectLst/>
                <a:latin typeface="Times New Roman" panose="02020603050405020304" pitchFamily="18" charset="0"/>
                <a:cs typeface="Times New Roman" panose="02020603050405020304" pitchFamily="18" charset="0"/>
              </a:rPr>
              <a:t>Test 2. Model Training (ARIMA/SARIMA)</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Train ARIMA on , log summary stats.</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Train SARIMA on data, confirm seasonal fit.</a:t>
            </a:r>
          </a:p>
          <a:p>
            <a:pPr rtl="0">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Test ARIMA/SARIMA with invalid parameters, verify error handling.</a:t>
            </a:r>
          </a:p>
          <a:p>
            <a:pPr rtl="0">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a:p>
            <a:pPr lvl="1"/>
            <a:r>
              <a:rPr lang="en-IN" sz="1700" b="1" dirty="0">
                <a:latin typeface="Times New Roman" panose="02020603050405020304" pitchFamily="18" charset="0"/>
                <a:cs typeface="Times New Roman" panose="02020603050405020304" pitchFamily="18" charset="0"/>
              </a:rPr>
              <a:t>Test 3</a:t>
            </a:r>
            <a:r>
              <a:rPr lang="en-IN" sz="1700" b="1" dirty="0">
                <a:solidFill>
                  <a:srgbClr val="000000"/>
                </a:solidFill>
                <a:effectLst/>
                <a:latin typeface="Times New Roman" panose="02020603050405020304" pitchFamily="18" charset="0"/>
                <a:cs typeface="Times New Roman" panose="02020603050405020304" pitchFamily="18" charset="0"/>
              </a:rPr>
              <a:t>. Model Training (LLMs)</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Prepare Coal consumption data for LLM input (text sequence).</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Fine-tune Tiny LLaMa 1.1B on data, log loss.</a:t>
            </a:r>
          </a:p>
          <a:p>
            <a:pPr rtl="0">
              <a:buFont typeface="Arial" panose="020B0604020202020204" pitchFamily="34" charset="0"/>
              <a:buChar char="•"/>
            </a:pPr>
            <a:endParaRPr lang="en-IN" sz="1700" dirty="0">
              <a:solidFill>
                <a:srgbClr val="00000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AF51AA2-1E69-FB45-A104-DA2278D434FF}"/>
              </a:ext>
            </a:extLst>
          </p:cNvPr>
          <p:cNvSpPr txBox="1"/>
          <p:nvPr/>
        </p:nvSpPr>
        <p:spPr>
          <a:xfrm>
            <a:off x="467769" y="275768"/>
            <a:ext cx="9202993" cy="4016484"/>
          </a:xfrm>
          <a:prstGeom prst="rect">
            <a:avLst/>
          </a:prstGeom>
          <a:noFill/>
        </p:spPr>
        <p:txBody>
          <a:bodyPr wrap="square">
            <a:spAutoFit/>
          </a:bodyPr>
          <a:lstStyle/>
          <a:p>
            <a:pPr lvl="1"/>
            <a:endParaRPr lang="en-IN" sz="1700" dirty="0">
              <a:solidFill>
                <a:srgbClr val="000000"/>
              </a:solidFill>
              <a:effectLst/>
              <a:latin typeface="Times New Roman" panose="02020603050405020304" pitchFamily="18" charset="0"/>
              <a:cs typeface="Times New Roman" panose="02020603050405020304" pitchFamily="18" charset="0"/>
            </a:endParaRPr>
          </a:p>
          <a:p>
            <a:pPr lvl="1"/>
            <a:endParaRPr lang="en-IN" sz="1700" b="1" dirty="0">
              <a:solidFill>
                <a:srgbClr val="000000"/>
              </a:solidFill>
              <a:effectLst/>
              <a:latin typeface="Times New Roman" panose="02020603050405020304" pitchFamily="18" charset="0"/>
              <a:cs typeface="Times New Roman" panose="02020603050405020304" pitchFamily="18" charset="0"/>
            </a:endParaRPr>
          </a:p>
          <a:p>
            <a:pPr lvl="1"/>
            <a:r>
              <a:rPr lang="en-IN" sz="1700" b="1" dirty="0">
                <a:latin typeface="Times New Roman" panose="02020603050405020304" pitchFamily="18" charset="0"/>
                <a:cs typeface="Times New Roman" panose="02020603050405020304" pitchFamily="18" charset="0"/>
              </a:rPr>
              <a:t>Test 4</a:t>
            </a:r>
            <a:r>
              <a:rPr lang="en-IN" sz="1700" b="1" dirty="0">
                <a:solidFill>
                  <a:srgbClr val="000000"/>
                </a:solidFill>
                <a:effectLst/>
                <a:latin typeface="Times New Roman" panose="02020603050405020304" pitchFamily="18" charset="0"/>
                <a:cs typeface="Times New Roman" panose="02020603050405020304" pitchFamily="18" charset="0"/>
              </a:rPr>
              <a:t>. Forecasting</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Forecast China 2024–2028 with ARIMA, ensure positive values.</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Forecast Africa 2024–2028 with SARIMA, check seasonal patterns.</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Forecast India 2024 with Mistral 7B, ensure reasonable output.</a:t>
            </a:r>
          </a:p>
          <a:p>
            <a:pPr lvl="1"/>
            <a:endParaRPr lang="en-IN" sz="1700" b="1" dirty="0">
              <a:solidFill>
                <a:srgbClr val="000000"/>
              </a:solidFill>
              <a:effectLst/>
              <a:latin typeface="Times New Roman" panose="02020603050405020304" pitchFamily="18" charset="0"/>
              <a:cs typeface="Times New Roman" panose="02020603050405020304" pitchFamily="18" charset="0"/>
            </a:endParaRPr>
          </a:p>
          <a:p>
            <a:pPr lvl="1"/>
            <a:r>
              <a:rPr lang="en-IN" sz="1700" b="1" dirty="0">
                <a:solidFill>
                  <a:srgbClr val="000000"/>
                </a:solidFill>
                <a:effectLst/>
                <a:latin typeface="Times New Roman" panose="02020603050405020304" pitchFamily="18" charset="0"/>
                <a:cs typeface="Times New Roman" panose="02020603050405020304" pitchFamily="18" charset="0"/>
              </a:rPr>
              <a:t>Test 5. Model Evaluation</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Split World data: train (1965–2018), test (2019–2023).</a:t>
            </a:r>
          </a:p>
          <a:p>
            <a:pPr lvl="1">
              <a:buFont typeface="Arial" panose="020B0604020202020204" pitchFamily="34" charset="0"/>
              <a:buChar char="•"/>
            </a:pPr>
            <a:r>
              <a:rPr lang="en-IN" sz="1700" dirty="0">
                <a:solidFill>
                  <a:srgbClr val="000000"/>
                </a:solidFill>
                <a:effectLst/>
                <a:latin typeface="Times New Roman" panose="02020603050405020304" pitchFamily="18" charset="0"/>
                <a:cs typeface="Times New Roman" panose="02020603050405020304" pitchFamily="18" charset="0"/>
              </a:rPr>
              <a:t>Evaluate ARIMA on United States test data, log MSE/RMSE/MAPE.</a:t>
            </a:r>
          </a:p>
          <a:p>
            <a:pPr lvl="1"/>
            <a:endParaRPr lang="en-IN" sz="1700" dirty="0">
              <a:latin typeface="Times New Roman" panose="02020603050405020304" pitchFamily="18" charset="0"/>
              <a:cs typeface="Times New Roman" panose="02020603050405020304" pitchFamily="18" charset="0"/>
            </a:endParaRPr>
          </a:p>
          <a:p>
            <a:pPr rtl="0">
              <a:buNone/>
            </a:pPr>
            <a:r>
              <a:rPr lang="en-US" sz="1700" b="1" dirty="0">
                <a:solidFill>
                  <a:srgbClr val="000000"/>
                </a:solidFill>
                <a:effectLst/>
                <a:latin typeface="Times New Roman" panose="02020603050405020304" pitchFamily="18" charset="0"/>
                <a:cs typeface="Times New Roman" panose="02020603050405020304" pitchFamily="18" charset="0"/>
              </a:rPr>
              <a:t>Test 6. Performance</a:t>
            </a:r>
          </a:p>
          <a:p>
            <a:pPr rtl="0">
              <a:buFont typeface="Arial" panose="020B0604020202020204" pitchFamily="34" charset="0"/>
              <a:buChar char="•"/>
            </a:pPr>
            <a:r>
              <a:rPr lang="en-US" sz="1700" dirty="0">
                <a:solidFill>
                  <a:srgbClr val="000000"/>
                </a:solidFill>
                <a:effectLst/>
                <a:latin typeface="Times New Roman" panose="02020603050405020304" pitchFamily="18" charset="0"/>
                <a:cs typeface="Times New Roman" panose="02020603050405020304" pitchFamily="18" charset="0"/>
              </a:rPr>
              <a:t>Train ARIMA on World data, ensure completion &lt; 10 seconds.</a:t>
            </a:r>
          </a:p>
          <a:p>
            <a:pPr rtl="0">
              <a:buFont typeface="Arial" panose="020B0604020202020204" pitchFamily="34" charset="0"/>
              <a:buChar char="•"/>
            </a:pPr>
            <a:r>
              <a:rPr lang="en-US" sz="1700" dirty="0">
                <a:solidFill>
                  <a:srgbClr val="000000"/>
                </a:solidFill>
                <a:effectLst/>
                <a:latin typeface="Times New Roman" panose="02020603050405020304" pitchFamily="18" charset="0"/>
                <a:cs typeface="Times New Roman" panose="02020603050405020304" pitchFamily="18" charset="0"/>
              </a:rPr>
              <a:t>Train SARIMA on data, verify success.</a:t>
            </a:r>
          </a:p>
          <a:p>
            <a:pPr lvl="1">
              <a:buFont typeface="Arial" panose="020B0604020202020204" pitchFamily="34" charset="0"/>
              <a:buChar char="•"/>
            </a:pPr>
            <a:endParaRPr lang="en-IN" sz="170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4398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Google Shape;353;p10">
            <a:extLst>
              <a:ext uri="{FF2B5EF4-FFF2-40B4-BE49-F238E27FC236}">
                <a16:creationId xmlns:a16="http://schemas.microsoft.com/office/drawing/2014/main" id="{DFD85C85-9FD8-D2C6-B34F-9460D8D791B1}"/>
              </a:ext>
            </a:extLst>
          </p:cNvPr>
          <p:cNvSpPr txBox="1">
            <a:spLocks noChangeArrowheads="1"/>
          </p:cNvSpPr>
          <p:nvPr/>
        </p:nvSpPr>
        <p:spPr bwMode="auto">
          <a:xfrm>
            <a:off x="0" y="152400"/>
            <a:ext cx="9144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20000"/>
              </a:lnSpc>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Screenshots of Results</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5" name="Picture 4">
            <a:extLst>
              <a:ext uri="{FF2B5EF4-FFF2-40B4-BE49-F238E27FC236}">
                <a16:creationId xmlns:a16="http://schemas.microsoft.com/office/drawing/2014/main" id="{23111BCE-DA1C-5085-C52B-12C362C295A3}"/>
              </a:ext>
            </a:extLst>
          </p:cNvPr>
          <p:cNvPicPr>
            <a:picLocks noChangeAspect="1"/>
          </p:cNvPicPr>
          <p:nvPr/>
        </p:nvPicPr>
        <p:blipFill>
          <a:blip r:embed="rId3"/>
          <a:stretch>
            <a:fillRect/>
          </a:stretch>
        </p:blipFill>
        <p:spPr>
          <a:xfrm>
            <a:off x="-86493" y="1004938"/>
            <a:ext cx="4244156" cy="3288458"/>
          </a:xfrm>
          <a:prstGeom prst="rect">
            <a:avLst/>
          </a:prstGeom>
        </p:spPr>
      </p:pic>
      <p:pic>
        <p:nvPicPr>
          <p:cNvPr id="7" name="Picture 6">
            <a:extLst>
              <a:ext uri="{FF2B5EF4-FFF2-40B4-BE49-F238E27FC236}">
                <a16:creationId xmlns:a16="http://schemas.microsoft.com/office/drawing/2014/main" id="{9DC74CF5-B20B-E9D0-A39D-B4E94002B0B8}"/>
              </a:ext>
            </a:extLst>
          </p:cNvPr>
          <p:cNvPicPr>
            <a:picLocks noChangeAspect="1"/>
          </p:cNvPicPr>
          <p:nvPr/>
        </p:nvPicPr>
        <p:blipFill>
          <a:blip r:embed="rId4"/>
          <a:stretch>
            <a:fillRect/>
          </a:stretch>
        </p:blipFill>
        <p:spPr>
          <a:xfrm>
            <a:off x="4483733" y="992678"/>
            <a:ext cx="4162747" cy="315814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8E3484-BF38-20FC-C26D-EC7B74253CCA}"/>
              </a:ext>
            </a:extLst>
          </p:cNvPr>
          <p:cNvPicPr>
            <a:picLocks noChangeAspect="1"/>
          </p:cNvPicPr>
          <p:nvPr/>
        </p:nvPicPr>
        <p:blipFill>
          <a:blip r:embed="rId2"/>
          <a:stretch>
            <a:fillRect/>
          </a:stretch>
        </p:blipFill>
        <p:spPr>
          <a:xfrm>
            <a:off x="0" y="623889"/>
            <a:ext cx="9144000" cy="3538534"/>
          </a:xfrm>
          <a:prstGeom prst="rect">
            <a:avLst/>
          </a:prstGeom>
        </p:spPr>
      </p:pic>
    </p:spTree>
    <p:extLst>
      <p:ext uri="{BB962C8B-B14F-4D97-AF65-F5344CB8AC3E}">
        <p14:creationId xmlns:p14="http://schemas.microsoft.com/office/powerpoint/2010/main" val="3885239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DB892F-653E-DA3F-A53A-2397810DD9A7}"/>
              </a:ext>
            </a:extLst>
          </p:cNvPr>
          <p:cNvPicPr>
            <a:picLocks noChangeAspect="1"/>
          </p:cNvPicPr>
          <p:nvPr/>
        </p:nvPicPr>
        <p:blipFill>
          <a:blip r:embed="rId2"/>
          <a:stretch>
            <a:fillRect/>
          </a:stretch>
        </p:blipFill>
        <p:spPr>
          <a:xfrm>
            <a:off x="86837" y="0"/>
            <a:ext cx="8970326" cy="5143500"/>
          </a:xfrm>
          <a:prstGeom prst="rect">
            <a:avLst/>
          </a:prstGeom>
        </p:spPr>
      </p:pic>
    </p:spTree>
    <p:extLst>
      <p:ext uri="{BB962C8B-B14F-4D97-AF65-F5344CB8AC3E}">
        <p14:creationId xmlns:p14="http://schemas.microsoft.com/office/powerpoint/2010/main" val="3465226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B1D3B7-6290-4285-F63E-CE4A5F4FE9DE}"/>
              </a:ext>
            </a:extLst>
          </p:cNvPr>
          <p:cNvSpPr>
            <a:spLocks noGrp="1"/>
          </p:cNvSpPr>
          <p:nvPr>
            <p:ph type="sldNum" idx="12"/>
          </p:nvPr>
        </p:nvSpPr>
        <p:spPr/>
        <p:txBody>
          <a:bodyPr/>
          <a:lstStyle/>
          <a:p>
            <a:pPr>
              <a:defRPr/>
            </a:pPr>
            <a:fld id="{C47352ED-CA36-4D3E-BDAD-C75263ED03EB}" type="slidenum">
              <a:rPr lang="en-US" smtClean="0"/>
              <a:pPr>
                <a:defRPr/>
              </a:pPr>
              <a:t>22</a:t>
            </a:fld>
            <a:endParaRPr lang="en-US"/>
          </a:p>
        </p:txBody>
      </p:sp>
      <p:pic>
        <p:nvPicPr>
          <p:cNvPr id="4" name="Picture 3">
            <a:extLst>
              <a:ext uri="{FF2B5EF4-FFF2-40B4-BE49-F238E27FC236}">
                <a16:creationId xmlns:a16="http://schemas.microsoft.com/office/drawing/2014/main" id="{4C5B86E1-5F05-F259-E936-4430019F2D36}"/>
              </a:ext>
            </a:extLst>
          </p:cNvPr>
          <p:cNvPicPr>
            <a:picLocks noChangeAspect="1"/>
          </p:cNvPicPr>
          <p:nvPr/>
        </p:nvPicPr>
        <p:blipFill>
          <a:blip r:embed="rId2"/>
          <a:stretch>
            <a:fillRect/>
          </a:stretch>
        </p:blipFill>
        <p:spPr>
          <a:xfrm>
            <a:off x="-57150" y="210734"/>
            <a:ext cx="7136605" cy="4722031"/>
          </a:xfrm>
          <a:prstGeom prst="rect">
            <a:avLst/>
          </a:prstGeom>
        </p:spPr>
      </p:pic>
      <p:pic>
        <p:nvPicPr>
          <p:cNvPr id="6" name="Picture 5">
            <a:extLst>
              <a:ext uri="{FF2B5EF4-FFF2-40B4-BE49-F238E27FC236}">
                <a16:creationId xmlns:a16="http://schemas.microsoft.com/office/drawing/2014/main" id="{13398C44-4524-34D2-7FD8-F5CC3AB191EA}"/>
              </a:ext>
            </a:extLst>
          </p:cNvPr>
          <p:cNvPicPr>
            <a:picLocks noChangeAspect="1"/>
          </p:cNvPicPr>
          <p:nvPr/>
        </p:nvPicPr>
        <p:blipFill>
          <a:blip r:embed="rId3"/>
          <a:stretch>
            <a:fillRect/>
          </a:stretch>
        </p:blipFill>
        <p:spPr>
          <a:xfrm>
            <a:off x="6374607" y="2074683"/>
            <a:ext cx="2605086" cy="2572109"/>
          </a:xfrm>
          <a:prstGeom prst="rect">
            <a:avLst/>
          </a:prstGeom>
        </p:spPr>
      </p:pic>
    </p:spTree>
    <p:extLst>
      <p:ext uri="{BB962C8B-B14F-4D97-AF65-F5344CB8AC3E}">
        <p14:creationId xmlns:p14="http://schemas.microsoft.com/office/powerpoint/2010/main" val="4209132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Google Shape;353;p10">
            <a:extLst>
              <a:ext uri="{FF2B5EF4-FFF2-40B4-BE49-F238E27FC236}">
                <a16:creationId xmlns:a16="http://schemas.microsoft.com/office/drawing/2014/main" id="{C27E8C82-52E8-B09F-6D1D-531CFFAC2AA0}"/>
              </a:ext>
            </a:extLst>
          </p:cNvPr>
          <p:cNvSpPr txBox="1">
            <a:spLocks noChangeArrowheads="1"/>
          </p:cNvSpPr>
          <p:nvPr/>
        </p:nvSpPr>
        <p:spPr bwMode="auto">
          <a:xfrm>
            <a:off x="0" y="152400"/>
            <a:ext cx="9144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20000"/>
              </a:lnSpc>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Conclusion</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TextBox 2">
            <a:extLst>
              <a:ext uri="{FF2B5EF4-FFF2-40B4-BE49-F238E27FC236}">
                <a16:creationId xmlns:a16="http://schemas.microsoft.com/office/drawing/2014/main" id="{E99D16DB-F149-235B-7B88-E2CD908A4ABD}"/>
              </a:ext>
            </a:extLst>
          </p:cNvPr>
          <p:cNvSpPr txBox="1"/>
          <p:nvPr/>
        </p:nvSpPr>
        <p:spPr>
          <a:xfrm>
            <a:off x="489347" y="742950"/>
            <a:ext cx="8165306" cy="3970318"/>
          </a:xfrm>
          <a:prstGeom prst="rect">
            <a:avLst/>
          </a:prstGeom>
          <a:noFill/>
        </p:spPr>
        <p:txBody>
          <a:bodyPr wrap="square">
            <a:spAutoFit/>
          </a:bodyPr>
          <a:lstStyle/>
          <a:p>
            <a:pPr algn="just"/>
            <a:r>
              <a:rPr lang="en-US" sz="1800" dirty="0">
                <a:effectLst/>
                <a:latin typeface="Times New Roman" panose="02020603050405020304" pitchFamily="18" charset="0"/>
                <a:ea typeface="Times New Roman" panose="02020603050405020304" pitchFamily="18" charset="0"/>
              </a:rPr>
              <a:t>We hereby conclude that this project demonstrates the powerful synergy between traditional statistical models and modern AI techniques for analyzing global energy consumption. By combining </a:t>
            </a:r>
            <a:r>
              <a:rPr lang="en-US" sz="1800" b="1" dirty="0">
                <a:effectLst/>
                <a:latin typeface="Times New Roman" panose="02020603050405020304" pitchFamily="18" charset="0"/>
                <a:ea typeface="Times New Roman" panose="02020603050405020304" pitchFamily="18" charset="0"/>
              </a:rPr>
              <a:t>Time Series models (ARIMA, SARIMA)</a:t>
            </a:r>
            <a:r>
              <a:rPr lang="en-US" sz="1800" dirty="0">
                <a:effectLst/>
                <a:latin typeface="Times New Roman" panose="02020603050405020304" pitchFamily="18" charset="0"/>
                <a:ea typeface="Times New Roman" panose="02020603050405020304" pitchFamily="18" charset="0"/>
              </a:rPr>
              <a:t> with </a:t>
            </a:r>
            <a:r>
              <a:rPr lang="en-US" sz="1800" b="1" dirty="0">
                <a:effectLst/>
                <a:latin typeface="Times New Roman" panose="02020603050405020304" pitchFamily="18" charset="0"/>
                <a:ea typeface="Times New Roman" panose="02020603050405020304" pitchFamily="18" charset="0"/>
              </a:rPr>
              <a:t>Fine-Tuned Large Language Models (LLMs)</a:t>
            </a:r>
            <a:r>
              <a:rPr lang="en-US" sz="1800" dirty="0">
                <a:effectLst/>
                <a:latin typeface="Times New Roman" panose="02020603050405020304" pitchFamily="18" charset="0"/>
                <a:ea typeface="Times New Roman" panose="02020603050405020304" pitchFamily="18" charset="0"/>
              </a:rPr>
              <a:t> like Mistral and Llama, we were able to capture complex patterns and trends in the consumption of non-renewable resources such as coal, oil, and natural gas.</a:t>
            </a:r>
            <a:r>
              <a:rPr lang="en-IN" sz="18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 results show how AI-driven forecasting can complement classical approaches, offering more adaptive and accurate predictions that are essential for today’s rapidly changing energy data. The integration of historical datasets with advanced modeling allows for deeper insights into how energy usage evolves over time and supports the development of smarter, sustainability-focused policies.</a:t>
            </a:r>
            <a:r>
              <a:rPr lang="en-IN" sz="18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Ultimately, this project not only provides a robust framework for forecasting global energy trends but also reinforces the critical role of data-driven approaches in addressing environmental challenges and guiding strategic decision-making toward a more sustainable future.</a:t>
            </a:r>
            <a:endParaRPr lang="en-IN"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Google Shape;353;p10">
            <a:extLst>
              <a:ext uri="{FF2B5EF4-FFF2-40B4-BE49-F238E27FC236}">
                <a16:creationId xmlns:a16="http://schemas.microsoft.com/office/drawing/2014/main" id="{40090377-C07F-9F1F-68B0-54A26C85CB04}"/>
              </a:ext>
            </a:extLst>
          </p:cNvPr>
          <p:cNvSpPr txBox="1">
            <a:spLocks noChangeArrowheads="1"/>
          </p:cNvSpPr>
          <p:nvPr/>
        </p:nvSpPr>
        <p:spPr bwMode="auto">
          <a:xfrm>
            <a:off x="0" y="152400"/>
            <a:ext cx="9144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20000"/>
              </a:lnSpc>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Future Enhancements</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Box 1">
            <a:extLst>
              <a:ext uri="{FF2B5EF4-FFF2-40B4-BE49-F238E27FC236}">
                <a16:creationId xmlns:a16="http://schemas.microsoft.com/office/drawing/2014/main" id="{4C73C384-5C12-2EB2-612D-0EB29F4378C0}"/>
              </a:ext>
            </a:extLst>
          </p:cNvPr>
          <p:cNvSpPr txBox="1"/>
          <p:nvPr/>
        </p:nvSpPr>
        <p:spPr>
          <a:xfrm>
            <a:off x="372533" y="914400"/>
            <a:ext cx="8493760" cy="3782061"/>
          </a:xfrm>
          <a:prstGeom prst="rect">
            <a:avLst/>
          </a:prstGeom>
          <a:noFill/>
        </p:spPr>
        <p:txBody>
          <a:bodyPr wrap="square" rtlCol="0">
            <a:spAutoFit/>
          </a:bodyPr>
          <a:lstStyle/>
          <a:p>
            <a:pPr marL="0" marR="12700" algn="just">
              <a:lnSpc>
                <a:spcPct val="150000"/>
              </a:lnSpc>
              <a:buNone/>
            </a:pPr>
            <a:r>
              <a:rPr lang="en-US" sz="1800" b="1" dirty="0">
                <a:effectLst/>
                <a:latin typeface="Times New Roman" panose="02020603050405020304" pitchFamily="18" charset="0"/>
                <a:ea typeface="Times New Roman" panose="02020603050405020304" pitchFamily="18" charset="0"/>
              </a:rPr>
              <a:t>Real-Time Forecasting Dashboard: </a:t>
            </a:r>
            <a:endParaRPr lang="en-IN" sz="1800" b="1" dirty="0">
              <a:effectLst/>
              <a:latin typeface="Times New Roman" panose="02020603050405020304" pitchFamily="18" charset="0"/>
              <a:ea typeface="Times New Roman" panose="02020603050405020304" pitchFamily="18" charset="0"/>
            </a:endParaRPr>
          </a:p>
          <a:p>
            <a:pPr marL="0" marR="12700" algn="just">
              <a:lnSpc>
                <a:spcPct val="150000"/>
              </a:lnSpc>
              <a:buNone/>
            </a:pPr>
            <a:r>
              <a:rPr lang="en-US" sz="1800" dirty="0">
                <a:effectLst/>
                <a:latin typeface="Times New Roman" panose="02020603050405020304" pitchFamily="18" charset="0"/>
                <a:ea typeface="Times New Roman" panose="02020603050405020304" pitchFamily="18" charset="0"/>
              </a:rPr>
              <a:t>Create an interactive web dashboard (using </a:t>
            </a:r>
            <a:r>
              <a:rPr lang="en-US" sz="1800" dirty="0" err="1">
                <a:effectLst/>
                <a:latin typeface="Times New Roman" panose="02020603050405020304" pitchFamily="18" charset="0"/>
                <a:ea typeface="Times New Roman" panose="02020603050405020304" pitchFamily="18" charset="0"/>
              </a:rPr>
              <a:t>Streamlit</a:t>
            </a:r>
            <a:r>
              <a:rPr lang="en-US" sz="1800" dirty="0">
                <a:effectLst/>
                <a:latin typeface="Times New Roman" panose="02020603050405020304" pitchFamily="18" charset="0"/>
                <a:ea typeface="Times New Roman" panose="02020603050405020304" pitchFamily="18" charset="0"/>
              </a:rPr>
              <a:t> or Dash) where users can choose a country and instantly view forecasts, charts, and model comparisons.</a:t>
            </a:r>
            <a:r>
              <a:rPr lang="en-IN" sz="1800" dirty="0">
                <a:effectLst/>
                <a:latin typeface="Times New Roman" panose="02020603050405020304" pitchFamily="18" charset="0"/>
                <a:ea typeface="Times New Roman" panose="02020603050405020304" pitchFamily="18" charset="0"/>
              </a:rPr>
              <a:t> </a:t>
            </a:r>
          </a:p>
          <a:p>
            <a:pPr marL="0" marR="12700" algn="just">
              <a:lnSpc>
                <a:spcPct val="150000"/>
              </a:lnSpc>
              <a:buNone/>
            </a:pPr>
            <a:r>
              <a:rPr lang="en-US" sz="1800" b="1" dirty="0">
                <a:effectLst/>
                <a:latin typeface="Times New Roman" panose="02020603050405020304" pitchFamily="18" charset="0"/>
                <a:ea typeface="Times New Roman" panose="02020603050405020304" pitchFamily="18" charset="0"/>
              </a:rPr>
              <a:t>Support for Additional Forecasting Models:</a:t>
            </a:r>
            <a:endParaRPr lang="en-IN" sz="1800" b="1" dirty="0">
              <a:effectLst/>
              <a:latin typeface="Times New Roman" panose="02020603050405020304" pitchFamily="18" charset="0"/>
              <a:ea typeface="Times New Roman" panose="02020603050405020304" pitchFamily="18" charset="0"/>
            </a:endParaRPr>
          </a:p>
          <a:p>
            <a:pPr marL="0" marR="12700" algn="just">
              <a:lnSpc>
                <a:spcPct val="150000"/>
              </a:lnSpc>
              <a:buNone/>
            </a:pPr>
            <a:r>
              <a:rPr lang="en-US" sz="1800" dirty="0">
                <a:effectLst/>
                <a:latin typeface="Times New Roman" panose="02020603050405020304" pitchFamily="18" charset="0"/>
                <a:ea typeface="Times New Roman" panose="02020603050405020304" pitchFamily="18" charset="0"/>
              </a:rPr>
              <a:t>Add models like Facebook Prophet (already hinted at), LSTM, </a:t>
            </a:r>
            <a:r>
              <a:rPr lang="en-US" sz="1800" dirty="0" err="1">
                <a:effectLst/>
                <a:latin typeface="Times New Roman" panose="02020603050405020304" pitchFamily="18" charset="0"/>
                <a:ea typeface="Times New Roman" panose="02020603050405020304" pitchFamily="18" charset="0"/>
              </a:rPr>
              <a:t>XGBoost</a:t>
            </a:r>
            <a:r>
              <a:rPr lang="en-US" sz="1800" dirty="0">
                <a:effectLst/>
                <a:latin typeface="Times New Roman" panose="02020603050405020304" pitchFamily="18" charset="0"/>
                <a:ea typeface="Times New Roman" panose="02020603050405020304" pitchFamily="18" charset="0"/>
              </a:rPr>
              <a:t>, or hybrid models to broaden forecasting capabilities and improve accuracy.</a:t>
            </a:r>
            <a:r>
              <a:rPr lang="en-IN" sz="1800" dirty="0">
                <a:effectLst/>
                <a:latin typeface="Times New Roman" panose="02020603050405020304" pitchFamily="18" charset="0"/>
                <a:ea typeface="Times New Roman" panose="02020603050405020304" pitchFamily="18" charset="0"/>
              </a:rPr>
              <a:t> </a:t>
            </a:r>
          </a:p>
          <a:p>
            <a:pPr marL="0" marR="12700" algn="just">
              <a:lnSpc>
                <a:spcPct val="150000"/>
              </a:lnSpc>
              <a:buNone/>
            </a:pPr>
            <a:r>
              <a:rPr lang="en-US" sz="1800" b="1" dirty="0">
                <a:effectLst/>
                <a:latin typeface="Times New Roman" panose="02020603050405020304" pitchFamily="18" charset="0"/>
                <a:ea typeface="Times New Roman" panose="02020603050405020304" pitchFamily="18" charset="0"/>
              </a:rPr>
              <a:t>Model Auto-Tuning and Benchmarking:</a:t>
            </a:r>
            <a:endParaRPr lang="en-IN" sz="1800" b="1" dirty="0">
              <a:effectLst/>
              <a:latin typeface="Times New Roman" panose="02020603050405020304" pitchFamily="18" charset="0"/>
              <a:ea typeface="Times New Roman" panose="02020603050405020304" pitchFamily="18" charset="0"/>
            </a:endParaRPr>
          </a:p>
          <a:p>
            <a:pPr marL="0" marR="12700" algn="just">
              <a:lnSpc>
                <a:spcPct val="150000"/>
              </a:lnSpc>
              <a:buNone/>
            </a:pPr>
            <a:r>
              <a:rPr lang="en-US" sz="1800" dirty="0">
                <a:effectLst/>
                <a:latin typeface="Times New Roman" panose="02020603050405020304" pitchFamily="18" charset="0"/>
                <a:ea typeface="Times New Roman" panose="02020603050405020304" pitchFamily="18" charset="0"/>
              </a:rPr>
              <a:t>Integrate automated hyperparameter tuning tools (e.g. </a:t>
            </a:r>
            <a:r>
              <a:rPr lang="en-US" sz="1800" dirty="0" err="1">
                <a:effectLst/>
                <a:latin typeface="Times New Roman" panose="02020603050405020304" pitchFamily="18" charset="0"/>
                <a:ea typeface="Times New Roman" panose="02020603050405020304" pitchFamily="18" charset="0"/>
              </a:rPr>
              <a:t>GridSearch</a:t>
            </a:r>
            <a:r>
              <a:rPr lang="en-US" sz="1800" dirty="0">
                <a:effectLst/>
                <a:latin typeface="Times New Roman" panose="02020603050405020304" pitchFamily="18" charset="0"/>
                <a:ea typeface="Times New Roman" panose="02020603050405020304" pitchFamily="18" charset="0"/>
              </a:rPr>
              <a:t>) to fine-tune ARIMA/SARIMA and LLM prompts for better performance.</a:t>
            </a:r>
            <a:r>
              <a:rPr lang="en-IN" sz="1800" dirty="0">
                <a:effectLst/>
                <a:latin typeface="Times New Roman" panose="02020603050405020304" pitchFamily="18" charset="0"/>
                <a:ea typeface="Times New Roman" panose="02020603050405020304" pitchFamily="18" charset="0"/>
              </a:rP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099D72-C041-E2F7-5FEF-567498AEC1C3}"/>
              </a:ext>
            </a:extLst>
          </p:cNvPr>
          <p:cNvSpPr txBox="1"/>
          <p:nvPr/>
        </p:nvSpPr>
        <p:spPr>
          <a:xfrm>
            <a:off x="264159" y="318346"/>
            <a:ext cx="8622453" cy="3730317"/>
          </a:xfrm>
          <a:prstGeom prst="rect">
            <a:avLst/>
          </a:prstGeom>
          <a:noFill/>
        </p:spPr>
        <p:txBody>
          <a:bodyPr wrap="square">
            <a:spAutoFit/>
          </a:bodyPr>
          <a:lstStyle/>
          <a:p>
            <a:pPr marL="0" marR="12700" algn="just">
              <a:lnSpc>
                <a:spcPct val="150000"/>
              </a:lnSpc>
              <a:buNone/>
            </a:pPr>
            <a:endParaRPr lang="en-IN" sz="2000" dirty="0">
              <a:effectLst/>
              <a:latin typeface="Times New Roman" panose="02020603050405020304" pitchFamily="18" charset="0"/>
              <a:ea typeface="Times New Roman" panose="02020603050405020304" pitchFamily="18" charset="0"/>
            </a:endParaRPr>
          </a:p>
          <a:p>
            <a:pPr marL="0" marR="12700" algn="just">
              <a:lnSpc>
                <a:spcPct val="150000"/>
              </a:lnSpc>
              <a:buNone/>
            </a:pPr>
            <a:r>
              <a:rPr lang="en-US" sz="2000" b="1" dirty="0">
                <a:effectLst/>
                <a:latin typeface="Times New Roman" panose="02020603050405020304" pitchFamily="18" charset="0"/>
                <a:ea typeface="Times New Roman" panose="02020603050405020304" pitchFamily="18" charset="0"/>
              </a:rPr>
              <a:t>Natural Language Interaction Layer:</a:t>
            </a:r>
            <a:endParaRPr lang="en-IN" sz="2000" b="1" dirty="0">
              <a:effectLst/>
              <a:latin typeface="Times New Roman" panose="02020603050405020304" pitchFamily="18" charset="0"/>
              <a:ea typeface="Times New Roman" panose="02020603050405020304" pitchFamily="18" charset="0"/>
            </a:endParaRPr>
          </a:p>
          <a:p>
            <a:pPr marL="0" marR="12700" algn="just">
              <a:lnSpc>
                <a:spcPct val="150000"/>
              </a:lnSpc>
              <a:buNone/>
            </a:pPr>
            <a:r>
              <a:rPr lang="en-US" sz="2000" dirty="0">
                <a:effectLst/>
                <a:latin typeface="Times New Roman" panose="02020603050405020304" pitchFamily="18" charset="0"/>
                <a:ea typeface="Times New Roman" panose="02020603050405020304" pitchFamily="18" charset="0"/>
              </a:rPr>
              <a:t>Let users interact with the system using natural language (e.g., “What will the temperature in Spain be next month?”), with the LLM parsing the intent.</a:t>
            </a:r>
            <a:r>
              <a:rPr lang="en-IN" sz="2000" dirty="0">
                <a:effectLst/>
                <a:latin typeface="Times New Roman" panose="02020603050405020304" pitchFamily="18" charset="0"/>
                <a:ea typeface="Times New Roman" panose="02020603050405020304" pitchFamily="18" charset="0"/>
              </a:rPr>
              <a:t> </a:t>
            </a:r>
          </a:p>
          <a:p>
            <a:pPr marL="0" marR="12700" algn="just">
              <a:lnSpc>
                <a:spcPct val="150000"/>
              </a:lnSpc>
              <a:buNone/>
            </a:pPr>
            <a:r>
              <a:rPr lang="en-IN" sz="2000" dirty="0">
                <a:effectLst/>
                <a:latin typeface="Times New Roman" panose="02020603050405020304" pitchFamily="18" charset="0"/>
                <a:ea typeface="Times New Roman" panose="02020603050405020304" pitchFamily="18" charset="0"/>
              </a:rPr>
              <a:t> </a:t>
            </a:r>
          </a:p>
          <a:p>
            <a:pPr marL="0" marR="12700" algn="just">
              <a:lnSpc>
                <a:spcPct val="150000"/>
              </a:lnSpc>
              <a:buNone/>
            </a:pPr>
            <a:r>
              <a:rPr lang="en-US" sz="2000" b="1" dirty="0">
                <a:effectLst/>
                <a:latin typeface="Times New Roman" panose="02020603050405020304" pitchFamily="18" charset="0"/>
                <a:ea typeface="Times New Roman" panose="02020603050405020304" pitchFamily="18" charset="0"/>
              </a:rPr>
              <a:t>Explainability and Visualization Tools:</a:t>
            </a:r>
            <a:endParaRPr lang="en-IN" sz="2000" b="1" dirty="0">
              <a:effectLst/>
              <a:latin typeface="Times New Roman" panose="02020603050405020304" pitchFamily="18" charset="0"/>
              <a:ea typeface="Times New Roman" panose="02020603050405020304" pitchFamily="18" charset="0"/>
            </a:endParaRPr>
          </a:p>
          <a:p>
            <a:pPr marL="0" marR="12700" algn="just">
              <a:lnSpc>
                <a:spcPct val="150000"/>
              </a:lnSpc>
            </a:pPr>
            <a:r>
              <a:rPr lang="en-US" sz="2000" dirty="0">
                <a:effectLst/>
                <a:latin typeface="Times New Roman" panose="02020603050405020304" pitchFamily="18" charset="0"/>
                <a:ea typeface="Times New Roman" panose="02020603050405020304" pitchFamily="18" charset="0"/>
              </a:rPr>
              <a:t>Adding Tableau or </a:t>
            </a:r>
            <a:r>
              <a:rPr lang="en-US" sz="2000" dirty="0" err="1">
                <a:effectLst/>
                <a:latin typeface="Times New Roman" panose="02020603050405020304" pitchFamily="18" charset="0"/>
                <a:ea typeface="Times New Roman" panose="02020603050405020304" pitchFamily="18" charset="0"/>
              </a:rPr>
              <a:t>PowerBI</a:t>
            </a:r>
            <a:r>
              <a:rPr lang="en-US" sz="2000" dirty="0">
                <a:effectLst/>
                <a:latin typeface="Times New Roman" panose="02020603050405020304" pitchFamily="18" charset="0"/>
                <a:ea typeface="Times New Roman" panose="02020603050405020304" pitchFamily="18" charset="0"/>
              </a:rPr>
              <a:t> or other explainability libraries to give users insights into why a model made a certain prediction.</a:t>
            </a:r>
            <a:r>
              <a:rPr lang="en-IN" sz="20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1699935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7"/>
          <p:cNvSpPr txBox="1">
            <a:spLocks noGrp="1"/>
          </p:cNvSpPr>
          <p:nvPr>
            <p:ph type="title"/>
          </p:nvPr>
        </p:nvSpPr>
        <p:spPr>
          <a:xfrm>
            <a:off x="0" y="2252662"/>
            <a:ext cx="9144000" cy="841375"/>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US" sz="3600" b="1" i="0" u="none">
                <a:solidFill>
                  <a:srgbClr val="000000"/>
                </a:solidFill>
                <a:latin typeface="Times New Roman"/>
                <a:ea typeface="Times New Roman"/>
                <a:cs typeface="Times New Roman"/>
                <a:sym typeface="Times New Roman"/>
              </a:rPr>
              <a:t>Thank you</a:t>
            </a:r>
            <a:endParaRPr/>
          </a:p>
        </p:txBody>
      </p:sp>
      <p:sp>
        <p:nvSpPr>
          <p:cNvPr id="179" name="Google Shape;179;p27"/>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26</a:t>
            </a:fld>
            <a:endParaRPr/>
          </a:p>
        </p:txBody>
      </p:sp>
    </p:spTree>
  </p:cSld>
  <p:clrMapOvr>
    <a:masterClrMapping/>
  </p:clrMapOvr>
</p:sld>
</file>

<file path=ppt/theme/theme1.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966</TotalTime>
  <Words>2249</Words>
  <Application>Microsoft Office PowerPoint</Application>
  <PresentationFormat>On-screen Show (16:9)</PresentationFormat>
  <Paragraphs>167</Paragraphs>
  <Slides>26</Slides>
  <Notes>18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26</vt:i4>
      </vt:variant>
    </vt:vector>
  </HeadingPairs>
  <TitlesOfParts>
    <vt:vector size="30" baseType="lpstr">
      <vt:lpstr>Arial</vt:lpstr>
      <vt:lpstr>Times New Roman</vt:lpstr>
      <vt:lpstr>2_Simple Light</vt:lpstr>
      <vt:lpstr>1_Simple Light</vt:lpstr>
      <vt:lpstr>    Gokaraju Rangaraju Institute of Engineering and Technology  (Autonomous) Department of Data Science  Mini Project Work (CSE(DS))</vt:lpstr>
      <vt:lpstr>PowerPoint Presentation</vt:lpstr>
      <vt:lpstr>Abstract</vt:lpstr>
      <vt:lpstr>Problem Statement</vt:lpstr>
      <vt:lpstr>Research Gaps</vt:lpstr>
      <vt:lpstr>Research Gaps</vt:lpstr>
      <vt:lpstr>Objectives</vt:lpstr>
      <vt:lpstr>PowerPoint Presentation</vt:lpstr>
      <vt:lpstr>PowerPoint Presentation</vt:lpstr>
      <vt:lpstr>Description of Architecture Diagram</vt:lpstr>
      <vt:lpstr>PowerPoint Presentation</vt:lpstr>
      <vt:lpstr>Description of Architecture Diagram</vt:lpstr>
      <vt:lpstr>Software and Hardware Requirements</vt:lpstr>
      <vt:lpstr>Datasets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KARTHIKEYA</dc:creator>
  <cp:lastModifiedBy>Karthikeya Bairoju</cp:lastModifiedBy>
  <cp:revision>10</cp:revision>
  <dcterms:modified xsi:type="dcterms:W3CDTF">2025-04-23T04:09:49Z</dcterms:modified>
</cp:coreProperties>
</file>