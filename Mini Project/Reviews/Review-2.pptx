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0" r:id="rId5"/>
    <p:sldMasterId id="214748365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C0677B-EA7A-4646-BFE5-4817BB6F58A9}">
  <a:tblStyle styleId="{1CC0677B-EA7A-4646-BFE5-4817BB6F58A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3cab92230f_4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 name="Google Shape;36;g33cab92230f_4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3cab92230f_4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33cab92230f_4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cab92230f_4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3cab92230f_4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3cab92230f_4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3cab92230f_4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 name="Shape 10"/>
        <p:cNvGrpSpPr/>
        <p:nvPr/>
      </p:nvGrpSpPr>
      <p:grpSpPr>
        <a:xfrm>
          <a:off x="0" y="0"/>
          <a:ext cx="0" cy="0"/>
          <a:chOff x="0" y="0"/>
          <a:chExt cx="0" cy="0"/>
        </a:xfrm>
      </p:grpSpPr>
      <p:sp>
        <p:nvSpPr>
          <p:cNvPr id="11" name="Google Shape;11;p2"/>
          <p:cNvSpPr txBox="1"/>
          <p:nvPr>
            <p:ph type="ctrTitle"/>
          </p:nvPr>
        </p:nvSpPr>
        <p:spPr>
          <a:xfrm>
            <a:off x="0" y="0"/>
            <a:ext cx="9144000" cy="649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SzPts val="5200"/>
              <a:buNone/>
              <a:defRPr b="1" sz="3200">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
          <p:cNvSpPr txBox="1"/>
          <p:nvPr>
            <p:ph idx="1" type="body"/>
          </p:nvPr>
        </p:nvSpPr>
        <p:spPr>
          <a:xfrm>
            <a:off x="165100" y="914400"/>
            <a:ext cx="8763000" cy="34797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SzPts val="1400"/>
              <a:buNone/>
              <a:defRPr sz="2400">
                <a:latin typeface="Times New Roman"/>
                <a:ea typeface="Times New Roman"/>
                <a:cs typeface="Times New Roman"/>
                <a:sym typeface="Times New Roman"/>
              </a:defRPr>
            </a:lvl1pPr>
            <a:lvl2pPr indent="-228600" lvl="1" marL="914400" algn="l">
              <a:spcBef>
                <a:spcPts val="0"/>
              </a:spcBef>
              <a:spcAft>
                <a:spcPts val="0"/>
              </a:spcAft>
              <a:buSzPts val="1400"/>
              <a:buNone/>
              <a:defRPr sz="2200">
                <a:latin typeface="Times New Roman"/>
                <a:ea typeface="Times New Roman"/>
                <a:cs typeface="Times New Roman"/>
                <a:sym typeface="Times New Roman"/>
              </a:defRPr>
            </a:lvl2pPr>
            <a:lvl3pPr indent="-228600" lvl="2" marL="1371600" algn="l">
              <a:spcBef>
                <a:spcPts val="0"/>
              </a:spcBef>
              <a:spcAft>
                <a:spcPts val="0"/>
              </a:spcAft>
              <a:buSzPts val="1400"/>
              <a:buNone/>
              <a:defRPr sz="2200">
                <a:latin typeface="Times New Roman"/>
                <a:ea typeface="Times New Roman"/>
                <a:cs typeface="Times New Roman"/>
                <a:sym typeface="Times New Roman"/>
              </a:defRPr>
            </a:lvl3pPr>
            <a:lvl4pPr indent="-228600" lvl="3" marL="1828800" algn="l">
              <a:spcBef>
                <a:spcPts val="0"/>
              </a:spcBef>
              <a:spcAft>
                <a:spcPts val="0"/>
              </a:spcAft>
              <a:buSzPts val="1400"/>
              <a:buNone/>
              <a:defRPr sz="2000">
                <a:latin typeface="Times New Roman"/>
                <a:ea typeface="Times New Roman"/>
                <a:cs typeface="Times New Roman"/>
                <a:sym typeface="Times New Roman"/>
              </a:defRPr>
            </a:lvl4pPr>
            <a:lvl5pPr indent="-228600" lvl="4" marL="2286000" algn="l">
              <a:spcBef>
                <a:spcPts val="0"/>
              </a:spcBef>
              <a:spcAft>
                <a:spcPts val="0"/>
              </a:spcAft>
              <a:buSzPts val="1400"/>
              <a:buNone/>
              <a:defRPr sz="2000">
                <a:latin typeface="Times New Roman"/>
                <a:ea typeface="Times New Roman"/>
                <a:cs typeface="Times New Roman"/>
                <a:sym typeface="Times New Roman"/>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 name="Google Shape;13;p2"/>
          <p:cNvSpPr txBox="1"/>
          <p:nvPr>
            <p:ph idx="12" type="sldNum"/>
          </p:nvPr>
        </p:nvSpPr>
        <p:spPr>
          <a:xfrm>
            <a:off x="8472487" y="4662487"/>
            <a:ext cx="5493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2"/>
          <p:cNvSpPr txBox="1"/>
          <p:nvPr>
            <p:ph idx="11" type="ftr"/>
          </p:nvPr>
        </p:nvSpPr>
        <p:spPr>
          <a:xfrm>
            <a:off x="2706687" y="4760912"/>
            <a:ext cx="3538500" cy="1983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4"/>
          <p:cNvSpPr txBox="1"/>
          <p:nvPr>
            <p:ph idx="12" type="sldNum"/>
          </p:nvPr>
        </p:nvSpPr>
        <p:spPr>
          <a:xfrm>
            <a:off x="8472487" y="4662487"/>
            <a:ext cx="5493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4"/>
          <p:cNvSpPr txBox="1"/>
          <p:nvPr>
            <p:ph idx="11" type="ftr"/>
          </p:nvPr>
        </p:nvSpPr>
        <p:spPr>
          <a:xfrm>
            <a:off x="2706687" y="4760912"/>
            <a:ext cx="3538500" cy="1983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150" y="444500"/>
            <a:ext cx="8521800" cy="5730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algn="l">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algn="l">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algn="l">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algn="l">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311150" y="1152525"/>
            <a:ext cx="8521800" cy="341640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algn="l">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algn="l">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algn="l">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algn="l">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8" name="Google Shape;8;p1"/>
          <p:cNvSpPr txBox="1"/>
          <p:nvPr>
            <p:ph idx="12" type="sldNum"/>
          </p:nvPr>
        </p:nvSpPr>
        <p:spPr>
          <a:xfrm>
            <a:off x="8472487" y="4662487"/>
            <a:ext cx="5493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
        <p:nvSpPr>
          <p:cNvPr id="9" name="Google Shape;9;p1"/>
          <p:cNvSpPr txBox="1"/>
          <p:nvPr>
            <p:ph idx="11" type="ftr"/>
          </p:nvPr>
        </p:nvSpPr>
        <p:spPr>
          <a:xfrm>
            <a:off x="2706687" y="4760912"/>
            <a:ext cx="3538500" cy="1983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1" i="0" sz="900" u="none" cap="none" strike="noStrike">
                <a:solidFill>
                  <a:srgbClr val="898989"/>
                </a:solidFill>
                <a:latin typeface="Arial"/>
                <a:ea typeface="Arial"/>
                <a:cs typeface="Arial"/>
                <a:sym typeface="Arial"/>
              </a:defRPr>
            </a:lvl1pPr>
            <a:lvl2pPr lvl="1"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311150" y="444500"/>
            <a:ext cx="8521800" cy="5730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algn="l">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algn="l">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algn="l">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algn="l">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7" name="Google Shape;17;p3"/>
          <p:cNvSpPr txBox="1"/>
          <p:nvPr>
            <p:ph idx="1" type="body"/>
          </p:nvPr>
        </p:nvSpPr>
        <p:spPr>
          <a:xfrm>
            <a:off x="311150" y="1152525"/>
            <a:ext cx="8521800" cy="341640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algn="l">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algn="l">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algn="l">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algn="l">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8" name="Google Shape;18;p3"/>
          <p:cNvSpPr txBox="1"/>
          <p:nvPr>
            <p:ph idx="12" type="sldNum"/>
          </p:nvPr>
        </p:nvSpPr>
        <p:spPr>
          <a:xfrm>
            <a:off x="8472487" y="4662487"/>
            <a:ext cx="5493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595959"/>
              </a:buClr>
              <a:buSzPts val="1000"/>
              <a:buFont typeface="Arial"/>
              <a:buNone/>
              <a:defRPr b="0" i="0" sz="1000" u="non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
        <p:nvSpPr>
          <p:cNvPr id="19" name="Google Shape;19;p3"/>
          <p:cNvSpPr txBox="1"/>
          <p:nvPr>
            <p:ph idx="11" type="ftr"/>
          </p:nvPr>
        </p:nvSpPr>
        <p:spPr>
          <a:xfrm>
            <a:off x="2706687" y="4760912"/>
            <a:ext cx="3538500" cy="1983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1" i="0" sz="900" u="none">
                <a:solidFill>
                  <a:srgbClr val="898989"/>
                </a:solidFill>
                <a:latin typeface="Arial"/>
                <a:ea typeface="Arial"/>
                <a:cs typeface="Arial"/>
                <a:sym typeface="Arial"/>
              </a:defRPr>
            </a:lvl1pPr>
            <a:lvl2pPr lvl="1"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ourworldindata.org/grapher/coal-consumption-by-country-terawatt-hours-twh" TargetMode="External"/><Relationship Id="rId4" Type="http://schemas.openxmlformats.org/officeDocument/2006/relationships/hyperlink" Target="https://ourworldindata.org/grapher/natural-gas-consumption-by-region" TargetMode="External"/><Relationship Id="rId5" Type="http://schemas.openxmlformats.org/officeDocument/2006/relationships/hyperlink" Target="https://ourworldindata.org/grapher/oil-consumption-by-countr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5"/>
          <p:cNvSpPr txBox="1"/>
          <p:nvPr>
            <p:ph type="ctrTitle"/>
          </p:nvPr>
        </p:nvSpPr>
        <p:spPr>
          <a:xfrm>
            <a:off x="-9525" y="738187"/>
            <a:ext cx="9144000" cy="1712912"/>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br>
              <a:rPr b="1" i="0" lang="en-US" sz="2200" u="none">
                <a:solidFill>
                  <a:srgbClr val="000000"/>
                </a:solidFill>
                <a:latin typeface="Times New Roman"/>
                <a:ea typeface="Times New Roman"/>
                <a:cs typeface="Times New Roman"/>
                <a:sym typeface="Times New Roman"/>
              </a:rPr>
            </a:br>
            <a:br>
              <a:rPr b="1" i="0" lang="en-US" sz="2200" u="none">
                <a:solidFill>
                  <a:srgbClr val="000000"/>
                </a:solidFill>
                <a:latin typeface="Times New Roman"/>
                <a:ea typeface="Times New Roman"/>
                <a:cs typeface="Times New Roman"/>
                <a:sym typeface="Times New Roman"/>
              </a:rPr>
            </a:br>
            <a:br>
              <a:rPr b="1" i="0" lang="en-US" sz="2200" u="none">
                <a:solidFill>
                  <a:srgbClr val="000000"/>
                </a:solidFill>
                <a:latin typeface="Times New Roman"/>
                <a:ea typeface="Times New Roman"/>
                <a:cs typeface="Times New Roman"/>
                <a:sym typeface="Times New Roman"/>
              </a:rPr>
            </a:br>
            <a:br>
              <a:rPr b="1" i="0" lang="en-US" sz="2200" u="none">
                <a:solidFill>
                  <a:srgbClr val="000000"/>
                </a:solidFill>
                <a:latin typeface="Times New Roman"/>
                <a:ea typeface="Times New Roman"/>
                <a:cs typeface="Times New Roman"/>
                <a:sym typeface="Times New Roman"/>
              </a:rPr>
            </a:br>
            <a:r>
              <a:rPr b="1" i="0" lang="en-US" sz="1800" u="none">
                <a:solidFill>
                  <a:srgbClr val="000000"/>
                </a:solidFill>
                <a:latin typeface="Times New Roman"/>
                <a:ea typeface="Times New Roman"/>
                <a:cs typeface="Times New Roman"/>
                <a:sym typeface="Times New Roman"/>
              </a:rPr>
              <a:t>Gokaraju Rangaraju Institute of Engineering and Technology </a:t>
            </a:r>
            <a:br>
              <a:rPr b="1" i="0" lang="en-US" sz="1800" u="none">
                <a:solidFill>
                  <a:srgbClr val="000000"/>
                </a:solidFill>
                <a:latin typeface="Times New Roman"/>
                <a:ea typeface="Times New Roman"/>
                <a:cs typeface="Times New Roman"/>
                <a:sym typeface="Times New Roman"/>
              </a:rPr>
            </a:br>
            <a:r>
              <a:rPr b="1" i="0" lang="en-US" sz="1800" u="none">
                <a:solidFill>
                  <a:srgbClr val="000000"/>
                </a:solidFill>
                <a:latin typeface="Times New Roman"/>
                <a:ea typeface="Times New Roman"/>
                <a:cs typeface="Times New Roman"/>
                <a:sym typeface="Times New Roman"/>
              </a:rPr>
              <a:t>(Autonomous)</a:t>
            </a:r>
            <a:br>
              <a:rPr b="1" i="0" lang="en-US" sz="1800" u="none">
                <a:solidFill>
                  <a:srgbClr val="000000"/>
                </a:solidFill>
                <a:latin typeface="Times New Roman"/>
                <a:ea typeface="Times New Roman"/>
                <a:cs typeface="Times New Roman"/>
                <a:sym typeface="Times New Roman"/>
              </a:rPr>
            </a:br>
            <a:r>
              <a:rPr b="1" i="0" lang="en-US" sz="1800" u="none">
                <a:solidFill>
                  <a:srgbClr val="000000"/>
                </a:solidFill>
                <a:latin typeface="Times New Roman"/>
                <a:ea typeface="Times New Roman"/>
                <a:cs typeface="Times New Roman"/>
                <a:sym typeface="Times New Roman"/>
              </a:rPr>
              <a:t>Department of Data Science</a:t>
            </a:r>
            <a:br>
              <a:rPr b="1" i="0" lang="en-US" sz="1800" u="none">
                <a:solidFill>
                  <a:srgbClr val="000000"/>
                </a:solidFill>
                <a:latin typeface="Times New Roman"/>
                <a:ea typeface="Times New Roman"/>
                <a:cs typeface="Times New Roman"/>
                <a:sym typeface="Times New Roman"/>
              </a:rPr>
            </a:br>
            <a:br>
              <a:rPr b="1" i="0" lang="en-US" sz="1800" u="none">
                <a:solidFill>
                  <a:srgbClr val="000000"/>
                </a:solidFill>
                <a:latin typeface="Times New Roman"/>
                <a:ea typeface="Times New Roman"/>
                <a:cs typeface="Times New Roman"/>
                <a:sym typeface="Times New Roman"/>
              </a:rPr>
            </a:br>
            <a:r>
              <a:rPr b="1" i="0" lang="en-US" sz="1800" u="none">
                <a:solidFill>
                  <a:srgbClr val="000000"/>
                </a:solidFill>
                <a:latin typeface="Times New Roman"/>
                <a:ea typeface="Times New Roman"/>
                <a:cs typeface="Times New Roman"/>
                <a:sym typeface="Times New Roman"/>
              </a:rPr>
              <a:t>M</a:t>
            </a:r>
            <a:r>
              <a:rPr b="1" i="0" lang="en-US" sz="1800" u="none">
                <a:solidFill>
                  <a:srgbClr val="000000"/>
                </a:solidFill>
                <a:latin typeface="Arial"/>
                <a:ea typeface="Arial"/>
                <a:cs typeface="Arial"/>
                <a:sym typeface="Arial"/>
              </a:rPr>
              <a:t>ini</a:t>
            </a:r>
            <a:r>
              <a:rPr b="1" i="0" lang="en-US" sz="1800" u="none">
                <a:solidFill>
                  <a:srgbClr val="000000"/>
                </a:solidFill>
                <a:latin typeface="Times New Roman"/>
                <a:ea typeface="Times New Roman"/>
                <a:cs typeface="Times New Roman"/>
                <a:sym typeface="Times New Roman"/>
              </a:rPr>
              <a:t> Project Work</a:t>
            </a:r>
            <a:br>
              <a:rPr b="1" i="0" lang="en-US" sz="1800" u="none">
                <a:solidFill>
                  <a:srgbClr val="000000"/>
                </a:solidFill>
                <a:latin typeface="Times New Roman"/>
                <a:ea typeface="Times New Roman"/>
                <a:cs typeface="Times New Roman"/>
                <a:sym typeface="Times New Roman"/>
              </a:rPr>
            </a:br>
            <a:r>
              <a:rPr b="1" i="0" lang="en-US" sz="1800" u="none">
                <a:solidFill>
                  <a:srgbClr val="000000"/>
                </a:solidFill>
                <a:latin typeface="Times New Roman"/>
                <a:ea typeface="Times New Roman"/>
                <a:cs typeface="Times New Roman"/>
                <a:sym typeface="Times New Roman"/>
              </a:rPr>
              <a:t>(CSE(DS))</a:t>
            </a:r>
            <a:endParaRPr/>
          </a:p>
        </p:txBody>
      </p:sp>
      <p:sp>
        <p:nvSpPr>
          <p:cNvPr id="29" name="Google Shape;29;p5"/>
          <p:cNvSpPr txBox="1"/>
          <p:nvPr>
            <p:ph idx="4294967295" type="subTitle"/>
          </p:nvPr>
        </p:nvSpPr>
        <p:spPr>
          <a:xfrm>
            <a:off x="9525" y="2571750"/>
            <a:ext cx="9144000" cy="523875"/>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200"/>
              <a:buFont typeface="Arial"/>
              <a:buNone/>
            </a:pPr>
            <a:r>
              <a:rPr b="1" i="0" lang="en-US" sz="2200" u="none" cap="none" strike="noStrike">
                <a:solidFill>
                  <a:srgbClr val="0D5BDC"/>
                </a:solidFill>
                <a:latin typeface="Times New Roman"/>
                <a:ea typeface="Times New Roman"/>
                <a:cs typeface="Times New Roman"/>
                <a:sym typeface="Times New Roman"/>
              </a:rPr>
              <a:t>Review2: Architecture Design Presentation</a:t>
            </a:r>
            <a:endParaRPr/>
          </a:p>
          <a:p>
            <a:pPr indent="-342900" lvl="0" marL="342900" marR="0" rtl="0" algn="l">
              <a:spcBef>
                <a:spcPts val="0"/>
              </a:spcBef>
              <a:spcAft>
                <a:spcPts val="0"/>
              </a:spcAft>
              <a:buNone/>
            </a:pPr>
            <a:r>
              <a:t/>
            </a:r>
            <a:endParaRPr b="1" i="0" sz="2200" u="none">
              <a:solidFill>
                <a:srgbClr val="0D5BDC"/>
              </a:solidFill>
              <a:latin typeface="Times New Roman"/>
              <a:ea typeface="Times New Roman"/>
              <a:cs typeface="Times New Roman"/>
              <a:sym typeface="Times New Roman"/>
            </a:endParaRPr>
          </a:p>
        </p:txBody>
      </p:sp>
      <p:pic>
        <p:nvPicPr>
          <p:cNvPr descr="Untitled-1 copy" id="30" name="Google Shape;30;p5"/>
          <p:cNvPicPr preferRelativeResize="0"/>
          <p:nvPr/>
        </p:nvPicPr>
        <p:blipFill rotWithShape="1">
          <a:blip r:embed="rId3">
            <a:alphaModFix/>
          </a:blip>
          <a:srcRect b="21855" l="25561" r="26994" t="23017"/>
          <a:stretch/>
        </p:blipFill>
        <p:spPr>
          <a:xfrm>
            <a:off x="4271962" y="114300"/>
            <a:ext cx="604837" cy="554037"/>
          </a:xfrm>
          <a:prstGeom prst="rect">
            <a:avLst/>
          </a:prstGeom>
          <a:noFill/>
          <a:ln>
            <a:noFill/>
          </a:ln>
        </p:spPr>
      </p:pic>
      <p:sp>
        <p:nvSpPr>
          <p:cNvPr id="31" name="Google Shape;31;p5"/>
          <p:cNvSpPr txBox="1"/>
          <p:nvPr/>
        </p:nvSpPr>
        <p:spPr>
          <a:xfrm>
            <a:off x="330300" y="3500437"/>
            <a:ext cx="4260900" cy="142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1600">
                <a:solidFill>
                  <a:schemeClr val="dk1"/>
                </a:solidFill>
                <a:latin typeface="Times New Roman"/>
                <a:ea typeface="Times New Roman"/>
                <a:cs typeface="Times New Roman"/>
                <a:sym typeface="Times New Roman"/>
              </a:rPr>
              <a:t>Presented by:</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600">
                <a:solidFill>
                  <a:schemeClr val="dk1"/>
                </a:solidFill>
                <a:latin typeface="Times New Roman"/>
                <a:ea typeface="Times New Roman"/>
                <a:cs typeface="Times New Roman"/>
                <a:sym typeface="Times New Roman"/>
              </a:rPr>
              <a:t>1. B. Karthikeya (22241A6771)</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600">
                <a:solidFill>
                  <a:schemeClr val="dk1"/>
                </a:solidFill>
                <a:latin typeface="Times New Roman"/>
                <a:ea typeface="Times New Roman"/>
                <a:cs typeface="Times New Roman"/>
                <a:sym typeface="Times New Roman"/>
              </a:rPr>
              <a:t>2. B. Abhilash Reddy (22241A6775)</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600">
                <a:solidFill>
                  <a:schemeClr val="dk1"/>
                </a:solidFill>
                <a:latin typeface="Times New Roman"/>
                <a:ea typeface="Times New Roman"/>
                <a:cs typeface="Times New Roman"/>
                <a:sym typeface="Times New Roman"/>
              </a:rPr>
              <a:t>3. B. Sushanth (22241A6776)</a:t>
            </a:r>
            <a:endParaRPr b="1" sz="1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Times New Roman"/>
              <a:buNone/>
            </a:pPr>
            <a:r>
              <a:t/>
            </a:r>
            <a:endParaRPr b="1" sz="1600">
              <a:latin typeface="Times New Roman"/>
              <a:ea typeface="Times New Roman"/>
              <a:cs typeface="Times New Roman"/>
              <a:sym typeface="Times New Roman"/>
            </a:endParaRPr>
          </a:p>
        </p:txBody>
      </p:sp>
      <p:sp>
        <p:nvSpPr>
          <p:cNvPr id="32" name="Google Shape;32;p5"/>
          <p:cNvSpPr txBox="1"/>
          <p:nvPr/>
        </p:nvSpPr>
        <p:spPr>
          <a:xfrm>
            <a:off x="5945787" y="3500425"/>
            <a:ext cx="3294000" cy="14208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en-US" sz="1600">
                <a:solidFill>
                  <a:schemeClr val="dk1"/>
                </a:solidFill>
                <a:latin typeface="Times New Roman"/>
                <a:ea typeface="Times New Roman"/>
                <a:cs typeface="Times New Roman"/>
                <a:sym typeface="Times New Roman"/>
              </a:rPr>
              <a:t>Under the Guidance of:</a:t>
            </a:r>
            <a:endParaRPr b="1" sz="16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Font typeface="Arial"/>
              <a:buNone/>
            </a:pPr>
            <a:r>
              <a:rPr b="1" lang="en-US" sz="1600">
                <a:solidFill>
                  <a:srgbClr val="006600"/>
                </a:solidFill>
                <a:latin typeface="Times New Roman"/>
                <a:ea typeface="Times New Roman"/>
                <a:cs typeface="Times New Roman"/>
                <a:sym typeface="Times New Roman"/>
              </a:rPr>
              <a:t>Dr. R.P. Ram Kumar</a:t>
            </a:r>
            <a:endParaRPr b="1" sz="1600">
              <a:solidFill>
                <a:srgbClr val="006600"/>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Font typeface="Arial"/>
              <a:buNone/>
            </a:pPr>
            <a:r>
              <a:rPr b="1" lang="en-US" sz="1600">
                <a:solidFill>
                  <a:srgbClr val="006600"/>
                </a:solidFill>
                <a:latin typeface="Times New Roman"/>
                <a:ea typeface="Times New Roman"/>
                <a:cs typeface="Times New Roman"/>
                <a:sym typeface="Times New Roman"/>
              </a:rPr>
              <a:t>Professor</a:t>
            </a:r>
            <a:endParaRPr b="1" sz="1600">
              <a:solidFill>
                <a:srgbClr val="006600"/>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Font typeface="Arial"/>
              <a:buNone/>
            </a:pPr>
            <a:r>
              <a:rPr b="1" lang="en-US" sz="1600">
                <a:solidFill>
                  <a:srgbClr val="006600"/>
                </a:solidFill>
                <a:latin typeface="Times New Roman"/>
                <a:ea typeface="Times New Roman"/>
                <a:cs typeface="Times New Roman"/>
                <a:sym typeface="Times New Roman"/>
              </a:rPr>
              <a:t>CSE(DS) Department</a:t>
            </a:r>
            <a:endParaRPr b="1" sz="1600">
              <a:solidFill>
                <a:srgbClr val="0066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sz="1600">
              <a:latin typeface="Times New Roman"/>
              <a:ea typeface="Times New Roman"/>
              <a:cs typeface="Times New Roman"/>
              <a:sym typeface="Times New Roman"/>
            </a:endParaRPr>
          </a:p>
        </p:txBody>
      </p:sp>
      <p:sp>
        <p:nvSpPr>
          <p:cNvPr id="33" name="Google Shape;33;p5"/>
          <p:cNvSpPr txBox="1"/>
          <p:nvPr/>
        </p:nvSpPr>
        <p:spPr>
          <a:xfrm>
            <a:off x="330300" y="2976562"/>
            <a:ext cx="1992300" cy="523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D5BDC"/>
              </a:buClr>
              <a:buSzPts val="1800"/>
              <a:buFont typeface="Times New Roman"/>
              <a:buNone/>
            </a:pPr>
            <a:r>
              <a:rPr b="1" i="0" lang="en-US" sz="1800" u="none">
                <a:solidFill>
                  <a:srgbClr val="0D5BDC"/>
                </a:solidFill>
                <a:latin typeface="Times New Roman"/>
                <a:ea typeface="Times New Roman"/>
                <a:cs typeface="Times New Roman"/>
                <a:sym typeface="Times New Roman"/>
              </a:rPr>
              <a:t>Batch No - B3  </a:t>
            </a:r>
            <a:endParaRPr b="0" i="0" sz="1800" u="non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2200"/>
              <a:buFont typeface="Arial"/>
              <a:buNone/>
            </a:pPr>
            <a:r>
              <a:t/>
            </a:r>
            <a:endParaRPr b="1" i="0" sz="2200" u="none">
              <a:solidFill>
                <a:srgbClr val="0D5BD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200" u="none">
              <a:solidFill>
                <a:srgbClr val="0D5BD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6"/>
          <p:cNvSpPr txBox="1"/>
          <p:nvPr>
            <p:ph type="ctrTitle"/>
          </p:nvPr>
        </p:nvSpPr>
        <p:spPr>
          <a:xfrm>
            <a:off x="-2896525" y="2246850"/>
            <a:ext cx="9144000" cy="649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US"/>
              <a:t>Review 1 Feedback</a:t>
            </a:r>
            <a:endParaRPr/>
          </a:p>
        </p:txBody>
      </p:sp>
      <p:sp>
        <p:nvSpPr>
          <p:cNvPr id="39" name="Google Shape;39;p6"/>
          <p:cNvSpPr txBox="1"/>
          <p:nvPr>
            <p:ph idx="12" type="sldNum"/>
          </p:nvPr>
        </p:nvSpPr>
        <p:spPr>
          <a:xfrm>
            <a:off x="8472487" y="4662487"/>
            <a:ext cx="5493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595959"/>
              </a:buClr>
              <a:buSzPts val="1000"/>
              <a:buFont typeface="Arial"/>
              <a:buNone/>
            </a:pPr>
            <a:fld id="{00000000-1234-1234-1234-123412341234}" type="slidenum">
              <a:rPr lang="en-US"/>
              <a:t>‹#›</a:t>
            </a:fld>
            <a:endParaRPr/>
          </a:p>
        </p:txBody>
      </p:sp>
      <p:pic>
        <p:nvPicPr>
          <p:cNvPr id="40" name="Google Shape;40;p6"/>
          <p:cNvPicPr preferRelativeResize="0"/>
          <p:nvPr/>
        </p:nvPicPr>
        <p:blipFill rotWithShape="1">
          <a:blip r:embed="rId3">
            <a:alphaModFix/>
          </a:blip>
          <a:srcRect b="13185" l="12520" r="3726" t="18985"/>
          <a:stretch/>
        </p:blipFill>
        <p:spPr>
          <a:xfrm>
            <a:off x="3477150" y="0"/>
            <a:ext cx="5666849"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
          <p:cNvSpPr txBox="1"/>
          <p:nvPr>
            <p:ph type="ctrTitle"/>
          </p:nvPr>
        </p:nvSpPr>
        <p:spPr>
          <a:xfrm>
            <a:off x="0" y="89300"/>
            <a:ext cx="9144000" cy="649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i="0" lang="en-US" sz="2900" u="none">
                <a:solidFill>
                  <a:srgbClr val="000000"/>
                </a:solidFill>
                <a:latin typeface="Times New Roman"/>
                <a:ea typeface="Times New Roman"/>
                <a:cs typeface="Times New Roman"/>
                <a:sym typeface="Times New Roman"/>
              </a:rPr>
              <a:t>Abstract</a:t>
            </a:r>
            <a:endParaRPr/>
          </a:p>
        </p:txBody>
      </p:sp>
      <p:sp>
        <p:nvSpPr>
          <p:cNvPr id="46" name="Google Shape;46;p7"/>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
        <p:nvSpPr>
          <p:cNvPr id="47" name="Google Shape;47;p7"/>
          <p:cNvSpPr txBox="1"/>
          <p:nvPr>
            <p:ph idx="1" type="body"/>
          </p:nvPr>
        </p:nvSpPr>
        <p:spPr>
          <a:xfrm>
            <a:off x="190500" y="820175"/>
            <a:ext cx="8763000" cy="3671400"/>
          </a:xfrm>
          <a:prstGeom prst="rect">
            <a:avLst/>
          </a:prstGeom>
          <a:noFill/>
          <a:ln>
            <a:noFill/>
          </a:ln>
        </p:spPr>
        <p:txBody>
          <a:bodyPr anchorCtr="0" anchor="t" bIns="91425" lIns="91425" spcFirstLastPara="1" rIns="91425" wrap="square" tIns="91425">
            <a:noAutofit/>
          </a:bodyPr>
          <a:lstStyle/>
          <a:p>
            <a:pPr indent="0" lvl="0" marL="152400" rtl="0" algn="just">
              <a:lnSpc>
                <a:spcPct val="115000"/>
              </a:lnSpc>
              <a:spcBef>
                <a:spcPts val="0"/>
              </a:spcBef>
              <a:spcAft>
                <a:spcPts val="0"/>
              </a:spcAft>
              <a:buClr>
                <a:schemeClr val="dk1"/>
              </a:buClr>
              <a:buSzPts val="1100"/>
              <a:buFont typeface="Arial"/>
              <a:buNone/>
            </a:pPr>
            <a:r>
              <a:rPr lang="en-US" sz="1900">
                <a:solidFill>
                  <a:schemeClr val="dk1"/>
                </a:solidFill>
              </a:rPr>
              <a:t>This project focuses on a Comprehensive analysis of Global Energy Trends and their consumption every year using “Time series analysis and fine-tuned LLM models” along with data analysis. This project incorporates enhanced prediction and analysis of “Global Energy” Consumption from Natural Resources like Coal, Oil, Natural Gas, Hydroelectricity and more. This project leverages </a:t>
            </a:r>
            <a:r>
              <a:rPr b="1" lang="en-US" sz="1900">
                <a:solidFill>
                  <a:schemeClr val="dk1"/>
                </a:solidFill>
              </a:rPr>
              <a:t>Time Series Analysis (ARIMA, SARIMA)</a:t>
            </a:r>
            <a:r>
              <a:rPr lang="en-US" sz="1900">
                <a:solidFill>
                  <a:schemeClr val="dk1"/>
                </a:solidFill>
              </a:rPr>
              <a:t> and </a:t>
            </a:r>
            <a:r>
              <a:rPr b="1" lang="en-US" sz="1900">
                <a:solidFill>
                  <a:schemeClr val="dk1"/>
                </a:solidFill>
              </a:rPr>
              <a:t>Fine-Tuned Large Language Models (LLMs) </a:t>
            </a:r>
            <a:r>
              <a:rPr b="1" lang="en-US" sz="1900">
                <a:solidFill>
                  <a:schemeClr val="dk1"/>
                </a:solidFill>
              </a:rPr>
              <a:t>like Mistral 7b</a:t>
            </a:r>
            <a:r>
              <a:rPr lang="en-US" sz="1900">
                <a:solidFill>
                  <a:schemeClr val="dk1"/>
                </a:solidFill>
              </a:rPr>
              <a:t> to analyze and predict global energy consumption trends with high accuracy. Using historical energy data from sources like the </a:t>
            </a:r>
            <a:r>
              <a:rPr b="1" lang="en-US" sz="1900">
                <a:solidFill>
                  <a:schemeClr val="dk1"/>
                </a:solidFill>
              </a:rPr>
              <a:t>IEA, World Bank, and BP Statistical Review</a:t>
            </a:r>
            <a:r>
              <a:rPr lang="en-US" sz="1900">
                <a:solidFill>
                  <a:schemeClr val="dk1"/>
                </a:solidFill>
              </a:rPr>
              <a:t>, the project identifies key consumption patterns across </a:t>
            </a:r>
            <a:r>
              <a:rPr b="1" lang="en-US" sz="1900">
                <a:solidFill>
                  <a:schemeClr val="dk1"/>
                </a:solidFill>
              </a:rPr>
              <a:t>coal, oil, natural gas, and renewables</a:t>
            </a:r>
            <a:r>
              <a:rPr lang="en-US" sz="1900">
                <a:solidFill>
                  <a:schemeClr val="dk1"/>
                </a:solidFill>
              </a:rPr>
              <a:t> to support informed decision-making and Environmental S</a:t>
            </a:r>
            <a:r>
              <a:rPr lang="en-US" sz="1900">
                <a:solidFill>
                  <a:schemeClr val="dk1"/>
                </a:solidFill>
              </a:rPr>
              <a:t>ustainability</a:t>
            </a:r>
            <a:r>
              <a:rPr lang="en-US" sz="1900">
                <a:solidFill>
                  <a:schemeClr val="dk1"/>
                </a:solidFill>
              </a:rPr>
              <a:t>.</a:t>
            </a:r>
            <a:endParaRPr sz="1900">
              <a:solidFill>
                <a:schemeClr val="dk1"/>
              </a:solidFill>
            </a:endParaRPr>
          </a:p>
          <a:p>
            <a:pPr indent="-342900" lvl="0" marL="342900" rtl="0" algn="just">
              <a:spcBef>
                <a:spcPts val="0"/>
              </a:spcBef>
              <a:spcAft>
                <a:spcPts val="0"/>
              </a:spcAft>
              <a:buNone/>
            </a:pPr>
            <a:r>
              <a:t/>
            </a:r>
            <a:endParaRPr sz="190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8"/>
          <p:cNvSpPr txBox="1"/>
          <p:nvPr>
            <p:ph type="ctrTitle"/>
          </p:nvPr>
        </p:nvSpPr>
        <p:spPr>
          <a:xfrm>
            <a:off x="0" y="0"/>
            <a:ext cx="9144000" cy="649287"/>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i="0" lang="en-US" sz="2900" u="none">
                <a:solidFill>
                  <a:srgbClr val="000000"/>
                </a:solidFill>
                <a:latin typeface="Times New Roman"/>
                <a:ea typeface="Times New Roman"/>
                <a:cs typeface="Times New Roman"/>
                <a:sym typeface="Times New Roman"/>
              </a:rPr>
              <a:t>Literature Review</a:t>
            </a:r>
            <a:endParaRPr/>
          </a:p>
        </p:txBody>
      </p:sp>
      <p:sp>
        <p:nvSpPr>
          <p:cNvPr id="53" name="Google Shape;53;p8"/>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
        <p:nvSpPr>
          <p:cNvPr id="54" name="Google Shape;54;p8"/>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rgbClr val="595959"/>
              </a:buClr>
              <a:buSzPts val="200"/>
              <a:buFont typeface="Arial"/>
              <a:buNone/>
            </a:pPr>
            <a:r>
              <a:t/>
            </a:r>
            <a:endParaRPr b="0" i="0" sz="2400" u="none">
              <a:solidFill>
                <a:srgbClr val="595959"/>
              </a:solidFill>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rgbClr val="595959"/>
              </a:buClr>
              <a:buSzPts val="100"/>
              <a:buFont typeface="Arial"/>
              <a:buChar char="○"/>
            </a:pPr>
            <a:r>
              <a:rPr b="0" i="0" lang="en-US" sz="2400" u="none">
                <a:solidFill>
                  <a:srgbClr val="FF0000"/>
                </a:solidFill>
                <a:latin typeface="Times New Roman"/>
                <a:ea typeface="Times New Roman"/>
                <a:cs typeface="Times New Roman"/>
                <a:sym typeface="Times New Roman"/>
              </a:rPr>
              <a:t>The summary of the literature review is to be presented in the table given in the next slide.</a:t>
            </a:r>
            <a:endParaRPr/>
          </a:p>
          <a:p>
            <a:pPr indent="-317500" lvl="1" marL="914400" rtl="0" algn="l">
              <a:lnSpc>
                <a:spcPct val="115000"/>
              </a:lnSpc>
              <a:spcBef>
                <a:spcPts val="0"/>
              </a:spcBef>
              <a:spcAft>
                <a:spcPts val="0"/>
              </a:spcAft>
              <a:buClr>
                <a:srgbClr val="595959"/>
              </a:buClr>
              <a:buSzPts val="100"/>
              <a:buFont typeface="Arial"/>
              <a:buChar char="○"/>
            </a:pPr>
            <a:r>
              <a:rPr b="0" i="0" lang="en-US" sz="2400" u="none">
                <a:solidFill>
                  <a:srgbClr val="FF0000"/>
                </a:solidFill>
                <a:latin typeface="Times New Roman"/>
                <a:ea typeface="Times New Roman"/>
                <a:cs typeface="Times New Roman"/>
                <a:sym typeface="Times New Roman"/>
              </a:rPr>
              <a:t>20 to 25 papers to be reviewed from last 3-4 years only</a:t>
            </a:r>
            <a:endParaRPr/>
          </a:p>
          <a:p>
            <a:pPr indent="-317500" lvl="1" marL="914400" rtl="0" algn="just">
              <a:lnSpc>
                <a:spcPct val="115000"/>
              </a:lnSpc>
              <a:spcBef>
                <a:spcPts val="0"/>
              </a:spcBef>
              <a:spcAft>
                <a:spcPts val="0"/>
              </a:spcAft>
              <a:buClr>
                <a:srgbClr val="595959"/>
              </a:buClr>
              <a:buSzPts val="100"/>
              <a:buFont typeface="Arial"/>
              <a:buChar char="○"/>
            </a:pPr>
            <a:r>
              <a:rPr b="0" i="0" lang="en-US" sz="2400" u="none">
                <a:solidFill>
                  <a:srgbClr val="FF0000"/>
                </a:solidFill>
                <a:latin typeface="Times New Roman"/>
                <a:ea typeface="Times New Roman"/>
                <a:cs typeface="Times New Roman"/>
                <a:sym typeface="Times New Roman"/>
              </a:rPr>
              <a:t>Pls identify paper that have potential and help in proper understanding. Top tier papers have more weightage and have to be considered for reviews. </a:t>
            </a:r>
            <a:endParaRPr/>
          </a:p>
          <a:p>
            <a:pPr indent="-342900" lvl="0" marL="342900" rtl="0" algn="l">
              <a:spcBef>
                <a:spcPts val="0"/>
              </a:spcBef>
              <a:spcAft>
                <a:spcPts val="0"/>
              </a:spcAft>
              <a:buNone/>
            </a:pPr>
            <a:r>
              <a:t/>
            </a:r>
            <a:endParaRPr b="0" i="0" sz="2400" u="none">
              <a:solidFill>
                <a:srgbClr val="FF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9"/>
          <p:cNvSpPr txBox="1"/>
          <p:nvPr>
            <p:ph type="ctrTitle"/>
          </p:nvPr>
        </p:nvSpPr>
        <p:spPr>
          <a:xfrm>
            <a:off x="0" y="-99800"/>
            <a:ext cx="9144000" cy="649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i="0" lang="en-US" sz="2900" u="none">
                <a:solidFill>
                  <a:srgbClr val="000000"/>
                </a:solidFill>
                <a:latin typeface="Times New Roman"/>
                <a:ea typeface="Times New Roman"/>
                <a:cs typeface="Times New Roman"/>
                <a:sym typeface="Times New Roman"/>
              </a:rPr>
              <a:t>Literature Review</a:t>
            </a:r>
            <a:endParaRPr/>
          </a:p>
        </p:txBody>
      </p:sp>
      <p:sp>
        <p:nvSpPr>
          <p:cNvPr id="60" name="Google Shape;60;p9"/>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graphicFrame>
        <p:nvGraphicFramePr>
          <p:cNvPr id="61" name="Google Shape;61;p9"/>
          <p:cNvGraphicFramePr/>
          <p:nvPr/>
        </p:nvGraphicFramePr>
        <p:xfrm>
          <a:off x="191312" y="480137"/>
          <a:ext cx="3000000" cy="3000000"/>
        </p:xfrm>
        <a:graphic>
          <a:graphicData uri="http://schemas.openxmlformats.org/drawingml/2006/table">
            <a:tbl>
              <a:tblPr>
                <a:noFill/>
                <a:tableStyleId>{1CC0677B-EA7A-4646-BFE5-4817BB6F58A9}</a:tableStyleId>
              </a:tblPr>
              <a:tblGrid>
                <a:gridCol w="750875"/>
                <a:gridCol w="1057275"/>
                <a:gridCol w="1065200"/>
                <a:gridCol w="1006850"/>
                <a:gridCol w="909250"/>
                <a:gridCol w="957250"/>
                <a:gridCol w="957250"/>
                <a:gridCol w="958850"/>
                <a:gridCol w="957250"/>
              </a:tblGrid>
              <a:tr h="7355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00"/>
                          </a:solidFill>
                          <a:latin typeface="Times New Roman"/>
                          <a:ea typeface="Times New Roman"/>
                          <a:cs typeface="Times New Roman"/>
                          <a:sym typeface="Times New Roman"/>
                        </a:rPr>
                        <a:t>Source</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000"/>
                        <a:buFont typeface="Arial"/>
                        <a:buNone/>
                      </a:pPr>
                      <a:r>
                        <a:rPr b="1" i="0" lang="en-US" sz="1000" u="none" cap="none" strike="noStrike">
                          <a:solidFill>
                            <a:srgbClr val="FFFF00"/>
                          </a:solidFill>
                          <a:latin typeface="Times New Roman"/>
                          <a:ea typeface="Times New Roman"/>
                          <a:cs typeface="Times New Roman"/>
                          <a:sym typeface="Times New Roman"/>
                        </a:rPr>
                        <a:t>Research Objective or Research Question</a:t>
                      </a:r>
                      <a:endParaRPr/>
                    </a:p>
                  </a:txBody>
                  <a:tcPr marT="9525" marB="9525"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000"/>
                        <a:buFont typeface="Arial"/>
                        <a:buNone/>
                      </a:pPr>
                      <a:r>
                        <a:rPr b="1" i="0" lang="en-US" sz="1000" u="none" cap="none" strike="noStrike">
                          <a:solidFill>
                            <a:srgbClr val="FFFF00"/>
                          </a:solidFill>
                          <a:latin typeface="Times New Roman"/>
                          <a:ea typeface="Times New Roman"/>
                          <a:cs typeface="Times New Roman"/>
                          <a:sym typeface="Times New Roman"/>
                        </a:rPr>
                        <a:t>Methodology</a:t>
                      </a:r>
                      <a:endParaRPr/>
                    </a:p>
                  </a:txBody>
                  <a:tcPr marT="9525" marB="9525"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000"/>
                        <a:buFont typeface="Arial"/>
                        <a:buNone/>
                      </a:pPr>
                      <a:r>
                        <a:rPr b="1" i="0" lang="en-US" sz="1000" u="none" cap="none" strike="noStrike">
                          <a:solidFill>
                            <a:srgbClr val="FFFF00"/>
                          </a:solidFill>
                          <a:latin typeface="Times New Roman"/>
                          <a:ea typeface="Times New Roman"/>
                          <a:cs typeface="Times New Roman"/>
                          <a:sym typeface="Times New Roman"/>
                        </a:rPr>
                        <a:t>Key Findings</a:t>
                      </a:r>
                      <a:endParaRPr/>
                    </a:p>
                  </a:txBody>
                  <a:tcPr marT="9525" marB="9525"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000"/>
                        <a:buFont typeface="Arial"/>
                        <a:buNone/>
                      </a:pPr>
                      <a:r>
                        <a:rPr b="1" i="0" lang="en-US" sz="1000" u="none" cap="none" strike="noStrike">
                          <a:solidFill>
                            <a:srgbClr val="FFFF00"/>
                          </a:solidFill>
                          <a:latin typeface="Times New Roman"/>
                          <a:ea typeface="Times New Roman"/>
                          <a:cs typeface="Times New Roman"/>
                          <a:sym typeface="Times New Roman"/>
                        </a:rPr>
                        <a:t>Relevance to Project</a:t>
                      </a:r>
                      <a:endParaRPr/>
                    </a:p>
                  </a:txBody>
                  <a:tcPr marT="9525" marB="9525"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000"/>
                        <a:buFont typeface="Arial"/>
                        <a:buNone/>
                      </a:pPr>
                      <a:r>
                        <a:rPr b="1" i="0" lang="en-US" sz="1000" u="none" cap="none" strike="noStrike">
                          <a:solidFill>
                            <a:srgbClr val="FFFF00"/>
                          </a:solidFill>
                          <a:latin typeface="Times New Roman"/>
                          <a:ea typeface="Times New Roman"/>
                          <a:cs typeface="Times New Roman"/>
                          <a:sym typeface="Times New Roman"/>
                        </a:rPr>
                        <a:t>Techniques</a:t>
                      </a:r>
                      <a:endParaRPr/>
                    </a:p>
                  </a:txBody>
                  <a:tcPr marT="9525" marB="9525"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000"/>
                        <a:buFont typeface="Arial"/>
                        <a:buNone/>
                      </a:pPr>
                      <a:r>
                        <a:rPr b="1" i="0" lang="en-US" sz="1000" u="none" cap="none" strike="noStrike">
                          <a:solidFill>
                            <a:srgbClr val="FFFF00"/>
                          </a:solidFill>
                          <a:latin typeface="Times New Roman"/>
                          <a:ea typeface="Times New Roman"/>
                          <a:cs typeface="Times New Roman"/>
                          <a:sym typeface="Times New Roman"/>
                        </a:rPr>
                        <a:t>Accuracy &amp; Performance Measures</a:t>
                      </a:r>
                      <a:endParaRPr/>
                    </a:p>
                  </a:txBody>
                  <a:tcPr marT="9525" marB="9525"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000"/>
                        <a:buFont typeface="Arial"/>
                        <a:buNone/>
                      </a:pPr>
                      <a:r>
                        <a:rPr b="1" i="0" lang="en-US" sz="1000" u="none" cap="none" strike="noStrike">
                          <a:solidFill>
                            <a:srgbClr val="FFFF00"/>
                          </a:solidFill>
                          <a:latin typeface="Times New Roman"/>
                          <a:ea typeface="Times New Roman"/>
                          <a:cs typeface="Times New Roman"/>
                          <a:sym typeface="Times New Roman"/>
                        </a:rPr>
                        <a:t>Advantages</a:t>
                      </a:r>
                      <a:endParaRPr/>
                    </a:p>
                  </a:txBody>
                  <a:tcPr marT="9525" marB="9525"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000"/>
                        <a:buFont typeface="Arial"/>
                        <a:buNone/>
                      </a:pPr>
                      <a:r>
                        <a:rPr b="1" i="0" lang="en-US" sz="1000" u="none" cap="none" strike="noStrike">
                          <a:solidFill>
                            <a:srgbClr val="FFFF00"/>
                          </a:solidFill>
                          <a:latin typeface="Times New Roman"/>
                          <a:ea typeface="Times New Roman"/>
                          <a:cs typeface="Times New Roman"/>
                          <a:sym typeface="Times New Roman"/>
                        </a:rPr>
                        <a:t>Disadvantages</a:t>
                      </a:r>
                      <a:endParaRPr/>
                    </a:p>
                  </a:txBody>
                  <a:tcPr marT="9525" marB="9525"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817125">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MDPI Sustainability</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Explores ANN applications for predicting building energy consumption.</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A review of studies using ANNs for energy consumption prediction.</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ANNs, especially MLP and RNN, are effective for energy prediction.</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Insights on accuracy and challenges apply to LLM-based forecasting.</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Discusses ANN techniques that can be adapted for LLM-based predictions.</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MAE, RMSE, and R-squared can also evaluate LLMs for energy prediction.</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ANNs' adaptability is similar to LLMs in handling complex data.</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Both face challenges like overfitting and high data dependency.</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r>
              <a:tr h="1429975">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Cornell University</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D"/>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Evaluates the performance of conventional, machine learning, and deep learning models for energy forecasting.</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D"/>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Analytical and empirical assessment using real-world datasets for energy consumption and natural gas.</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D"/>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Machine learning and deep learning methods outperform conventional models in energy forecasting.</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D"/>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Relevant for comparing machine learning methods like LLMs with conventional models in time-series energy forecasting.</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D"/>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Examines techniques like ARIMA, SVM, and deep learning for time series forecasting.</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D"/>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Performance measured using MAE, RMSE, and other standard metrics.</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D"/>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Machine learning models provide better accuracy and scalability for energy forecasting.</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D"/>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Conventional models can be less accurate, and machine learning models require large datasets and high computational power.</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D"/>
                    </a:solidFill>
                  </a:tcPr>
                </a:tc>
              </a:tr>
              <a:tr h="1184825">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ResearchGate</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Aims to predict energy consumption using deep learning algorithms, analyzing factors affecting high consumption.</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Utilizes deep learning algorithms to predict energy usage in a university setting.</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Deep learning models effectively predict energy consumption, considering factors like occupancy and weather.</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Insights into deep learning for energy prediction can guide the application of LLMs for global energy forecasting.</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Focuses on deep learning techniques for energy consumption prediction.</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Evaluates accuracy using MAE, RMSE, and other relevant metrics.</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Deep learning models offer high accuracy and adaptability to complex data.</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US" sz="900" u="none" cap="none" strike="noStrike">
                          <a:solidFill>
                            <a:srgbClr val="000000"/>
                          </a:solidFill>
                          <a:latin typeface="Times New Roman"/>
                          <a:ea typeface="Times New Roman"/>
                          <a:cs typeface="Times New Roman"/>
                          <a:sym typeface="Times New Roman"/>
                        </a:rPr>
                        <a:t>Requires large datasets and significant computational resources for training.</a:t>
                      </a:r>
                      <a:endParaRPr sz="9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0"/>
          <p:cNvSpPr txBox="1"/>
          <p:nvPr>
            <p:ph type="ctrTitle"/>
          </p:nvPr>
        </p:nvSpPr>
        <p:spPr>
          <a:xfrm>
            <a:off x="0" y="0"/>
            <a:ext cx="9144000" cy="649287"/>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i="0" lang="en-US" sz="2900" u="none">
                <a:solidFill>
                  <a:srgbClr val="000000"/>
                </a:solidFill>
                <a:latin typeface="Times New Roman"/>
                <a:ea typeface="Times New Roman"/>
                <a:cs typeface="Times New Roman"/>
                <a:sym typeface="Times New Roman"/>
              </a:rPr>
              <a:t>Research Gaps</a:t>
            </a:r>
            <a:endParaRPr/>
          </a:p>
        </p:txBody>
      </p:sp>
      <p:sp>
        <p:nvSpPr>
          <p:cNvPr id="67" name="Google Shape;67;p10"/>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
        <p:nvSpPr>
          <p:cNvPr id="68" name="Google Shape;68;p10"/>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rgbClr val="595959"/>
              </a:buClr>
              <a:buSzPts val="200"/>
              <a:buFont typeface="Arial"/>
              <a:buNone/>
            </a:pPr>
            <a:r>
              <a:t/>
            </a:r>
            <a:endParaRPr b="0" i="0" sz="2400" u="none">
              <a:solidFill>
                <a:srgbClr val="595959"/>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rgbClr val="595959"/>
              </a:buClr>
              <a:buSzPts val="100"/>
              <a:buFont typeface="Arial"/>
              <a:buChar char="○"/>
            </a:pPr>
            <a:r>
              <a:rPr b="0" i="0" lang="en-US" sz="2400" u="none">
                <a:solidFill>
                  <a:srgbClr val="FF0000"/>
                </a:solidFill>
                <a:latin typeface="Times New Roman"/>
                <a:ea typeface="Times New Roman"/>
                <a:cs typeface="Times New Roman"/>
                <a:sym typeface="Times New Roman"/>
              </a:rPr>
              <a:t>There are not exactly the disadvantages from the previous slides, but rather have to be carefully be identified.</a:t>
            </a:r>
            <a:endParaRPr/>
          </a:p>
          <a:p>
            <a:pPr indent="-317500" lvl="1" marL="914400" rtl="0" algn="l">
              <a:lnSpc>
                <a:spcPct val="115000"/>
              </a:lnSpc>
              <a:spcBef>
                <a:spcPts val="0"/>
              </a:spcBef>
              <a:spcAft>
                <a:spcPts val="0"/>
              </a:spcAft>
              <a:buClr>
                <a:srgbClr val="595959"/>
              </a:buClr>
              <a:buSzPts val="100"/>
              <a:buFont typeface="Arial"/>
              <a:buChar char="○"/>
            </a:pPr>
            <a:r>
              <a:rPr b="0" i="0" lang="en-US" sz="2400" u="none">
                <a:solidFill>
                  <a:srgbClr val="FF0000"/>
                </a:solidFill>
                <a:latin typeface="Times New Roman"/>
                <a:ea typeface="Times New Roman"/>
                <a:cs typeface="Times New Roman"/>
                <a:sym typeface="Times New Roman"/>
              </a:rPr>
              <a:t>Pls mention it as points.</a:t>
            </a:r>
            <a:endParaRPr b="0" i="0" sz="2400" u="none">
              <a:solidFill>
                <a:srgbClr val="595959"/>
              </a:solidFill>
              <a:latin typeface="Times New Roman"/>
              <a:ea typeface="Times New Roman"/>
              <a:cs typeface="Times New Roman"/>
              <a:sym typeface="Times New Roman"/>
            </a:endParaRPr>
          </a:p>
          <a:p>
            <a:pPr indent="-342900" lvl="0" marL="342900" rtl="0" algn="l">
              <a:spcBef>
                <a:spcPts val="0"/>
              </a:spcBef>
              <a:spcAft>
                <a:spcPts val="0"/>
              </a:spcAft>
              <a:buNone/>
            </a:pPr>
            <a:r>
              <a:t/>
            </a:r>
            <a:endParaRPr b="0" i="0" sz="2400" u="none">
              <a:solidFill>
                <a:srgbClr val="595959"/>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1"/>
          <p:cNvSpPr txBox="1"/>
          <p:nvPr>
            <p:ph type="ctrTitle"/>
          </p:nvPr>
        </p:nvSpPr>
        <p:spPr>
          <a:xfrm>
            <a:off x="0" y="0"/>
            <a:ext cx="9144000" cy="649287"/>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i="0" lang="en-US" sz="2900" u="none">
                <a:solidFill>
                  <a:srgbClr val="000000"/>
                </a:solidFill>
                <a:latin typeface="Times New Roman"/>
                <a:ea typeface="Times New Roman"/>
                <a:cs typeface="Times New Roman"/>
                <a:sym typeface="Times New Roman"/>
              </a:rPr>
              <a:t>Problem Statement</a:t>
            </a:r>
            <a:endParaRPr/>
          </a:p>
        </p:txBody>
      </p:sp>
      <p:sp>
        <p:nvSpPr>
          <p:cNvPr id="74" name="Google Shape;74;p11"/>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
        <p:nvSpPr>
          <p:cNvPr id="75" name="Google Shape;75;p11"/>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rgbClr val="595959"/>
              </a:buClr>
              <a:buSzPts val="200"/>
              <a:buFont typeface="Arial"/>
              <a:buNone/>
            </a:pPr>
            <a:r>
              <a:t/>
            </a:r>
            <a:endParaRPr b="0" i="0" sz="2400" u="none">
              <a:solidFill>
                <a:srgbClr val="595959"/>
              </a:solidFill>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rgbClr val="595959"/>
              </a:buClr>
              <a:buSzPts val="100"/>
              <a:buFont typeface="Arial"/>
              <a:buChar char="○"/>
            </a:pPr>
            <a:r>
              <a:rPr b="0" i="0" lang="en-US" sz="2400" u="none">
                <a:solidFill>
                  <a:srgbClr val="FF0000"/>
                </a:solidFill>
                <a:latin typeface="Times New Roman"/>
                <a:ea typeface="Times New Roman"/>
                <a:cs typeface="Times New Roman"/>
                <a:sym typeface="Times New Roman"/>
              </a:rPr>
              <a:t>This is one complete paragraph. </a:t>
            </a:r>
            <a:endParaRPr/>
          </a:p>
          <a:p>
            <a:pPr indent="-342900" lvl="0" marL="342900" rtl="0" algn="l">
              <a:spcBef>
                <a:spcPts val="0"/>
              </a:spcBef>
              <a:spcAft>
                <a:spcPts val="0"/>
              </a:spcAft>
              <a:buNone/>
            </a:pPr>
            <a:r>
              <a:t/>
            </a:r>
            <a:endParaRPr b="0" i="0" sz="2400" u="none">
              <a:solidFill>
                <a:srgbClr val="FF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2"/>
          <p:cNvSpPr txBox="1"/>
          <p:nvPr>
            <p:ph type="ctrTitle"/>
          </p:nvPr>
        </p:nvSpPr>
        <p:spPr>
          <a:xfrm>
            <a:off x="0" y="0"/>
            <a:ext cx="9144000" cy="649287"/>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i="0" lang="en-US" sz="2900" u="none">
                <a:solidFill>
                  <a:srgbClr val="000000"/>
                </a:solidFill>
                <a:latin typeface="Times New Roman"/>
                <a:ea typeface="Times New Roman"/>
                <a:cs typeface="Times New Roman"/>
                <a:sym typeface="Times New Roman"/>
              </a:rPr>
              <a:t>Objectives</a:t>
            </a:r>
            <a:endParaRPr/>
          </a:p>
        </p:txBody>
      </p:sp>
      <p:sp>
        <p:nvSpPr>
          <p:cNvPr id="81" name="Google Shape;81;p12"/>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
        <p:nvSpPr>
          <p:cNvPr id="82" name="Google Shape;82;p12"/>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rgbClr val="595959"/>
              </a:buClr>
              <a:buSzPts val="200"/>
              <a:buFont typeface="Arial"/>
              <a:buNone/>
            </a:pPr>
            <a:r>
              <a:t/>
            </a:r>
            <a:endParaRPr b="0" i="0" sz="2400" u="none">
              <a:solidFill>
                <a:srgbClr val="595959"/>
              </a:solidFill>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rgbClr val="595959"/>
              </a:buClr>
              <a:buSzPts val="100"/>
              <a:buFont typeface="Arial"/>
              <a:buChar char="○"/>
            </a:pPr>
            <a:r>
              <a:rPr b="0" i="0" lang="en-US" sz="2400" u="none">
                <a:solidFill>
                  <a:srgbClr val="FF0000"/>
                </a:solidFill>
                <a:latin typeface="Times New Roman"/>
                <a:ea typeface="Times New Roman"/>
                <a:cs typeface="Times New Roman"/>
                <a:sym typeface="Times New Roman"/>
              </a:rPr>
              <a:t>What and How you are to be reflected in the objectives of the project.</a:t>
            </a:r>
            <a:endParaRPr/>
          </a:p>
          <a:p>
            <a:pPr indent="-317500" lvl="1" marL="914400" rtl="0" algn="just">
              <a:lnSpc>
                <a:spcPct val="115000"/>
              </a:lnSpc>
              <a:spcBef>
                <a:spcPts val="0"/>
              </a:spcBef>
              <a:spcAft>
                <a:spcPts val="0"/>
              </a:spcAft>
              <a:buClr>
                <a:srgbClr val="595959"/>
              </a:buClr>
              <a:buSzPts val="100"/>
              <a:buFont typeface="Arial"/>
              <a:buChar char="○"/>
            </a:pPr>
            <a:r>
              <a:rPr b="0" i="0" lang="en-US" sz="2400" u="none">
                <a:solidFill>
                  <a:srgbClr val="FF0000"/>
                </a:solidFill>
                <a:latin typeface="Times New Roman"/>
                <a:ea typeface="Times New Roman"/>
                <a:cs typeface="Times New Roman"/>
                <a:sym typeface="Times New Roman"/>
              </a:rPr>
              <a:t>List the specific objectives of the project.</a:t>
            </a:r>
            <a:endParaRPr/>
          </a:p>
          <a:p>
            <a:pPr indent="-317500" lvl="1" marL="914400" rtl="0" algn="just">
              <a:lnSpc>
                <a:spcPct val="115000"/>
              </a:lnSpc>
              <a:spcBef>
                <a:spcPts val="0"/>
              </a:spcBef>
              <a:spcAft>
                <a:spcPts val="0"/>
              </a:spcAft>
              <a:buClr>
                <a:srgbClr val="595959"/>
              </a:buClr>
              <a:buSzPts val="100"/>
              <a:buFont typeface="Arial"/>
              <a:buChar char="○"/>
            </a:pPr>
            <a:r>
              <a:rPr b="0" i="0" lang="en-US" sz="2400" u="none">
                <a:solidFill>
                  <a:srgbClr val="FF0000"/>
                </a:solidFill>
                <a:latin typeface="Times New Roman"/>
                <a:ea typeface="Times New Roman"/>
                <a:cs typeface="Times New Roman"/>
                <a:sym typeface="Times New Roman"/>
              </a:rPr>
              <a:t>Highlight the research questions or goals of the project.</a:t>
            </a:r>
            <a:endParaRPr/>
          </a:p>
          <a:p>
            <a:pPr indent="-342900" lvl="0" marL="342900" rtl="0" algn="l">
              <a:spcBef>
                <a:spcPts val="0"/>
              </a:spcBef>
              <a:spcAft>
                <a:spcPts val="0"/>
              </a:spcAft>
              <a:buNone/>
            </a:pPr>
            <a:r>
              <a:t/>
            </a:r>
            <a:endParaRPr b="0" i="0" sz="2400" u="none">
              <a:solidFill>
                <a:srgbClr val="FF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0" y="0"/>
            <a:ext cx="9144000" cy="649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i="0" lang="en-US" sz="2900" u="none">
                <a:solidFill>
                  <a:srgbClr val="000000"/>
                </a:solidFill>
                <a:latin typeface="Times New Roman"/>
                <a:ea typeface="Times New Roman"/>
                <a:cs typeface="Times New Roman"/>
                <a:sym typeface="Times New Roman"/>
              </a:rPr>
              <a:t>Objectives</a:t>
            </a:r>
            <a:endParaRPr/>
          </a:p>
        </p:txBody>
      </p:sp>
      <p:sp>
        <p:nvSpPr>
          <p:cNvPr id="88" name="Google Shape;88;p13"/>
          <p:cNvSpPr txBox="1"/>
          <p:nvPr/>
        </p:nvSpPr>
        <p:spPr>
          <a:xfrm>
            <a:off x="8472487" y="4662487"/>
            <a:ext cx="5493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
        <p:nvSpPr>
          <p:cNvPr id="89" name="Google Shape;89;p13"/>
          <p:cNvSpPr txBox="1"/>
          <p:nvPr>
            <p:ph idx="1" type="body"/>
          </p:nvPr>
        </p:nvSpPr>
        <p:spPr>
          <a:xfrm>
            <a:off x="190500" y="749275"/>
            <a:ext cx="8763000" cy="3913200"/>
          </a:xfrm>
          <a:prstGeom prst="rect">
            <a:avLst/>
          </a:prstGeom>
          <a:noFill/>
          <a:ln>
            <a:noFill/>
          </a:ln>
        </p:spPr>
        <p:txBody>
          <a:bodyPr anchorCtr="0" anchor="t" bIns="91425" lIns="91425" spcFirstLastPara="1" rIns="91425" wrap="square" tIns="91425">
            <a:normAutofit/>
          </a:bodyPr>
          <a:lstStyle/>
          <a:p>
            <a:pPr indent="-342900" lvl="0" marL="342900" rtl="0" algn="l">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4"/>
          <p:cNvPicPr preferRelativeResize="0"/>
          <p:nvPr/>
        </p:nvPicPr>
        <p:blipFill>
          <a:blip r:embed="rId3">
            <a:alphaModFix/>
          </a:blip>
          <a:stretch>
            <a:fillRect/>
          </a:stretch>
        </p:blipFill>
        <p:spPr>
          <a:xfrm>
            <a:off x="-24800" y="-35050"/>
            <a:ext cx="9193575" cy="5205749"/>
          </a:xfrm>
          <a:prstGeom prst="rect">
            <a:avLst/>
          </a:prstGeom>
          <a:noFill/>
          <a:ln>
            <a:noFill/>
          </a:ln>
        </p:spPr>
      </p:pic>
      <p:sp>
        <p:nvSpPr>
          <p:cNvPr id="95" name="Google Shape;95;p14"/>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5"/>
          <p:cNvPicPr preferRelativeResize="0"/>
          <p:nvPr/>
        </p:nvPicPr>
        <p:blipFill>
          <a:blip r:embed="rId3">
            <a:alphaModFix/>
          </a:blip>
          <a:stretch>
            <a:fillRect/>
          </a:stretch>
        </p:blipFill>
        <p:spPr>
          <a:xfrm>
            <a:off x="-53025" y="-84450"/>
            <a:ext cx="9197100" cy="5228100"/>
          </a:xfrm>
          <a:prstGeom prst="rect">
            <a:avLst/>
          </a:prstGeom>
          <a:noFill/>
          <a:ln>
            <a:noFill/>
          </a:ln>
        </p:spPr>
      </p:pic>
      <p:sp>
        <p:nvSpPr>
          <p:cNvPr id="101" name="Google Shape;101;p15"/>
          <p:cNvSpPr txBox="1"/>
          <p:nvPr/>
        </p:nvSpPr>
        <p:spPr>
          <a:xfrm>
            <a:off x="8472487" y="4662487"/>
            <a:ext cx="5493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nvSpPr>
        <p:spPr>
          <a:xfrm>
            <a:off x="8472487" y="4662487"/>
            <a:ext cx="5493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pic>
        <p:nvPicPr>
          <p:cNvPr id="107" name="Google Shape;107;p16"/>
          <p:cNvPicPr preferRelativeResize="0"/>
          <p:nvPr/>
        </p:nvPicPr>
        <p:blipFill>
          <a:blip r:embed="rId3">
            <a:alphaModFix/>
          </a:blip>
          <a:stretch>
            <a:fillRect/>
          </a:stretch>
        </p:blipFill>
        <p:spPr>
          <a:xfrm>
            <a:off x="-1230" y="-1"/>
            <a:ext cx="9145228"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ctrTitle"/>
          </p:nvPr>
        </p:nvSpPr>
        <p:spPr>
          <a:xfrm>
            <a:off x="0" y="-68200"/>
            <a:ext cx="9144000" cy="649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i="0" lang="en-US" sz="2900" u="none">
                <a:solidFill>
                  <a:srgbClr val="000000"/>
                </a:solidFill>
                <a:latin typeface="Times New Roman"/>
                <a:ea typeface="Times New Roman"/>
                <a:cs typeface="Times New Roman"/>
                <a:sym typeface="Times New Roman"/>
              </a:rPr>
              <a:t>Software and Hardware Requirements</a:t>
            </a:r>
            <a:endParaRPr/>
          </a:p>
        </p:txBody>
      </p:sp>
      <p:sp>
        <p:nvSpPr>
          <p:cNvPr id="113" name="Google Shape;113;p17"/>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graphicFrame>
        <p:nvGraphicFramePr>
          <p:cNvPr id="114" name="Google Shape;114;p17"/>
          <p:cNvGraphicFramePr/>
          <p:nvPr/>
        </p:nvGraphicFramePr>
        <p:xfrm>
          <a:off x="358325" y="581012"/>
          <a:ext cx="3000000" cy="3000000"/>
        </p:xfrm>
        <a:graphic>
          <a:graphicData uri="http://schemas.openxmlformats.org/drawingml/2006/table">
            <a:tbl>
              <a:tblPr>
                <a:noFill/>
                <a:tableStyleId>{1CC0677B-EA7A-4646-BFE5-4817BB6F58A9}</a:tableStyleId>
              </a:tblPr>
              <a:tblGrid>
                <a:gridCol w="4298075"/>
                <a:gridCol w="4129275"/>
              </a:tblGrid>
              <a:tr h="364775">
                <a:tc>
                  <a:txBody>
                    <a:bodyPr/>
                    <a:lstStyle/>
                    <a:p>
                      <a:pPr indent="0" lvl="0" marL="0" marR="0" rtl="0" algn="ctr">
                        <a:lnSpc>
                          <a:spcPct val="100000"/>
                        </a:lnSpc>
                        <a:spcBef>
                          <a:spcPts val="0"/>
                        </a:spcBef>
                        <a:spcAft>
                          <a:spcPts val="0"/>
                        </a:spcAft>
                        <a:buClr>
                          <a:srgbClr val="000000"/>
                        </a:buClr>
                        <a:buSzPts val="1400"/>
                        <a:buFont typeface="Arial"/>
                        <a:buNone/>
                      </a:pPr>
                      <a:r>
                        <a:rPr b="1" i="0" lang="en-US" sz="1900" u="none" cap="none" strike="noStrike">
                          <a:solidFill>
                            <a:schemeClr val="lt1"/>
                          </a:solidFill>
                          <a:latin typeface="Times New Roman"/>
                          <a:ea typeface="Times New Roman"/>
                          <a:cs typeface="Times New Roman"/>
                          <a:sym typeface="Times New Roman"/>
                        </a:rPr>
                        <a:t>SOFTWARE</a:t>
                      </a:r>
                      <a:endParaRPr sz="1900">
                        <a:solidFill>
                          <a:schemeClr val="lt1"/>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i="0" lang="en-US" sz="1900" u="none" cap="none" strike="noStrike">
                          <a:solidFill>
                            <a:schemeClr val="lt1"/>
                          </a:solidFill>
                          <a:latin typeface="Times New Roman"/>
                          <a:ea typeface="Times New Roman"/>
                          <a:cs typeface="Times New Roman"/>
                          <a:sym typeface="Times New Roman"/>
                        </a:rPr>
                        <a:t>HARDWARE</a:t>
                      </a:r>
                      <a:endParaRPr sz="1900">
                        <a:solidFill>
                          <a:schemeClr val="lt1"/>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968600">
                <a:tc>
                  <a:txBody>
                    <a:bodyPr/>
                    <a:lstStyle/>
                    <a:p>
                      <a:pPr indent="0" lvl="0" marL="0" rtl="0" algn="l">
                        <a:spcBef>
                          <a:spcPts val="0"/>
                        </a:spcBef>
                        <a:spcAft>
                          <a:spcPts val="0"/>
                        </a:spcAft>
                        <a:buClr>
                          <a:schemeClr val="dk1"/>
                        </a:buClr>
                        <a:buSzPts val="1100"/>
                        <a:buFont typeface="Arial"/>
                        <a:buNone/>
                      </a:pPr>
                      <a:r>
                        <a:rPr b="1" lang="en-US" sz="1900">
                          <a:solidFill>
                            <a:schemeClr val="dk1"/>
                          </a:solidFill>
                          <a:latin typeface="Times New Roman"/>
                          <a:ea typeface="Times New Roman"/>
                          <a:cs typeface="Times New Roman"/>
                          <a:sym typeface="Times New Roman"/>
                        </a:rPr>
                        <a:t>Operating System</a:t>
                      </a:r>
                      <a:r>
                        <a:rPr lang="en-US" sz="1900">
                          <a:solidFill>
                            <a:schemeClr val="dk1"/>
                          </a:solidFill>
                          <a:latin typeface="Times New Roman"/>
                          <a:ea typeface="Times New Roman"/>
                          <a:cs typeface="Times New Roman"/>
                          <a:sym typeface="Times New Roman"/>
                        </a:rPr>
                        <a:t>: Windows 10/11, macOS, or Linux (Ubuntu preferred)</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1900">
                          <a:solidFill>
                            <a:schemeClr val="dk1"/>
                          </a:solidFill>
                          <a:latin typeface="Times New Roman"/>
                          <a:ea typeface="Times New Roman"/>
                          <a:cs typeface="Times New Roman"/>
                          <a:sym typeface="Times New Roman"/>
                        </a:rPr>
                        <a:t>Programming Languages</a:t>
                      </a:r>
                      <a:r>
                        <a:rPr lang="en-US" sz="1900">
                          <a:solidFill>
                            <a:schemeClr val="dk1"/>
                          </a:solidFill>
                          <a:latin typeface="Times New Roman"/>
                          <a:ea typeface="Times New Roman"/>
                          <a:cs typeface="Times New Roman"/>
                          <a:sym typeface="Times New Roman"/>
                        </a:rPr>
                        <a:t>: Python (preferred), R (optional for statistical modeling)</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b="1" lang="en-US" sz="1900">
                          <a:solidFill>
                            <a:schemeClr val="dk1"/>
                          </a:solidFill>
                          <a:latin typeface="Times New Roman"/>
                          <a:ea typeface="Times New Roman"/>
                          <a:cs typeface="Times New Roman"/>
                          <a:sym typeface="Times New Roman"/>
                        </a:rPr>
                        <a:t>Libraries &amp; Frameworks</a:t>
                      </a:r>
                      <a:r>
                        <a:rPr lang="en-US" sz="1900">
                          <a:solidFill>
                            <a:schemeClr val="dk1"/>
                          </a:solidFill>
                          <a:latin typeface="Times New Roman"/>
                          <a:ea typeface="Times New Roman"/>
                          <a:cs typeface="Times New Roman"/>
                          <a:sym typeface="Times New Roman"/>
                        </a:rPr>
                        <a:t>:</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lang="en-US" sz="1900">
                          <a:solidFill>
                            <a:schemeClr val="dk1"/>
                          </a:solidFill>
                          <a:latin typeface="Times New Roman"/>
                          <a:ea typeface="Times New Roman"/>
                          <a:cs typeface="Times New Roman"/>
                          <a:sym typeface="Times New Roman"/>
                        </a:rPr>
                        <a:t>Time Series Analysis: statsmodels, prophet</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lang="en-US" sz="1900">
                          <a:solidFill>
                            <a:schemeClr val="dk1"/>
                          </a:solidFill>
                          <a:latin typeface="Times New Roman"/>
                          <a:ea typeface="Times New Roman"/>
                          <a:cs typeface="Times New Roman"/>
                          <a:sym typeface="Times New Roman"/>
                        </a:rPr>
                        <a:t>Machine Learning: tensorflow, torch</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lang="en-US" sz="1900">
                          <a:solidFill>
                            <a:schemeClr val="dk1"/>
                          </a:solidFill>
                          <a:latin typeface="Times New Roman"/>
                          <a:ea typeface="Times New Roman"/>
                          <a:cs typeface="Times New Roman"/>
                          <a:sym typeface="Times New Roman"/>
                        </a:rPr>
                        <a:t>Data Processing: pandas, numpy, matplotlib</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lang="en-US" sz="1900">
                          <a:solidFill>
                            <a:schemeClr val="dk1"/>
                          </a:solidFill>
                          <a:latin typeface="Times New Roman"/>
                          <a:ea typeface="Times New Roman"/>
                          <a:cs typeface="Times New Roman"/>
                          <a:sym typeface="Times New Roman"/>
                        </a:rPr>
                        <a:t>LLM Fine-Tuning &amp; Inference: transformers, b</a:t>
                      </a:r>
                      <a:r>
                        <a:rPr lang="en-US" sz="1900">
                          <a:solidFill>
                            <a:schemeClr val="dk1"/>
                          </a:solidFill>
                          <a:latin typeface="Times New Roman"/>
                          <a:ea typeface="Times New Roman"/>
                          <a:cs typeface="Times New Roman"/>
                          <a:sym typeface="Times New Roman"/>
                        </a:rPr>
                        <a:t>itsAndBytes</a:t>
                      </a:r>
                      <a:r>
                        <a:rPr lang="en-US" sz="1900">
                          <a:solidFill>
                            <a:schemeClr val="dk1"/>
                          </a:solidFill>
                          <a:latin typeface="Times New Roman"/>
                          <a:ea typeface="Times New Roman"/>
                          <a:cs typeface="Times New Roman"/>
                          <a:sym typeface="Times New Roman"/>
                        </a:rPr>
                        <a:t>, accelerate</a:t>
                      </a:r>
                      <a:endParaRPr sz="1900">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c>
                  <a:txBody>
                    <a:bodyPr/>
                    <a:lstStyle/>
                    <a:p>
                      <a:pPr indent="0" lvl="0" marL="0" rtl="0" algn="l">
                        <a:spcBef>
                          <a:spcPts val="0"/>
                        </a:spcBef>
                        <a:spcAft>
                          <a:spcPts val="0"/>
                        </a:spcAft>
                        <a:buClr>
                          <a:schemeClr val="dk1"/>
                        </a:buClr>
                        <a:buSzPts val="1100"/>
                        <a:buFont typeface="Arial"/>
                        <a:buNone/>
                      </a:pPr>
                      <a:r>
                        <a:rPr b="1" lang="en-US" sz="1900">
                          <a:solidFill>
                            <a:schemeClr val="dk1"/>
                          </a:solidFill>
                          <a:latin typeface="Times New Roman"/>
                          <a:ea typeface="Times New Roman"/>
                          <a:cs typeface="Times New Roman"/>
                          <a:sym typeface="Times New Roman"/>
                        </a:rPr>
                        <a:t>CPU</a:t>
                      </a:r>
                      <a:r>
                        <a:rPr lang="en-US" sz="1900">
                          <a:solidFill>
                            <a:schemeClr val="dk1"/>
                          </a:solidFill>
                          <a:latin typeface="Times New Roman"/>
                          <a:ea typeface="Times New Roman"/>
                          <a:cs typeface="Times New Roman"/>
                          <a:sym typeface="Times New Roman"/>
                        </a:rPr>
                        <a:t>: Intel Core i7/i9 (12th Gen or later) or AMD Ryzen 7/9 (5000 series or later)</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1900">
                          <a:solidFill>
                            <a:schemeClr val="dk1"/>
                          </a:solidFill>
                          <a:latin typeface="Times New Roman"/>
                          <a:ea typeface="Times New Roman"/>
                          <a:cs typeface="Times New Roman"/>
                          <a:sym typeface="Times New Roman"/>
                        </a:rPr>
                        <a:t>RAM</a:t>
                      </a:r>
                      <a:r>
                        <a:rPr lang="en-US" sz="1900">
                          <a:solidFill>
                            <a:schemeClr val="dk1"/>
                          </a:solidFill>
                          <a:latin typeface="Times New Roman"/>
                          <a:ea typeface="Times New Roman"/>
                          <a:cs typeface="Times New Roman"/>
                          <a:sym typeface="Times New Roman"/>
                        </a:rPr>
                        <a:t>: Minimum 16GB</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b="1" lang="en-US" sz="1900">
                          <a:solidFill>
                            <a:schemeClr val="dk1"/>
                          </a:solidFill>
                          <a:latin typeface="Times New Roman"/>
                          <a:ea typeface="Times New Roman"/>
                          <a:cs typeface="Times New Roman"/>
                          <a:sym typeface="Times New Roman"/>
                        </a:rPr>
                        <a:t>GPU</a:t>
                      </a:r>
                      <a:r>
                        <a:rPr lang="en-US" sz="1900">
                          <a:solidFill>
                            <a:schemeClr val="dk1"/>
                          </a:solidFill>
                          <a:latin typeface="Times New Roman"/>
                          <a:ea typeface="Times New Roman"/>
                          <a:cs typeface="Times New Roman"/>
                          <a:sym typeface="Times New Roman"/>
                        </a:rPr>
                        <a:t>: NVIDIA RTX 3090/4090, T4 GPU (for fine-tuning LLMs)</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1900">
                          <a:solidFill>
                            <a:schemeClr val="dk1"/>
                          </a:solidFill>
                          <a:latin typeface="Times New Roman"/>
                          <a:ea typeface="Times New Roman"/>
                          <a:cs typeface="Times New Roman"/>
                          <a:sym typeface="Times New Roman"/>
                        </a:rPr>
                        <a:t>Cloud GPU Access</a:t>
                      </a:r>
                      <a:r>
                        <a:rPr lang="en-US" sz="1900">
                          <a:solidFill>
                            <a:schemeClr val="dk1"/>
                          </a:solidFill>
                          <a:latin typeface="Times New Roman"/>
                          <a:ea typeface="Times New Roman"/>
                          <a:cs typeface="Times New Roman"/>
                          <a:sym typeface="Times New Roman"/>
                        </a:rPr>
                        <a:t>: Google Colab, Kaggle</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1900">
                          <a:solidFill>
                            <a:schemeClr val="dk1"/>
                          </a:solidFill>
                          <a:latin typeface="Times New Roman"/>
                          <a:ea typeface="Times New Roman"/>
                          <a:cs typeface="Times New Roman"/>
                          <a:sym typeface="Times New Roman"/>
                        </a:rPr>
                        <a:t>Storage</a:t>
                      </a:r>
                      <a:r>
                        <a:rPr lang="en-US" sz="1900">
                          <a:solidFill>
                            <a:schemeClr val="dk1"/>
                          </a:solidFill>
                          <a:latin typeface="Times New Roman"/>
                          <a:ea typeface="Times New Roman"/>
                          <a:cs typeface="Times New Roman"/>
                          <a:sym typeface="Times New Roman"/>
                        </a:rPr>
                        <a:t>: SSD (Minimum 1TB)</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1900">
                          <a:solidFill>
                            <a:schemeClr val="dk1"/>
                          </a:solidFill>
                          <a:latin typeface="Times New Roman"/>
                          <a:ea typeface="Times New Roman"/>
                          <a:cs typeface="Times New Roman"/>
                          <a:sym typeface="Times New Roman"/>
                        </a:rPr>
                        <a:t>Network</a:t>
                      </a:r>
                      <a:r>
                        <a:rPr lang="en-US" sz="1900">
                          <a:solidFill>
                            <a:schemeClr val="dk1"/>
                          </a:solidFill>
                          <a:latin typeface="Times New Roman"/>
                          <a:ea typeface="Times New Roman"/>
                          <a:cs typeface="Times New Roman"/>
                          <a:sym typeface="Times New Roman"/>
                        </a:rPr>
                        <a:t>: High-speed internet (for cloud-based LLM training &amp; data fetching)</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9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FD9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idx="1" type="body"/>
          </p:nvPr>
        </p:nvSpPr>
        <p:spPr>
          <a:xfrm>
            <a:off x="230175" y="559600"/>
            <a:ext cx="8697900" cy="4322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1900"/>
              <a:t>1. Coal Consumption Dataset</a:t>
            </a:r>
            <a:endParaRPr sz="1900"/>
          </a:p>
          <a:p>
            <a:pPr indent="0" lvl="0" marL="0" rtl="0" algn="l">
              <a:lnSpc>
                <a:spcPct val="100000"/>
              </a:lnSpc>
              <a:spcBef>
                <a:spcPts val="0"/>
              </a:spcBef>
              <a:spcAft>
                <a:spcPts val="0"/>
              </a:spcAft>
              <a:buNone/>
            </a:pPr>
            <a:r>
              <a:rPr lang="en-US" sz="1900"/>
              <a:t>   </a:t>
            </a:r>
            <a:r>
              <a:rPr lang="en-US" sz="1900" u="sng">
                <a:solidFill>
                  <a:srgbClr val="00B0F0"/>
                </a:solidFill>
                <a:hlinkClick r:id="rId3">
                  <a:extLst>
                    <a:ext uri="{A12FA001-AC4F-418D-AE19-62706E023703}">
                      <ahyp:hlinkClr val="tx"/>
                    </a:ext>
                  </a:extLst>
                </a:hlinkClick>
              </a:rPr>
              <a:t>https://ourworldindata.org/grapher/coal-consumption-by-country-terawatt-hours-twh</a:t>
            </a:r>
            <a:endParaRPr sz="1900">
              <a:solidFill>
                <a:srgbClr val="00B0F0"/>
              </a:solidFill>
            </a:endParaRPr>
          </a:p>
          <a:p>
            <a:pPr indent="0" lvl="0" marL="0" rtl="0" algn="l">
              <a:lnSpc>
                <a:spcPct val="100000"/>
              </a:lnSpc>
              <a:spcBef>
                <a:spcPts val="0"/>
              </a:spcBef>
              <a:spcAft>
                <a:spcPts val="0"/>
              </a:spcAft>
              <a:buNone/>
            </a:pPr>
            <a:r>
              <a:rPr lang="en-US" sz="1900">
                <a:solidFill>
                  <a:schemeClr val="dk1"/>
                </a:solidFill>
              </a:rPr>
              <a:t>2. Natural Gas Consumption Dataset</a:t>
            </a:r>
            <a:r>
              <a:rPr lang="en-US" sz="1900">
                <a:solidFill>
                  <a:srgbClr val="00B0F0"/>
                </a:solidFill>
              </a:rPr>
              <a:t>	</a:t>
            </a:r>
            <a:endParaRPr sz="1900">
              <a:solidFill>
                <a:srgbClr val="00B0F0"/>
              </a:solidFill>
            </a:endParaRPr>
          </a:p>
          <a:p>
            <a:pPr indent="0" lvl="0" marL="0" rtl="0" algn="l">
              <a:lnSpc>
                <a:spcPct val="100000"/>
              </a:lnSpc>
              <a:spcBef>
                <a:spcPts val="0"/>
              </a:spcBef>
              <a:spcAft>
                <a:spcPts val="0"/>
              </a:spcAft>
              <a:buNone/>
            </a:pPr>
            <a:r>
              <a:rPr lang="en-US" sz="1900">
                <a:solidFill>
                  <a:srgbClr val="00B0F0"/>
                </a:solidFill>
              </a:rPr>
              <a:t>   </a:t>
            </a:r>
            <a:r>
              <a:rPr lang="en-US" sz="1900" u="sng">
                <a:solidFill>
                  <a:srgbClr val="00B0F0"/>
                </a:solidFill>
                <a:hlinkClick r:id="rId4">
                  <a:extLst>
                    <a:ext uri="{A12FA001-AC4F-418D-AE19-62706E023703}">
                      <ahyp:hlinkClr val="tx"/>
                    </a:ext>
                  </a:extLst>
                </a:hlinkClick>
              </a:rPr>
              <a:t>https://ourworldindata.org/grapher/natural-gas-consumption-by-region</a:t>
            </a:r>
            <a:endParaRPr sz="1900">
              <a:solidFill>
                <a:srgbClr val="00B0F0"/>
              </a:solidFill>
            </a:endParaRPr>
          </a:p>
          <a:p>
            <a:pPr indent="0" lvl="0" marL="0" rtl="0" algn="l">
              <a:lnSpc>
                <a:spcPct val="100000"/>
              </a:lnSpc>
              <a:spcBef>
                <a:spcPts val="0"/>
              </a:spcBef>
              <a:spcAft>
                <a:spcPts val="0"/>
              </a:spcAft>
              <a:buNone/>
            </a:pPr>
            <a:r>
              <a:rPr lang="en-US" sz="1900">
                <a:solidFill>
                  <a:schemeClr val="dk1"/>
                </a:solidFill>
              </a:rPr>
              <a:t>3. Oil Consumption Dataset</a:t>
            </a:r>
            <a:endParaRPr sz="1900">
              <a:solidFill>
                <a:schemeClr val="dk1"/>
              </a:solidFill>
            </a:endParaRPr>
          </a:p>
          <a:p>
            <a:pPr indent="0" lvl="0" marL="0" rtl="0" algn="l">
              <a:lnSpc>
                <a:spcPct val="100000"/>
              </a:lnSpc>
              <a:spcBef>
                <a:spcPts val="0"/>
              </a:spcBef>
              <a:spcAft>
                <a:spcPts val="0"/>
              </a:spcAft>
              <a:buNone/>
            </a:pPr>
            <a:r>
              <a:rPr lang="en-US" sz="1900">
                <a:solidFill>
                  <a:srgbClr val="00B0F0"/>
                </a:solidFill>
              </a:rPr>
              <a:t>   </a:t>
            </a:r>
            <a:r>
              <a:rPr lang="en-US" sz="1900" u="sng">
                <a:solidFill>
                  <a:srgbClr val="00B0F0"/>
                </a:solidFill>
                <a:hlinkClick r:id="rId5">
                  <a:extLst>
                    <a:ext uri="{A12FA001-AC4F-418D-AE19-62706E023703}">
                      <ahyp:hlinkClr val="tx"/>
                    </a:ext>
                  </a:extLst>
                </a:hlinkClick>
              </a:rPr>
              <a:t>https://ourworldindata.org/grapher/oil-consumption-by-country</a:t>
            </a:r>
            <a:endParaRPr sz="1900">
              <a:solidFill>
                <a:srgbClr val="00B0F0"/>
              </a:solidFill>
            </a:endParaRPr>
          </a:p>
          <a:p>
            <a:pPr indent="0" lvl="0" marL="0" rtl="0" algn="l">
              <a:lnSpc>
                <a:spcPct val="100000"/>
              </a:lnSpc>
              <a:spcBef>
                <a:spcPts val="0"/>
              </a:spcBef>
              <a:spcAft>
                <a:spcPts val="0"/>
              </a:spcAft>
              <a:buNone/>
            </a:pPr>
            <a:r>
              <a:t/>
            </a:r>
            <a:endParaRPr sz="1900">
              <a:solidFill>
                <a:srgbClr val="00B0F0"/>
              </a:solidFill>
            </a:endParaRPr>
          </a:p>
          <a:p>
            <a:pPr indent="0" lvl="0" marL="0" rtl="0" algn="l">
              <a:lnSpc>
                <a:spcPct val="100000"/>
              </a:lnSpc>
              <a:spcBef>
                <a:spcPts val="0"/>
              </a:spcBef>
              <a:spcAft>
                <a:spcPts val="0"/>
              </a:spcAft>
              <a:buNone/>
            </a:pPr>
            <a:r>
              <a:rPr b="1" lang="en-US" sz="1900">
                <a:solidFill>
                  <a:schemeClr val="dk1"/>
                </a:solidFill>
              </a:rPr>
              <a:t>Size of the Datasets</a:t>
            </a:r>
            <a:r>
              <a:rPr lang="en-US" sz="1900">
                <a:solidFill>
                  <a:schemeClr val="dk1"/>
                </a:solidFill>
              </a:rPr>
              <a:t>: 5522 rows Each including 73 C</a:t>
            </a:r>
            <a:r>
              <a:rPr lang="en-US" sz="1900">
                <a:solidFill>
                  <a:schemeClr val="dk1"/>
                </a:solidFill>
              </a:rPr>
              <a:t>ountries</a:t>
            </a:r>
            <a:r>
              <a:rPr lang="en-US" sz="1900">
                <a:solidFill>
                  <a:schemeClr val="dk1"/>
                </a:solidFill>
              </a:rPr>
              <a:t> and 31 Regions.</a:t>
            </a:r>
            <a:endParaRPr sz="1900">
              <a:solidFill>
                <a:schemeClr val="dk1"/>
              </a:solidFill>
            </a:endParaRPr>
          </a:p>
          <a:p>
            <a:pPr indent="0" lvl="0" marL="0" rtl="0" algn="l">
              <a:lnSpc>
                <a:spcPct val="100000"/>
              </a:lnSpc>
              <a:spcBef>
                <a:spcPts val="0"/>
              </a:spcBef>
              <a:spcAft>
                <a:spcPts val="0"/>
              </a:spcAft>
              <a:buNone/>
            </a:pPr>
            <a:r>
              <a:rPr b="1" lang="en-US" sz="1900">
                <a:solidFill>
                  <a:schemeClr val="dk1"/>
                </a:solidFill>
              </a:rPr>
              <a:t>Attributes</a:t>
            </a:r>
            <a:r>
              <a:rPr lang="en-US" sz="1900">
                <a:solidFill>
                  <a:schemeClr val="dk1"/>
                </a:solidFill>
              </a:rPr>
              <a:t>:</a:t>
            </a:r>
            <a:endParaRPr sz="1900">
              <a:solidFill>
                <a:schemeClr val="dk1"/>
              </a:solidFill>
            </a:endParaRPr>
          </a:p>
          <a:p>
            <a:pPr indent="457200" lvl="0" marL="0" rtl="0" algn="l">
              <a:lnSpc>
                <a:spcPct val="100000"/>
              </a:lnSpc>
              <a:spcBef>
                <a:spcPts val="0"/>
              </a:spcBef>
              <a:spcAft>
                <a:spcPts val="0"/>
              </a:spcAft>
              <a:buNone/>
            </a:pPr>
            <a:r>
              <a:rPr b="1" lang="en-US" sz="1900">
                <a:solidFill>
                  <a:schemeClr val="dk1"/>
                </a:solidFill>
              </a:rPr>
              <a:t>Entity</a:t>
            </a:r>
            <a:r>
              <a:rPr lang="en-US" sz="1900">
                <a:solidFill>
                  <a:schemeClr val="dk1"/>
                </a:solidFill>
              </a:rPr>
              <a:t>: Categorical attribute (Country or Region).</a:t>
            </a:r>
            <a:endParaRPr sz="1900">
              <a:solidFill>
                <a:schemeClr val="dk1"/>
              </a:solidFill>
            </a:endParaRPr>
          </a:p>
          <a:p>
            <a:pPr indent="457200" lvl="0" marL="0" rtl="0" algn="l">
              <a:spcBef>
                <a:spcPts val="0"/>
              </a:spcBef>
              <a:spcAft>
                <a:spcPts val="0"/>
              </a:spcAft>
              <a:buClr>
                <a:schemeClr val="dk1"/>
              </a:buClr>
              <a:buSzPts val="1100"/>
              <a:buFont typeface="Arial"/>
              <a:buNone/>
            </a:pPr>
            <a:r>
              <a:rPr b="1" lang="en-US" sz="1900">
                <a:solidFill>
                  <a:schemeClr val="dk1"/>
                </a:solidFill>
              </a:rPr>
              <a:t>Year</a:t>
            </a:r>
            <a:r>
              <a:rPr lang="en-US" sz="1900">
                <a:solidFill>
                  <a:schemeClr val="dk1"/>
                </a:solidFill>
              </a:rPr>
              <a:t>: Numerical attribute (Integer, representing the year).</a:t>
            </a:r>
            <a:endParaRPr sz="1900">
              <a:solidFill>
                <a:schemeClr val="dk1"/>
              </a:solidFill>
            </a:endParaRPr>
          </a:p>
          <a:p>
            <a:pPr indent="0" lvl="0" marL="457200" rtl="0" algn="l">
              <a:spcBef>
                <a:spcPts val="0"/>
              </a:spcBef>
              <a:spcAft>
                <a:spcPts val="0"/>
              </a:spcAft>
              <a:buNone/>
            </a:pPr>
            <a:r>
              <a:rPr b="1" lang="en-US" sz="1900">
                <a:solidFill>
                  <a:schemeClr val="dk1"/>
                </a:solidFill>
              </a:rPr>
              <a:t>Consumption (TWh)</a:t>
            </a:r>
            <a:r>
              <a:rPr lang="en-US" sz="1900">
                <a:solidFill>
                  <a:schemeClr val="dk1"/>
                </a:solidFill>
              </a:rPr>
              <a:t>: Numerical attribute (Floating point, representing energy consumption in TWh).</a:t>
            </a:r>
            <a:endParaRPr sz="1900">
              <a:solidFill>
                <a:schemeClr val="dk1"/>
              </a:solidFill>
            </a:endParaRPr>
          </a:p>
          <a:p>
            <a:pPr indent="0" lvl="0" marL="0" rtl="0" algn="l">
              <a:spcBef>
                <a:spcPts val="0"/>
              </a:spcBef>
              <a:spcAft>
                <a:spcPts val="0"/>
              </a:spcAft>
              <a:buNone/>
            </a:pPr>
            <a:r>
              <a:rPr b="1" lang="en-US" sz="1900">
                <a:solidFill>
                  <a:schemeClr val="dk1"/>
                </a:solidFill>
              </a:rPr>
              <a:t>Sources</a:t>
            </a:r>
            <a:r>
              <a:rPr lang="en-US" sz="1900">
                <a:solidFill>
                  <a:schemeClr val="dk1"/>
                </a:solidFill>
              </a:rPr>
              <a:t>: Statistical Review of World Energy, Our World in Data.</a:t>
            </a:r>
            <a:endParaRPr sz="1900">
              <a:solidFill>
                <a:schemeClr val="dk1"/>
              </a:solidFill>
            </a:endParaRPr>
          </a:p>
          <a:p>
            <a:pPr indent="0" lvl="0" marL="342900" rtl="0" algn="l">
              <a:lnSpc>
                <a:spcPct val="100000"/>
              </a:lnSpc>
              <a:spcBef>
                <a:spcPts val="0"/>
              </a:spcBef>
              <a:spcAft>
                <a:spcPts val="0"/>
              </a:spcAft>
              <a:buNone/>
            </a:pPr>
            <a:r>
              <a:t/>
            </a:r>
            <a:endParaRPr sz="1900"/>
          </a:p>
        </p:txBody>
      </p:sp>
      <p:sp>
        <p:nvSpPr>
          <p:cNvPr id="120" name="Google Shape;120;p18"/>
          <p:cNvSpPr txBox="1"/>
          <p:nvPr>
            <p:ph type="ctrTitle"/>
          </p:nvPr>
        </p:nvSpPr>
        <p:spPr>
          <a:xfrm>
            <a:off x="7125" y="0"/>
            <a:ext cx="9144000" cy="649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i="0" lang="en-US" sz="2900" u="none">
                <a:solidFill>
                  <a:srgbClr val="000000"/>
                </a:solidFill>
                <a:latin typeface="Times New Roman"/>
                <a:ea typeface="Times New Roman"/>
                <a:cs typeface="Times New Roman"/>
                <a:sym typeface="Times New Roman"/>
              </a:rPr>
              <a:t>Datasets Details</a:t>
            </a:r>
            <a:endParaRPr/>
          </a:p>
        </p:txBody>
      </p:sp>
      <p:sp>
        <p:nvSpPr>
          <p:cNvPr id="121" name="Google Shape;121;p18"/>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ctrTitle"/>
          </p:nvPr>
        </p:nvSpPr>
        <p:spPr>
          <a:xfrm>
            <a:off x="0" y="0"/>
            <a:ext cx="9144000" cy="649287"/>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i="0" lang="en-US" sz="2900" u="none">
                <a:solidFill>
                  <a:srgbClr val="000000"/>
                </a:solidFill>
                <a:latin typeface="Times New Roman"/>
                <a:ea typeface="Times New Roman"/>
                <a:cs typeface="Times New Roman"/>
                <a:sym typeface="Times New Roman"/>
              </a:rPr>
              <a:t>References</a:t>
            </a:r>
            <a:endParaRPr/>
          </a:p>
        </p:txBody>
      </p:sp>
      <p:sp>
        <p:nvSpPr>
          <p:cNvPr id="127" name="Google Shape;127;p19"/>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
        <p:nvSpPr>
          <p:cNvPr id="128" name="Google Shape;128;p19"/>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595959"/>
              </a:buClr>
              <a:buSzPts val="200"/>
              <a:buFont typeface="Arial"/>
              <a:buChar char="●"/>
            </a:pPr>
            <a:r>
              <a:rPr b="0" i="0" lang="en-US" sz="2400" u="none">
                <a:solidFill>
                  <a:srgbClr val="FF0000"/>
                </a:solidFill>
                <a:latin typeface="Times New Roman"/>
                <a:ea typeface="Times New Roman"/>
                <a:cs typeface="Times New Roman"/>
                <a:sym typeface="Times New Roman"/>
              </a:rPr>
              <a:t>Write all the literature review papers in this format.</a:t>
            </a:r>
            <a:endParaRPr/>
          </a:p>
          <a:p>
            <a:pPr indent="-342900" lvl="0" marL="457200" rtl="0" algn="l">
              <a:lnSpc>
                <a:spcPct val="115000"/>
              </a:lnSpc>
              <a:spcBef>
                <a:spcPts val="0"/>
              </a:spcBef>
              <a:spcAft>
                <a:spcPts val="0"/>
              </a:spcAft>
              <a:buClr>
                <a:srgbClr val="595959"/>
              </a:buClr>
              <a:buSzPts val="200"/>
              <a:buFont typeface="Arial"/>
              <a:buChar char="●"/>
            </a:pPr>
            <a:r>
              <a:rPr b="0" i="0" lang="en-US" sz="2400" u="none">
                <a:solidFill>
                  <a:srgbClr val="333333"/>
                </a:solidFill>
                <a:latin typeface="Times New Roman"/>
                <a:ea typeface="Times New Roman"/>
                <a:cs typeface="Times New Roman"/>
                <a:sym typeface="Times New Roman"/>
              </a:rPr>
              <a:t>Example:</a:t>
            </a:r>
            <a:endParaRPr/>
          </a:p>
          <a:p>
            <a:pPr indent="-342900" lvl="0" marL="457200" rtl="0" algn="l">
              <a:lnSpc>
                <a:spcPct val="115000"/>
              </a:lnSpc>
              <a:spcBef>
                <a:spcPts val="0"/>
              </a:spcBef>
              <a:spcAft>
                <a:spcPts val="0"/>
              </a:spcAft>
              <a:buClr>
                <a:srgbClr val="595959"/>
              </a:buClr>
              <a:buSzPts val="200"/>
              <a:buFont typeface="Arial"/>
              <a:buChar char="●"/>
            </a:pPr>
            <a:r>
              <a:rPr b="0" i="0" lang="en-US" sz="2400" u="none">
                <a:solidFill>
                  <a:srgbClr val="00B0F0"/>
                </a:solidFill>
                <a:latin typeface="Times New Roman"/>
                <a:ea typeface="Times New Roman"/>
                <a:cs typeface="Times New Roman"/>
                <a:sym typeface="Times New Roman"/>
              </a:rPr>
              <a:t>A. B. Amjoud and M. Amrouch, "Object Detection Using Deep Learning, CNNs and Vision Transformers: A Review," in </a:t>
            </a:r>
            <a:r>
              <a:rPr b="0" i="1" lang="en-US" sz="2400" u="none">
                <a:solidFill>
                  <a:srgbClr val="00B0F0"/>
                </a:solidFill>
                <a:latin typeface="Times New Roman"/>
                <a:ea typeface="Times New Roman"/>
                <a:cs typeface="Times New Roman"/>
                <a:sym typeface="Times New Roman"/>
              </a:rPr>
              <a:t>IEEE Access</a:t>
            </a:r>
            <a:r>
              <a:rPr b="0" i="0" lang="en-US" sz="2400" u="none">
                <a:solidFill>
                  <a:srgbClr val="00B0F0"/>
                </a:solidFill>
                <a:latin typeface="Times New Roman"/>
                <a:ea typeface="Times New Roman"/>
                <a:cs typeface="Times New Roman"/>
                <a:sym typeface="Times New Roman"/>
              </a:rPr>
              <a:t>, vol. 11, pp. 35479-35516, 2023</a:t>
            </a:r>
            <a:endParaRPr/>
          </a:p>
          <a:p>
            <a:pPr indent="-342900" lvl="0" marL="342900" rtl="0" algn="l">
              <a:spcBef>
                <a:spcPts val="0"/>
              </a:spcBef>
              <a:spcAft>
                <a:spcPts val="0"/>
              </a:spcAft>
              <a:buNone/>
            </a:pPr>
            <a:r>
              <a:t/>
            </a:r>
            <a:endParaRPr b="0" i="0" sz="2400" u="none">
              <a:solidFill>
                <a:srgbClr val="00B0F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0" y="2252662"/>
            <a:ext cx="9144000" cy="841375"/>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b="1" i="0" lang="en-US" sz="3600" u="none">
                <a:solidFill>
                  <a:srgbClr val="000000"/>
                </a:solidFill>
                <a:latin typeface="Times New Roman"/>
                <a:ea typeface="Times New Roman"/>
                <a:cs typeface="Times New Roman"/>
                <a:sym typeface="Times New Roman"/>
              </a:rPr>
              <a:t>Thank you</a:t>
            </a:r>
            <a:endParaRPr/>
          </a:p>
        </p:txBody>
      </p:sp>
      <p:sp>
        <p:nvSpPr>
          <p:cNvPr id="134" name="Google Shape;134;p20"/>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a:solidFill>
                  <a:srgbClr val="595959"/>
                </a:solidFill>
                <a:latin typeface="Arial"/>
                <a:ea typeface="Arial"/>
                <a:cs typeface="Arial"/>
                <a:sym typeface="Arial"/>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