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0" r:id="rId1"/>
    <p:sldMasterId id="2147483651"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82" r:id="rId22"/>
    <p:sldId id="283" r:id="rId23"/>
    <p:sldId id="284" r:id="rId24"/>
    <p:sldId id="286" r:id="rId25"/>
    <p:sldId id="275" r:id="rId26"/>
    <p:sldId id="276" r:id="rId27"/>
    <p:sldId id="277" r:id="rId28"/>
    <p:sldId id="278"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B5F669-19A5-4A0C-AAF8-9CA3CEDFA596}">
  <a:tblStyle styleId="{0EB5F669-19A5-4A0C-AAF8-9CA3CEDFA59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226" y="-3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2dd3059041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2dd3059041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33cab92230f_4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33cab92230f_4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3cab92230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3cab9223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3cab92230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3cab92230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3cab92230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3cab92230f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3cab92230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3cab92230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3cab92230f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3cab92230f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dd3059041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g2dd3059041f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3cab92230f_4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33cab92230f_4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3cab92230f_4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33cab92230f_4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3cab92230f_4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33cab92230f_4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329384d487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329384d487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32ad8f452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32ad8f452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329384d487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329384d487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329384d487_1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329384d487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dd3059041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g2dd3059041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dd3059041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g2dd3059041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0" y="0"/>
            <a:ext cx="9144000" cy="649800"/>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2"/>
          <p:cNvSpPr txBox="1">
            <a:spLocks noGrp="1"/>
          </p:cNvSpPr>
          <p:nvPr>
            <p:ph type="body" idx="1"/>
          </p:nvPr>
        </p:nvSpPr>
        <p:spPr>
          <a:xfrm>
            <a:off x="165100" y="914400"/>
            <a:ext cx="8763000" cy="34797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2"/>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2"/>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4"/>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4"/>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150" y="444500"/>
            <a:ext cx="8521800" cy="573000"/>
          </a:xfrm>
          <a:prstGeom prst="rect">
            <a:avLst/>
          </a:prstGeom>
          <a:noFill/>
          <a:ln>
            <a:noFill/>
          </a:ln>
        </p:spPr>
        <p:txBody>
          <a:bodyPr spcFirstLastPara="1" wrap="square" lIns="91425" tIns="91425" rIns="91425" bIns="91425" anchor="t" anchorCtr="0">
            <a:noAutofit/>
          </a:bodyPr>
          <a:lstStyle>
            <a:lvl1pPr marR="0" lvl="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150" y="1152525"/>
            <a:ext cx="8521800" cy="3416400"/>
          </a:xfrm>
          <a:prstGeom prst="rect">
            <a:avLst/>
          </a:prstGeom>
          <a:noFill/>
          <a:ln>
            <a:noFill/>
          </a:ln>
        </p:spPr>
        <p:txBody>
          <a:bodyPr spcFirstLastPara="1" wrap="square" lIns="91425" tIns="91425" rIns="91425" bIns="91425" anchor="t" anchorCtr="0">
            <a:noAutofit/>
          </a:bodyPr>
          <a:lstStyle>
            <a:lvl1pPr marL="457200" marR="0" lvl="0"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150" y="444500"/>
            <a:ext cx="8521800" cy="573000"/>
          </a:xfrm>
          <a:prstGeom prst="rect">
            <a:avLst/>
          </a:prstGeom>
          <a:noFill/>
          <a:ln>
            <a:noFill/>
          </a:ln>
        </p:spPr>
        <p:txBody>
          <a:bodyPr spcFirstLastPara="1" wrap="square" lIns="91425" tIns="91425" rIns="91425" bIns="91425" anchor="t" anchorCtr="0">
            <a:noAutofit/>
          </a:bodyPr>
          <a:lstStyle>
            <a:lvl1pPr marR="0" lvl="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3"/>
          <p:cNvSpPr txBox="1">
            <a:spLocks noGrp="1"/>
          </p:cNvSpPr>
          <p:nvPr>
            <p:ph type="body" idx="1"/>
          </p:nvPr>
        </p:nvSpPr>
        <p:spPr>
          <a:xfrm>
            <a:off x="311150" y="1152525"/>
            <a:ext cx="8521800" cy="3416400"/>
          </a:xfrm>
          <a:prstGeom prst="rect">
            <a:avLst/>
          </a:prstGeom>
          <a:noFill/>
          <a:ln>
            <a:noFill/>
          </a:ln>
        </p:spPr>
        <p:txBody>
          <a:bodyPr spcFirstLastPara="1" wrap="square" lIns="91425" tIns="91425" rIns="91425" bIns="91425" anchor="t" anchorCtr="0">
            <a:noAutofit/>
          </a:bodyPr>
          <a:lstStyle>
            <a:lvl1pPr marL="457200" marR="0" lvl="0"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3"/>
          <p:cNvSpPr txBox="1">
            <a:spLocks noGrp="1"/>
          </p:cNvSpPr>
          <p:nvPr>
            <p:ph type="sldNum" idx="12"/>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3"/>
          <p:cNvSpPr txBox="1">
            <a:spLocks noGrp="1"/>
          </p:cNvSpPr>
          <p:nvPr>
            <p:ph type="ftr" idx="11"/>
          </p:nvPr>
        </p:nvSpPr>
        <p:spPr>
          <a:xfrm>
            <a:off x="2706687" y="4760912"/>
            <a:ext cx="3538500" cy="1983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900" b="1" i="0" u="none">
                <a:solidFill>
                  <a:srgbClr val="898989"/>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ourworldindata.org/grapher/coal-consumption-by-country-terawatt-hours-twh"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hyperlink" Target="https://ourworldindata.org/grapher/oil-consumption-by-country" TargetMode="External"/><Relationship Id="rId4" Type="http://schemas.openxmlformats.org/officeDocument/2006/relationships/hyperlink" Target="https://ourworldindata.org/grapher/natural-gas-consumption-by-region"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5"/>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ts val="5200"/>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Gokaraju </a:t>
            </a:r>
            <a:r>
              <a:rPr lang="en-US" sz="1800" b="1" i="0" u="none" dirty="0" err="1">
                <a:solidFill>
                  <a:srgbClr val="000000"/>
                </a:solidFill>
                <a:latin typeface="Times New Roman"/>
                <a:ea typeface="Times New Roman"/>
                <a:cs typeface="Times New Roman"/>
                <a:sym typeface="Times New Roman"/>
              </a:rPr>
              <a:t>Rangaraju</a:t>
            </a:r>
            <a:r>
              <a:rPr lang="en-US" sz="1800" b="1" i="0" u="none" dirty="0">
                <a:solidFill>
                  <a:srgbClr val="000000"/>
                </a:solidFill>
                <a:latin typeface="Times New Roman"/>
                <a:ea typeface="Times New Roman"/>
                <a:cs typeface="Times New Roman"/>
                <a:sym typeface="Times New Roman"/>
              </a:rPr>
              <a:t>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M</a:t>
            </a:r>
            <a:r>
              <a:rPr lang="en-US" sz="1800" b="1" i="0" u="none" dirty="0">
                <a:solidFill>
                  <a:srgbClr val="000000"/>
                </a:solidFill>
                <a:latin typeface="Arial"/>
                <a:ea typeface="Arial"/>
                <a:cs typeface="Arial"/>
                <a:sym typeface="Arial"/>
              </a:rPr>
              <a:t>ini</a:t>
            </a:r>
            <a:r>
              <a:rPr lang="en-US" sz="1800" b="1" i="0" u="none" dirty="0">
                <a:solidFill>
                  <a:srgbClr val="000000"/>
                </a:solidFill>
                <a:latin typeface="Times New Roman"/>
                <a:ea typeface="Times New Roman"/>
                <a:cs typeface="Times New Roman"/>
                <a:sym typeface="Times New Roman"/>
              </a:rPr>
              <a:t> Project Work</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(CSE(DS))</a:t>
            </a:r>
            <a:endParaRPr dirty="0"/>
          </a:p>
        </p:txBody>
      </p:sp>
      <p:sp>
        <p:nvSpPr>
          <p:cNvPr id="29" name="Google Shape;29;p5"/>
          <p:cNvSpPr txBox="1">
            <a:spLocks noGrp="1"/>
          </p:cNvSpPr>
          <p:nvPr>
            <p:ph type="subTitle" idx="4294967295"/>
          </p:nvPr>
        </p:nvSpPr>
        <p:spPr>
          <a:xfrm>
            <a:off x="9525" y="2571750"/>
            <a:ext cx="9144000" cy="523875"/>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US" sz="2200" b="1" i="0" u="none" strike="noStrike" cap="none" dirty="0">
                <a:solidFill>
                  <a:srgbClr val="0D5BDC"/>
                </a:solidFill>
                <a:latin typeface="Times New Roman"/>
                <a:ea typeface="Times New Roman"/>
                <a:cs typeface="Times New Roman"/>
                <a:sym typeface="Times New Roman"/>
              </a:rPr>
              <a:t>Review 3: Module Presentation</a:t>
            </a:r>
            <a:endParaRPr dirty="0"/>
          </a:p>
          <a:p>
            <a:pPr marL="342900" marR="0" lvl="0" indent="-342900" algn="l" rtl="0">
              <a:spcBef>
                <a:spcPts val="0"/>
              </a:spcBef>
              <a:spcAft>
                <a:spcPts val="0"/>
              </a:spcAft>
              <a:buNone/>
            </a:pPr>
            <a:endParaRPr sz="2200" b="1" i="0" u="none" dirty="0">
              <a:solidFill>
                <a:srgbClr val="0D5BDC"/>
              </a:solidFill>
              <a:latin typeface="Times New Roman"/>
              <a:ea typeface="Times New Roman"/>
              <a:cs typeface="Times New Roman"/>
              <a:sym typeface="Times New Roman"/>
            </a:endParaRPr>
          </a:p>
        </p:txBody>
      </p:sp>
      <p:pic>
        <p:nvPicPr>
          <p:cNvPr id="30" name="Google Shape;30;p5"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
        <p:nvSpPr>
          <p:cNvPr id="31" name="Google Shape;31;p5"/>
          <p:cNvSpPr txBox="1"/>
          <p:nvPr/>
        </p:nvSpPr>
        <p:spPr>
          <a:xfrm>
            <a:off x="330300" y="3500437"/>
            <a:ext cx="4260900" cy="1420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Presented by:</a:t>
            </a:r>
            <a:endParaRPr sz="16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1. B. Karthikeya (22241A6771)</a:t>
            </a:r>
            <a:endParaRPr sz="16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2. B. Abhilash Reddy (22241A6775)</a:t>
            </a:r>
            <a:endParaRPr sz="1600" b="1">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3. B. Sushanth (22241A6776)</a:t>
            </a:r>
            <a:endParaRPr sz="1600" b="1">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600"/>
              <a:buFont typeface="Times New Roman"/>
              <a:buNone/>
            </a:pPr>
            <a:endParaRPr sz="1600" b="1">
              <a:latin typeface="Times New Roman"/>
              <a:ea typeface="Times New Roman"/>
              <a:cs typeface="Times New Roman"/>
              <a:sym typeface="Times New Roman"/>
            </a:endParaRPr>
          </a:p>
        </p:txBody>
      </p:sp>
      <p:sp>
        <p:nvSpPr>
          <p:cNvPr id="32" name="Google Shape;32;p5"/>
          <p:cNvSpPr txBox="1"/>
          <p:nvPr/>
        </p:nvSpPr>
        <p:spPr>
          <a:xfrm>
            <a:off x="5945787" y="3500425"/>
            <a:ext cx="3294000" cy="14208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100"/>
              <a:buFont typeface="Arial"/>
              <a:buNone/>
            </a:pPr>
            <a:r>
              <a:rPr lang="en-US" sz="1600" b="1">
                <a:solidFill>
                  <a:schemeClr val="dk1"/>
                </a:solidFill>
                <a:latin typeface="Times New Roman"/>
                <a:ea typeface="Times New Roman"/>
                <a:cs typeface="Times New Roman"/>
                <a:sym typeface="Times New Roman"/>
              </a:rPr>
              <a:t>Under the Guidance of:</a:t>
            </a:r>
            <a:endParaRPr sz="1600" b="1">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Dr. R.P. Ram Kumar</a:t>
            </a:r>
            <a:endParaRPr sz="1600" b="1">
              <a:solidFill>
                <a:srgbClr val="006600"/>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Professor</a:t>
            </a:r>
            <a:endParaRPr sz="1600" b="1">
              <a:solidFill>
                <a:srgbClr val="006600"/>
              </a:solidFill>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1100"/>
              <a:buFont typeface="Arial"/>
              <a:buNone/>
            </a:pPr>
            <a:r>
              <a:rPr lang="en-US" sz="1600" b="1">
                <a:solidFill>
                  <a:srgbClr val="006600"/>
                </a:solidFill>
                <a:latin typeface="Times New Roman"/>
                <a:ea typeface="Times New Roman"/>
                <a:cs typeface="Times New Roman"/>
                <a:sym typeface="Times New Roman"/>
              </a:rPr>
              <a:t>CSE(DS) Department</a:t>
            </a:r>
            <a:endParaRPr sz="1600" b="1">
              <a:solidFill>
                <a:srgbClr val="0066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600" b="1">
              <a:latin typeface="Times New Roman"/>
              <a:ea typeface="Times New Roman"/>
              <a:cs typeface="Times New Roman"/>
              <a:sym typeface="Times New Roman"/>
            </a:endParaRPr>
          </a:p>
        </p:txBody>
      </p:sp>
      <p:sp>
        <p:nvSpPr>
          <p:cNvPr id="33" name="Google Shape;33;p5"/>
          <p:cNvSpPr txBox="1"/>
          <p:nvPr/>
        </p:nvSpPr>
        <p:spPr>
          <a:xfrm>
            <a:off x="330300" y="2976562"/>
            <a:ext cx="1992300" cy="5238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D5BDC"/>
              </a:buClr>
              <a:buSzPts val="1800"/>
              <a:buFont typeface="Times New Roman"/>
              <a:buNone/>
            </a:pPr>
            <a:r>
              <a:rPr lang="en-US" sz="1800" b="1" i="0" u="none">
                <a:solidFill>
                  <a:srgbClr val="0D5BDC"/>
                </a:solidFill>
                <a:latin typeface="Times New Roman"/>
                <a:ea typeface="Times New Roman"/>
                <a:cs typeface="Times New Roman"/>
                <a:sym typeface="Times New Roman"/>
              </a:rPr>
              <a:t>Batch No - B3  </a:t>
            </a:r>
            <a:endParaRPr sz="1800" b="0" i="0" u="none">
              <a:solidFill>
                <a:srgbClr val="000000"/>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2200"/>
              <a:buFont typeface="Arial"/>
              <a:buNone/>
            </a:pPr>
            <a:endParaRPr sz="2200" b="1" i="0" u="none">
              <a:solidFill>
                <a:srgbClr val="0D5BDC"/>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200" b="1" i="0" u="none">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6"/>
          <p:cNvSpPr txBox="1">
            <a:spLocks noGrp="1"/>
          </p:cNvSpPr>
          <p:nvPr>
            <p:ph type="ctrTitle"/>
          </p:nvPr>
        </p:nvSpPr>
        <p:spPr>
          <a:xfrm>
            <a:off x="0" y="0"/>
            <a:ext cx="9144000" cy="649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endParaRPr/>
          </a:p>
        </p:txBody>
      </p:sp>
      <p:sp>
        <p:nvSpPr>
          <p:cNvPr id="39" name="Google Shape;39;p6"/>
          <p:cNvSpPr txBox="1">
            <a:spLocks noGrp="1"/>
          </p:cNvSpPr>
          <p:nvPr>
            <p:ph type="body" idx="1"/>
          </p:nvPr>
        </p:nvSpPr>
        <p:spPr>
          <a:xfrm>
            <a:off x="165100" y="914400"/>
            <a:ext cx="8763000" cy="3479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6"/>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595959"/>
              </a:buClr>
              <a:buSzPts val="1000"/>
              <a:buFont typeface="Arial"/>
              <a:buNone/>
            </a:pPr>
            <a:fld id="{00000000-1234-1234-1234-123412341234}" type="slidenum">
              <a:rPr lang="en-US"/>
              <a:t>2</a:t>
            </a:fld>
            <a:endParaRPr/>
          </a:p>
        </p:txBody>
      </p:sp>
      <p:pic>
        <p:nvPicPr>
          <p:cNvPr id="41" name="Google Shape;41;p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7"/>
          <p:cNvSpPr txBox="1">
            <a:spLocks noGrp="1"/>
          </p:cNvSpPr>
          <p:nvPr>
            <p:ph type="ctrTitle"/>
          </p:nvPr>
        </p:nvSpPr>
        <p:spPr>
          <a:xfrm>
            <a:off x="-2896525" y="2246850"/>
            <a:ext cx="9144000" cy="649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a:t>Review 1 Feedback</a:t>
            </a:r>
            <a:endParaRPr/>
          </a:p>
        </p:txBody>
      </p:sp>
      <p:sp>
        <p:nvSpPr>
          <p:cNvPr id="47" name="Google Shape;47;p7"/>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595959"/>
              </a:buClr>
              <a:buSzPts val="1000"/>
              <a:buFont typeface="Arial"/>
              <a:buNone/>
            </a:pPr>
            <a:fld id="{00000000-1234-1234-1234-123412341234}" type="slidenum">
              <a:rPr lang="en-US"/>
              <a:t>3</a:t>
            </a:fld>
            <a:endParaRPr/>
          </a:p>
        </p:txBody>
      </p:sp>
      <p:pic>
        <p:nvPicPr>
          <p:cNvPr id="48" name="Google Shape;48;p7"/>
          <p:cNvPicPr preferRelativeResize="0"/>
          <p:nvPr/>
        </p:nvPicPr>
        <p:blipFill rotWithShape="1">
          <a:blip r:embed="rId3">
            <a:alphaModFix/>
          </a:blip>
          <a:srcRect l="12520" t="18985" r="3726" b="13185"/>
          <a:stretch/>
        </p:blipFill>
        <p:spPr>
          <a:xfrm>
            <a:off x="3477150" y="0"/>
            <a:ext cx="5666849" cy="51435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8"/>
          <p:cNvSpPr txBox="1">
            <a:spLocks noGrp="1"/>
          </p:cNvSpPr>
          <p:nvPr>
            <p:ph type="ctrTitle"/>
          </p:nvPr>
        </p:nvSpPr>
        <p:spPr>
          <a:xfrm>
            <a:off x="0" y="893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Abstract</a:t>
            </a:r>
            <a:endParaRPr/>
          </a:p>
        </p:txBody>
      </p:sp>
      <p:sp>
        <p:nvSpPr>
          <p:cNvPr id="54" name="Google Shape;54;p8"/>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4</a:t>
            </a:fld>
            <a:endParaRPr/>
          </a:p>
        </p:txBody>
      </p:sp>
      <p:sp>
        <p:nvSpPr>
          <p:cNvPr id="55" name="Google Shape;55;p8"/>
          <p:cNvSpPr txBox="1">
            <a:spLocks noGrp="1"/>
          </p:cNvSpPr>
          <p:nvPr>
            <p:ph type="body" idx="1"/>
          </p:nvPr>
        </p:nvSpPr>
        <p:spPr>
          <a:xfrm>
            <a:off x="190500" y="820175"/>
            <a:ext cx="8763000" cy="3671400"/>
          </a:xfrm>
          <a:prstGeom prst="rect">
            <a:avLst/>
          </a:prstGeom>
          <a:noFill/>
          <a:ln>
            <a:noFill/>
          </a:ln>
        </p:spPr>
        <p:txBody>
          <a:bodyPr spcFirstLastPara="1" wrap="square" lIns="91425" tIns="91425" rIns="91425" bIns="91425" anchor="t" anchorCtr="0">
            <a:noAutofit/>
          </a:bodyPr>
          <a:lstStyle/>
          <a:p>
            <a:pPr marL="152400" lvl="0" indent="0" algn="just" rtl="0">
              <a:lnSpc>
                <a:spcPct val="115000"/>
              </a:lnSpc>
              <a:spcBef>
                <a:spcPts val="0"/>
              </a:spcBef>
              <a:spcAft>
                <a:spcPts val="0"/>
              </a:spcAft>
              <a:buClr>
                <a:schemeClr val="dk1"/>
              </a:buClr>
              <a:buSzPts val="1100"/>
              <a:buFont typeface="Arial"/>
              <a:buNone/>
            </a:pPr>
            <a:r>
              <a:rPr lang="en-US" sz="1900" dirty="0">
                <a:solidFill>
                  <a:schemeClr val="dk1"/>
                </a:solidFill>
              </a:rPr>
              <a:t>This project focuses on a Comprehensive analysis of Global Energy Trends and their consumption every year using “Time series analysis and fine-tuned LLM models” along with data analysis. This project incorporates enhanced prediction and analysis of “Global Energy” Consumption from Natural Resources like Coal, Oil, Natural Gas, Hydroelectricity and more. This project leverages </a:t>
            </a:r>
            <a:r>
              <a:rPr lang="en-US" sz="1900" b="1" dirty="0">
                <a:solidFill>
                  <a:schemeClr val="dk1"/>
                </a:solidFill>
              </a:rPr>
              <a:t>Time Series Analysis (ARIMA, SARIMA)</a:t>
            </a:r>
            <a:r>
              <a:rPr lang="en-US" sz="1900" dirty="0">
                <a:solidFill>
                  <a:schemeClr val="dk1"/>
                </a:solidFill>
              </a:rPr>
              <a:t> and </a:t>
            </a:r>
            <a:r>
              <a:rPr lang="en-US" sz="1900" b="1" dirty="0">
                <a:solidFill>
                  <a:schemeClr val="dk1"/>
                </a:solidFill>
              </a:rPr>
              <a:t>Fine-Tuned Large Language Models (LLMs) like Mistral 7b</a:t>
            </a:r>
            <a:r>
              <a:rPr lang="en-US" sz="1900" dirty="0">
                <a:solidFill>
                  <a:schemeClr val="dk1"/>
                </a:solidFill>
              </a:rPr>
              <a:t> to analyze and predict global energy consumption trends with high accuracy. Using historical energy data from sources like the </a:t>
            </a:r>
            <a:r>
              <a:rPr lang="en-US" sz="1900" b="1" dirty="0">
                <a:solidFill>
                  <a:schemeClr val="dk1"/>
                </a:solidFill>
              </a:rPr>
              <a:t>IEA, World Bank, and BP Statistical Review</a:t>
            </a:r>
            <a:r>
              <a:rPr lang="en-US" sz="1900" dirty="0">
                <a:solidFill>
                  <a:schemeClr val="dk1"/>
                </a:solidFill>
              </a:rPr>
              <a:t>, the project identifies key consumption patterns across </a:t>
            </a:r>
            <a:r>
              <a:rPr lang="en-US" sz="1900" b="1" dirty="0">
                <a:solidFill>
                  <a:schemeClr val="dk1"/>
                </a:solidFill>
              </a:rPr>
              <a:t>coal, oil, natural gas, and renewables</a:t>
            </a:r>
            <a:r>
              <a:rPr lang="en-US" sz="1900" dirty="0">
                <a:solidFill>
                  <a:schemeClr val="dk1"/>
                </a:solidFill>
              </a:rPr>
              <a:t> to support informed decision-making and Environmental Sustainability.</a:t>
            </a:r>
            <a:endParaRPr sz="1900" dirty="0">
              <a:solidFill>
                <a:schemeClr val="dk1"/>
              </a:solidFill>
            </a:endParaRPr>
          </a:p>
          <a:p>
            <a:pPr marL="342900" lvl="0" indent="-342900" algn="just" rtl="0">
              <a:spcBef>
                <a:spcPts val="0"/>
              </a:spcBef>
              <a:spcAft>
                <a:spcPts val="0"/>
              </a:spcAft>
              <a:buNone/>
            </a:pPr>
            <a:endParaRPr sz="19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9"/>
          <p:cNvSpPr txBox="1">
            <a:spLocks noGrp="1"/>
          </p:cNvSpPr>
          <p:nvPr>
            <p:ph type="ctrTitle"/>
          </p:nvPr>
        </p:nvSpPr>
        <p:spPr>
          <a:xfrm>
            <a:off x="0" y="-998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Literature Review</a:t>
            </a:r>
            <a:endParaRPr/>
          </a:p>
        </p:txBody>
      </p:sp>
      <p:sp>
        <p:nvSpPr>
          <p:cNvPr id="61" name="Google Shape;61;p9"/>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5</a:t>
            </a:fld>
            <a:endParaRPr/>
          </a:p>
        </p:txBody>
      </p:sp>
      <p:graphicFrame>
        <p:nvGraphicFramePr>
          <p:cNvPr id="62" name="Google Shape;62;p9"/>
          <p:cNvGraphicFramePr/>
          <p:nvPr/>
        </p:nvGraphicFramePr>
        <p:xfrm>
          <a:off x="191312" y="480137"/>
          <a:ext cx="8620050" cy="4248650"/>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06850">
                  <a:extLst>
                    <a:ext uri="{9D8B030D-6E8A-4147-A177-3AD203B41FA5}">
                      <a16:colId xmlns:a16="http://schemas.microsoft.com/office/drawing/2014/main" val="20003"/>
                    </a:ext>
                  </a:extLst>
                </a:gridCol>
                <a:gridCol w="909250">
                  <a:extLst>
                    <a:ext uri="{9D8B030D-6E8A-4147-A177-3AD203B41FA5}">
                      <a16:colId xmlns:a16="http://schemas.microsoft.com/office/drawing/2014/main" val="20004"/>
                    </a:ext>
                  </a:extLst>
                </a:gridCol>
                <a:gridCol w="957250">
                  <a:extLst>
                    <a:ext uri="{9D8B030D-6E8A-4147-A177-3AD203B41FA5}">
                      <a16:colId xmlns:a16="http://schemas.microsoft.com/office/drawing/2014/main" val="20005"/>
                    </a:ext>
                  </a:extLst>
                </a:gridCol>
                <a:gridCol w="957250">
                  <a:extLst>
                    <a:ext uri="{9D8B030D-6E8A-4147-A177-3AD203B41FA5}">
                      <a16:colId xmlns:a16="http://schemas.microsoft.com/office/drawing/2014/main" val="20006"/>
                    </a:ext>
                  </a:extLst>
                </a:gridCol>
                <a:gridCol w="958850">
                  <a:extLst>
                    <a:ext uri="{9D8B030D-6E8A-4147-A177-3AD203B41FA5}">
                      <a16:colId xmlns:a16="http://schemas.microsoft.com/office/drawing/2014/main" val="20007"/>
                    </a:ext>
                  </a:extLst>
                </a:gridCol>
                <a:gridCol w="957250">
                  <a:extLst>
                    <a:ext uri="{9D8B030D-6E8A-4147-A177-3AD203B41FA5}">
                      <a16:colId xmlns:a16="http://schemas.microsoft.com/office/drawing/2014/main" val="20008"/>
                    </a:ext>
                  </a:extLst>
                </a:gridCol>
              </a:tblGrid>
              <a:tr h="735575">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171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Energy Studies Review, 2022, Volume 34, Issue 4</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To predict global energy consumption using time series forecasting models.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ARIMA and LSTM models for comparison.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outperformed ARIMA in accuracy and trend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Provides insights into time series forecasting, applicable to energy trend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ARIMA, LSTM, Time Series Analysis.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Evaluated using MAE, RMSE, and MAPE, with LSTM outperforming ARIMA.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captures long-term dependencies better.</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requires high computational resources.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27277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International Journal of Energy Research, 2023, Volume 47, Issue 2.</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To explore the use of fine-tuned LLMs for energy demand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Fine-tuned GPT-3 models using historical data and economic indicators.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Fine-tuned LLMs outperformed regression models, especially with sparse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Directly applicable for integrating fine-tuned LLMs in energy consumption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Fine-tuned GPT-3, Transfer Learning.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Achieved a higher R² score (0.91) than regression models.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LLMs can model complex relationships and handle unstructured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extensive computational power and data for fine-tuning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1848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Journal of Renewable and Sustainable Energy, 2021, Volume 13, Issue 5.</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To develop a hybrid model combining ARIMA and LSTM for energy consumption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ARIMA-LSTM model applied to IEA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outperformed ARIMA and LSTM individually.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Suggests a hybrid approach that could be expanded with LLMs.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ARIMA-LSTM, Neural Networks.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showed 15% improvement in MAPE over standalone models.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Combines strengths of time series and neural networks for better accuracy.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models are complex and require careful parameter tuning.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0"/>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595959"/>
              </a:buClr>
              <a:buSzPts val="1000"/>
              <a:buFont typeface="Arial"/>
              <a:buNone/>
            </a:pPr>
            <a:fld id="{00000000-1234-1234-1234-123412341234}" type="slidenum">
              <a:rPr lang="en-US"/>
              <a:t>6</a:t>
            </a:fld>
            <a:endParaRPr/>
          </a:p>
        </p:txBody>
      </p:sp>
      <p:graphicFrame>
        <p:nvGraphicFramePr>
          <p:cNvPr id="68" name="Google Shape;68;p10"/>
          <p:cNvGraphicFramePr/>
          <p:nvPr/>
        </p:nvGraphicFramePr>
        <p:xfrm>
          <a:off x="261987" y="221787"/>
          <a:ext cx="8620050" cy="4438925"/>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06850">
                  <a:extLst>
                    <a:ext uri="{9D8B030D-6E8A-4147-A177-3AD203B41FA5}">
                      <a16:colId xmlns:a16="http://schemas.microsoft.com/office/drawing/2014/main" val="20003"/>
                    </a:ext>
                  </a:extLst>
                </a:gridCol>
                <a:gridCol w="909250">
                  <a:extLst>
                    <a:ext uri="{9D8B030D-6E8A-4147-A177-3AD203B41FA5}">
                      <a16:colId xmlns:a16="http://schemas.microsoft.com/office/drawing/2014/main" val="20004"/>
                    </a:ext>
                  </a:extLst>
                </a:gridCol>
                <a:gridCol w="957250">
                  <a:extLst>
                    <a:ext uri="{9D8B030D-6E8A-4147-A177-3AD203B41FA5}">
                      <a16:colId xmlns:a16="http://schemas.microsoft.com/office/drawing/2014/main" val="20005"/>
                    </a:ext>
                  </a:extLst>
                </a:gridCol>
                <a:gridCol w="957250">
                  <a:extLst>
                    <a:ext uri="{9D8B030D-6E8A-4147-A177-3AD203B41FA5}">
                      <a16:colId xmlns:a16="http://schemas.microsoft.com/office/drawing/2014/main" val="20006"/>
                    </a:ext>
                  </a:extLst>
                </a:gridCol>
                <a:gridCol w="958850">
                  <a:extLst>
                    <a:ext uri="{9D8B030D-6E8A-4147-A177-3AD203B41FA5}">
                      <a16:colId xmlns:a16="http://schemas.microsoft.com/office/drawing/2014/main" val="20007"/>
                    </a:ext>
                  </a:extLst>
                </a:gridCol>
                <a:gridCol w="957250">
                  <a:extLst>
                    <a:ext uri="{9D8B030D-6E8A-4147-A177-3AD203B41FA5}">
                      <a16:colId xmlns:a16="http://schemas.microsoft.com/office/drawing/2014/main" val="20008"/>
                    </a:ext>
                  </a:extLst>
                </a:gridCol>
              </a:tblGrid>
              <a:tr h="735575">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17125">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MDPI Sustainability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Explores ANN applications for predicting building energy consumption.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 review of studies using ANNs for energy consumption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ANNs, especially MLP and RNN, are effective for energy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Insights on accuracy and challenges apply to LLM-based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Discusses ANN techniques that can be adapted for LLM-based predictions.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MAE, RMSE, and R-squared can also evaluate LLMs for energy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ANNs' adaptability is similar to LLMs in handling complex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Both face challenges like overfitting and high data dependency.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429975">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Cornell University</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Evaluates the performance of conventional, machine learning, and deep learning models for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Analytical and empirical assessment using real-world datasets for energy consumption and natural gas.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Machine learning and deep learning methods outperform conventional models in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Relevant for comparing machine learning methods like LLMs with conventional models in time-series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Examines techniques like ARIMA, SVM, and deep learning for time series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Performance measured using MAE, RMSE, and other standard metrics.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Machine learning models provide better accuracy and scalability for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Conventional models can be less accurate, and machine learning models require large datasets and high computational power.</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184825">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ResearchGate</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Aims to predict energy consumption using deep learning algorithms, analyzing factors affecting high consumption.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Utilizes deep learning algorithms to predict energy usage in a university setting.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Deep learning models effectively predict energy consumption, considering factors like occupancy and weather.</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Insights into deep learning for energy prediction can guide the application of LLMs for global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Focuses on deep learning techniques for energy consumption prediction.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Evaluates accuracy using MAE, RMSE, and other relevant metrics.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Deep learning models offer high accuracy and adaptability to complex data.</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b="0" i="0" u="none" strike="noStrike" cap="none">
                          <a:solidFill>
                            <a:srgbClr val="000000"/>
                          </a:solidFill>
                          <a:latin typeface="Times New Roman"/>
                          <a:ea typeface="Times New Roman"/>
                          <a:cs typeface="Times New Roman"/>
                          <a:sym typeface="Times New Roman"/>
                        </a:rPr>
                        <a:t>Requires large datasets and significant computational resources for training.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graphicFrame>
        <p:nvGraphicFramePr>
          <p:cNvPr id="73" name="Google Shape;73;p11"/>
          <p:cNvGraphicFramePr/>
          <p:nvPr/>
        </p:nvGraphicFramePr>
        <p:xfrm>
          <a:off x="154337" y="126512"/>
          <a:ext cx="8814250" cy="5026900"/>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974050">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25325">
                  <a:extLst>
                    <a:ext uri="{9D8B030D-6E8A-4147-A177-3AD203B41FA5}">
                      <a16:colId xmlns:a16="http://schemas.microsoft.com/office/drawing/2014/main" val="20003"/>
                    </a:ext>
                  </a:extLst>
                </a:gridCol>
                <a:gridCol w="1186700">
                  <a:extLst>
                    <a:ext uri="{9D8B030D-6E8A-4147-A177-3AD203B41FA5}">
                      <a16:colId xmlns:a16="http://schemas.microsoft.com/office/drawing/2014/main" val="20004"/>
                    </a:ext>
                  </a:extLst>
                </a:gridCol>
                <a:gridCol w="855525">
                  <a:extLst>
                    <a:ext uri="{9D8B030D-6E8A-4147-A177-3AD203B41FA5}">
                      <a16:colId xmlns:a16="http://schemas.microsoft.com/office/drawing/2014/main" val="20005"/>
                    </a:ext>
                  </a:extLst>
                </a:gridCol>
                <a:gridCol w="938750">
                  <a:extLst>
                    <a:ext uri="{9D8B030D-6E8A-4147-A177-3AD203B41FA5}">
                      <a16:colId xmlns:a16="http://schemas.microsoft.com/office/drawing/2014/main" val="20006"/>
                    </a:ext>
                  </a:extLst>
                </a:gridCol>
                <a:gridCol w="1023575">
                  <a:extLst>
                    <a:ext uri="{9D8B030D-6E8A-4147-A177-3AD203B41FA5}">
                      <a16:colId xmlns:a16="http://schemas.microsoft.com/office/drawing/2014/main" val="20007"/>
                    </a:ext>
                  </a:extLst>
                </a:gridCol>
                <a:gridCol w="994250">
                  <a:extLst>
                    <a:ext uri="{9D8B030D-6E8A-4147-A177-3AD203B41FA5}">
                      <a16:colId xmlns:a16="http://schemas.microsoft.com/office/drawing/2014/main" val="20008"/>
                    </a:ext>
                  </a:extLst>
                </a:gridCol>
              </a:tblGrid>
              <a:tr h="735575">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3428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Computational Intelligence and Neuroscience in 2024.</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Aims to enhance energy efficiency in smart buildings by predicting energy consumption using machine learning.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algorithms are applied to energy data from smart buildings, including occupancy and environmental data.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models can predict energy consumption effectively and optimize building energy use.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Insights into using machine learning for predicting energy consumption can guide LLM-based models for global energy forecasting.</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algorithms like regression, SVM, and clustering are used for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Accuracy is evaluated using standard metrics such as MAE, RMSE, and R-squared.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models offer adaptability and can handle complex data from smart buildings.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high-quality data and computational resources; performance may vary with building type.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3652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Applied Intelligence in 2024.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Focuses on using deep learning techniques for time series analysis to predict building energy consumption.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are applied to real-world time series data for building energy consumption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show high accuracy for energy prediction compared to traditional methods.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Shows the effectiveness of deep learning for energy prediction, which can be applied in your project using LLMs.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are applied, focusing on architectures suited for time-series data.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Evaluates performance with MAE, RMSE, and R-squared for deep learning models.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improves accuracy in predicting energy consumption compared to conventional models.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require extensive data and computational power for training.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1848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September 2023.</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Proposes an LSTM model for forecasting building energy consumption using historical and environmental data.</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 is used to forecast energy consumption based on historical data, occupancy, and weather factors.</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outperform traditional approaches in predicting energy consumption with historical and environmental data.</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Provides a data-driven approach using LSTM for energy forecasting, applicable for fine-tuned LLM models in global consumption trends.</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Long Short-Term Memory (LSTM) networks for time-series prediction.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performance is assessed using accuracy metrics like MAE and RMSE.</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are particularly effective at handling sequential data and predicting trends in energy consumption.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require large amounts of data and can be computationally intensive.</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
        <p:nvSpPr>
          <p:cNvPr id="74" name="Google Shape;74;p11"/>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graphicFrame>
        <p:nvGraphicFramePr>
          <p:cNvPr id="79" name="Google Shape;79;p12"/>
          <p:cNvGraphicFramePr/>
          <p:nvPr/>
        </p:nvGraphicFramePr>
        <p:xfrm>
          <a:off x="154337" y="126512"/>
          <a:ext cx="8814250" cy="4950115"/>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974050">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25325">
                  <a:extLst>
                    <a:ext uri="{9D8B030D-6E8A-4147-A177-3AD203B41FA5}">
                      <a16:colId xmlns:a16="http://schemas.microsoft.com/office/drawing/2014/main" val="20003"/>
                    </a:ext>
                  </a:extLst>
                </a:gridCol>
                <a:gridCol w="1186700">
                  <a:extLst>
                    <a:ext uri="{9D8B030D-6E8A-4147-A177-3AD203B41FA5}">
                      <a16:colId xmlns:a16="http://schemas.microsoft.com/office/drawing/2014/main" val="20004"/>
                    </a:ext>
                  </a:extLst>
                </a:gridCol>
                <a:gridCol w="855525">
                  <a:extLst>
                    <a:ext uri="{9D8B030D-6E8A-4147-A177-3AD203B41FA5}">
                      <a16:colId xmlns:a16="http://schemas.microsoft.com/office/drawing/2014/main" val="20005"/>
                    </a:ext>
                  </a:extLst>
                </a:gridCol>
                <a:gridCol w="938750">
                  <a:extLst>
                    <a:ext uri="{9D8B030D-6E8A-4147-A177-3AD203B41FA5}">
                      <a16:colId xmlns:a16="http://schemas.microsoft.com/office/drawing/2014/main" val="20006"/>
                    </a:ext>
                  </a:extLst>
                </a:gridCol>
                <a:gridCol w="1023575">
                  <a:extLst>
                    <a:ext uri="{9D8B030D-6E8A-4147-A177-3AD203B41FA5}">
                      <a16:colId xmlns:a16="http://schemas.microsoft.com/office/drawing/2014/main" val="20007"/>
                    </a:ext>
                  </a:extLst>
                </a:gridCol>
                <a:gridCol w="994250">
                  <a:extLst>
                    <a:ext uri="{9D8B030D-6E8A-4147-A177-3AD203B41FA5}">
                      <a16:colId xmlns:a16="http://schemas.microsoft.com/office/drawing/2014/main" val="20008"/>
                    </a:ext>
                  </a:extLst>
                </a:gridCol>
              </a:tblGrid>
              <a:tr h="698125">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287550">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Electronics in 2024.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Aims to predict climate change impacts on building cooling energy consumption using machine learning and explainable AI.</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Uses machine learning and explainable AI to analyze climate change scenarios and their impact on energy consumption.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and explainable AI techniques effectively predict energy consumption under climate change scenarios.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Insights into explainable AI can help in improving LLM-based predictive models for energy forecasting.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models with explainable AI, including regression and classification techniques.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Evaluates model performance using MAE, RMSE, and accuracy scores.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with explainable AI enhances model interpretability and accuracy for climate-based predictions.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large datasets and can be computationally intensive, particularly for climate scenarios.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2957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December 2022.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Focuses on short-term prediction of household electricity consumption using LSTM and GRU models.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Customizes LSTM and GRU models for short-term electricity consumption forecasting.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Customized LSTM and GRU models offer improved short-term prediction accuracy for electricity consumption.</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Provides practical examples of using LSTM models, which can be adapted for time-series forecasting of global energy trends with LLMs.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and GRU models tailored for short-term electricity consumption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Assesses model accuracy using MAE, RMSE, and other relevant metrics for electricity consumption.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and GRU models improve short-term prediction accuracy in household energy usage.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and GRU models need extensive data and high computational resources for training.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5539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July 2022.</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Compares different machine learning models for forecasting household electricity consumption.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Compares various time-series forecasting techniques, such as SVR and MLP, for predicting household electricity consumption.</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SVR and MLP models provide competitive performance for forecasting household electricity consumption.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Offers comparative analysis that can help refine forecasting models using LLMs for global energy prediction.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Support Vector Regression (SVR), Multilayer Perceptron (MLP), and other machine learning models.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Uses MAE, RMSE, and other error metrics for model evaluation.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Provides a thorough comparison of multiple forecasting models, highlighting their strengths and weaknesses.</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Traditional models like SVR and MLP might not perform as well as more modern deep learning models for complex predictions.</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
        <p:nvSpPr>
          <p:cNvPr id="80" name="Google Shape;80;p12"/>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graphicFrame>
        <p:nvGraphicFramePr>
          <p:cNvPr id="85" name="Google Shape;85;p13"/>
          <p:cNvGraphicFramePr/>
          <p:nvPr/>
        </p:nvGraphicFramePr>
        <p:xfrm>
          <a:off x="154337" y="126512"/>
          <a:ext cx="8814250" cy="5218291"/>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974050">
                  <a:extLst>
                    <a:ext uri="{9D8B030D-6E8A-4147-A177-3AD203B41FA5}">
                      <a16:colId xmlns:a16="http://schemas.microsoft.com/office/drawing/2014/main" val="20001"/>
                    </a:ext>
                  </a:extLst>
                </a:gridCol>
                <a:gridCol w="1065200">
                  <a:extLst>
                    <a:ext uri="{9D8B030D-6E8A-4147-A177-3AD203B41FA5}">
                      <a16:colId xmlns:a16="http://schemas.microsoft.com/office/drawing/2014/main" val="20002"/>
                    </a:ext>
                  </a:extLst>
                </a:gridCol>
                <a:gridCol w="1025325">
                  <a:extLst>
                    <a:ext uri="{9D8B030D-6E8A-4147-A177-3AD203B41FA5}">
                      <a16:colId xmlns:a16="http://schemas.microsoft.com/office/drawing/2014/main" val="20003"/>
                    </a:ext>
                  </a:extLst>
                </a:gridCol>
                <a:gridCol w="1186700">
                  <a:extLst>
                    <a:ext uri="{9D8B030D-6E8A-4147-A177-3AD203B41FA5}">
                      <a16:colId xmlns:a16="http://schemas.microsoft.com/office/drawing/2014/main" val="20004"/>
                    </a:ext>
                  </a:extLst>
                </a:gridCol>
                <a:gridCol w="855525">
                  <a:extLst>
                    <a:ext uri="{9D8B030D-6E8A-4147-A177-3AD203B41FA5}">
                      <a16:colId xmlns:a16="http://schemas.microsoft.com/office/drawing/2014/main" val="20005"/>
                    </a:ext>
                  </a:extLst>
                </a:gridCol>
                <a:gridCol w="938750">
                  <a:extLst>
                    <a:ext uri="{9D8B030D-6E8A-4147-A177-3AD203B41FA5}">
                      <a16:colId xmlns:a16="http://schemas.microsoft.com/office/drawing/2014/main" val="20006"/>
                    </a:ext>
                  </a:extLst>
                </a:gridCol>
                <a:gridCol w="1023575">
                  <a:extLst>
                    <a:ext uri="{9D8B030D-6E8A-4147-A177-3AD203B41FA5}">
                      <a16:colId xmlns:a16="http://schemas.microsoft.com/office/drawing/2014/main" val="20007"/>
                    </a:ext>
                  </a:extLst>
                </a:gridCol>
                <a:gridCol w="994250">
                  <a:extLst>
                    <a:ext uri="{9D8B030D-6E8A-4147-A177-3AD203B41FA5}">
                      <a16:colId xmlns:a16="http://schemas.microsoft.com/office/drawing/2014/main" val="20008"/>
                    </a:ext>
                  </a:extLst>
                </a:gridCol>
              </a:tblGrid>
              <a:tr h="622400">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507550">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SN Applied Sciences in 2020.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Aims to predict and schedule energy consumption in smart buildings using machine learning algorithms combined with genetic algorithms.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models (ANN) and genetic algorithms are used for energy prediction and scheduling in smart buildings.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ANN combined with genetic algorithms significantly improves energy consumption predictions and scheduling efficiency.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Relevant for incorporating machine learning algorithms in building energy forecasting, applicable to global energy prediction using LLMs.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Artificial Neural Networks (ANN) combined with Genetic Algorithms for scheduling and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Evaluates performance using standard metrics like MAE, RMSE, and energy savings measures.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Improves prediction accuracy and scheduling efficiency for energy consumption in smart buildings.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high-quality data and computational power for model training.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378350">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April 2023.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Presents a hybrid approach combining statistical and machine learning methods for forecasting national electricity demand.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combining statistical methods and machine learning for electricity demand forecasting in Ukraine.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hybrid approach outperforms traditional methods, providing accurate short-term electricity demand forecasts.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Insights into hybrid forecasting models can be adapted to LLMs for global energy consumption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statistical methods combined with machine learning techniques.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Assesses model accuracy using MAE, RMSE, and error metrics specific to demand forecasting.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provides accurate and reliable electricity demand forecasts.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Hybrid model can be computationally expensive and requires large amounts of data.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3577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Time magazine in December 2024.</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Discusses how AI technologies are integrated into building systems to improve energy efficiency.</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AI-based systems are analyzed for their role in improving energy efficiency in buildings.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 systems enhance building energy efficiency, potentially reducing global energy consumption and carbon emissions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application of AI in energy-efficient buildings aligns with using LLMs for energy consumption forecasting.</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AI-based systems using machine learning techniques for energy management.</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Performance is assessed based on energy savings, system efficiency, and reduced carbon emissions.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 helps in real-time energy optimization, reducing operational costs and carbon footprint</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Implementing AI solutions in buildings can be expensive and requires initial investment in smart technologies.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
        <p:nvSpPr>
          <p:cNvPr id="86" name="Google Shape;86;p13"/>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graphicFrame>
        <p:nvGraphicFramePr>
          <p:cNvPr id="91" name="Google Shape;91;p14"/>
          <p:cNvGraphicFramePr/>
          <p:nvPr/>
        </p:nvGraphicFramePr>
        <p:xfrm>
          <a:off x="154337" y="126512"/>
          <a:ext cx="8814250" cy="5093796"/>
        </p:xfrm>
        <a:graphic>
          <a:graphicData uri="http://schemas.openxmlformats.org/drawingml/2006/table">
            <a:tbl>
              <a:tblPr>
                <a:noFill/>
                <a:tableStyleId>{0EB5F669-19A5-4A0C-AAF8-9CA3CEDFA596}</a:tableStyleId>
              </a:tblPr>
              <a:tblGrid>
                <a:gridCol w="750875">
                  <a:extLst>
                    <a:ext uri="{9D8B030D-6E8A-4147-A177-3AD203B41FA5}">
                      <a16:colId xmlns:a16="http://schemas.microsoft.com/office/drawing/2014/main" val="20000"/>
                    </a:ext>
                  </a:extLst>
                </a:gridCol>
                <a:gridCol w="1029425">
                  <a:extLst>
                    <a:ext uri="{9D8B030D-6E8A-4147-A177-3AD203B41FA5}">
                      <a16:colId xmlns:a16="http://schemas.microsoft.com/office/drawing/2014/main" val="20001"/>
                    </a:ext>
                  </a:extLst>
                </a:gridCol>
                <a:gridCol w="1098425">
                  <a:extLst>
                    <a:ext uri="{9D8B030D-6E8A-4147-A177-3AD203B41FA5}">
                      <a16:colId xmlns:a16="http://schemas.microsoft.com/office/drawing/2014/main" val="20002"/>
                    </a:ext>
                  </a:extLst>
                </a:gridCol>
                <a:gridCol w="1047475">
                  <a:extLst>
                    <a:ext uri="{9D8B030D-6E8A-4147-A177-3AD203B41FA5}">
                      <a16:colId xmlns:a16="http://schemas.microsoft.com/office/drawing/2014/main" val="20003"/>
                    </a:ext>
                  </a:extLst>
                </a:gridCol>
                <a:gridCol w="1131350">
                  <a:extLst>
                    <a:ext uri="{9D8B030D-6E8A-4147-A177-3AD203B41FA5}">
                      <a16:colId xmlns:a16="http://schemas.microsoft.com/office/drawing/2014/main" val="20004"/>
                    </a:ext>
                  </a:extLst>
                </a:gridCol>
                <a:gridCol w="999475">
                  <a:extLst>
                    <a:ext uri="{9D8B030D-6E8A-4147-A177-3AD203B41FA5}">
                      <a16:colId xmlns:a16="http://schemas.microsoft.com/office/drawing/2014/main" val="20005"/>
                    </a:ext>
                  </a:extLst>
                </a:gridCol>
                <a:gridCol w="850150">
                  <a:extLst>
                    <a:ext uri="{9D8B030D-6E8A-4147-A177-3AD203B41FA5}">
                      <a16:colId xmlns:a16="http://schemas.microsoft.com/office/drawing/2014/main" val="20006"/>
                    </a:ext>
                  </a:extLst>
                </a:gridCol>
                <a:gridCol w="912825">
                  <a:extLst>
                    <a:ext uri="{9D8B030D-6E8A-4147-A177-3AD203B41FA5}">
                      <a16:colId xmlns:a16="http://schemas.microsoft.com/office/drawing/2014/main" val="20007"/>
                    </a:ext>
                  </a:extLst>
                </a:gridCol>
                <a:gridCol w="994250">
                  <a:extLst>
                    <a:ext uri="{9D8B030D-6E8A-4147-A177-3AD203B41FA5}">
                      <a16:colId xmlns:a16="http://schemas.microsoft.com/office/drawing/2014/main" val="20008"/>
                    </a:ext>
                  </a:extLst>
                </a:gridCol>
              </a:tblGrid>
              <a:tr h="622400">
                <a:tc>
                  <a:txBody>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Source</a:t>
                      </a:r>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Research Objective or Research Question</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Methodology</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Key Findings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Relevance to Project</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Techniques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Accuracy &amp; Performance Measures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7000"/>
                        </a:lnSpc>
                        <a:spcBef>
                          <a:spcPts val="0"/>
                        </a:spcBef>
                        <a:spcAft>
                          <a:spcPts val="0"/>
                        </a:spcAft>
                        <a:buClr>
                          <a:srgbClr val="000000"/>
                        </a:buClr>
                        <a:buSzPts val="1000"/>
                        <a:buFont typeface="Arial"/>
                        <a:buNone/>
                      </a:pPr>
                      <a:r>
                        <a:rPr lang="en-US" sz="1000" b="1" i="0" u="none" strike="noStrike" cap="none">
                          <a:solidFill>
                            <a:srgbClr val="FFFF00"/>
                          </a:solidFill>
                          <a:latin typeface="Times New Roman"/>
                          <a:ea typeface="Times New Roman"/>
                          <a:cs typeface="Times New Roman"/>
                          <a:sym typeface="Times New Roman"/>
                        </a:rPr>
                        <a:t>Disadvantages</a:t>
                      </a:r>
                      <a:endParaRPr/>
                    </a:p>
                  </a:txBody>
                  <a:tcPr marL="9525" marR="9525" marT="9525" marB="95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1507550">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IEEE Conference Publication in 2023.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Aims to predict energy consumption in urban buildings using machine learning and deep learning techniques, considering multiple factors.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Combines machine learning and deep learning models with environmental and occupancy data for urban energy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and deep learning provide accurate energy consumption predictions in urban areas.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Offers a novel approach integrating deep learning and environmental data for energy prediction, which can inspire LLM-based global energy forecasting.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Machine learning and deep learning (e.g., ANN, CNN) for energy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Evaluates prediction accuracy using standard metrics like MAE, RMSE, and R-squared.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Combines multiple data types to enhance prediction accuracy for urban energy systems.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Requires large amounts of data and computational resources, particularly for urban scenarios.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r h="127867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Published in IET Conference Publication in 2024.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Focuses on using LSTM networks for energy consumption prediction based on time series data and AI-driven models.</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Utilizes time series data analysis with LSTM models to predict energy consumption, employing normalization and missing value techniques.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networks enhance energy prediction accuracy by capturing temporal dependencies in time series data.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Deep learning models like LSTM can be adapted for time-series energy consumption forecasting in your project.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Long Short-Term Memory (LSTM) models for time series data analysis and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Accuracy is evaluated through MAE, RMSE, and error metrics for time-series prediction.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networks are highly effective for capturing temporal dependencies, leading to better accuracy.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LSTM models require extensive data for training and can be computationally intensive.	</a:t>
                      </a:r>
                      <a:endParaRPr sz="900"/>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DFD"/>
                    </a:solidFill>
                  </a:tcPr>
                </a:tc>
                <a:extLst>
                  <a:ext uri="{0D108BD9-81ED-4DB2-BD59-A6C34878D82A}">
                    <a16:rowId xmlns:a16="http://schemas.microsoft.com/office/drawing/2014/main" val="10002"/>
                  </a:ext>
                </a:extLst>
              </a:tr>
              <a:tr h="1357725">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Available on arXiv in July 2024.</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Proposes a CNN-BiGRU model for cloud computing energy consumption prediction, optimized using the Horned Lizard Algorithm.</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Uses a regression algorithm optimized by the Horned Lizard Algorithm to train a CNN-BiGRU model for energy consumption forecasting in cloud computing.</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CNN-BiGRU model optimized by the Horned Lizard Algorithm outperforms traditional models in cloud energy consumption prediction.</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hybrid CNN-BiGRU model provides insights for using advanced deep learning techniques for energy prediction, relevant to fine-tuning LLM models.</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Convolutional Neural Network (CNN) combined with Bi-directional Gated Recurrent Unit (BiGRU) for energy prediction in cloud computing.</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Performance is evaluated with metrics like RMSE and MAE for energy consumption prediction in cloud computing.</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hybrid CNN-BiGRU model provides enhanced accuracy in cloud energy consumption prediction.</a:t>
                      </a:r>
                      <a:endParaRPr sz="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700"/>
                        <a:buFont typeface="Arial"/>
                        <a:buNone/>
                      </a:pP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marR="0" lvl="0" indent="0" algn="l" rtl="0">
                        <a:lnSpc>
                          <a:spcPct val="100000"/>
                        </a:lnSpc>
                        <a:spcBef>
                          <a:spcPts val="0"/>
                        </a:spcBef>
                        <a:spcAft>
                          <a:spcPts val="0"/>
                        </a:spcAft>
                        <a:buClr>
                          <a:srgbClr val="000000"/>
                        </a:buClr>
                        <a:buSzPts val="700"/>
                        <a:buFont typeface="Arial"/>
                        <a:buNone/>
                      </a:pPr>
                      <a:r>
                        <a:rPr lang="en-US" sz="900">
                          <a:latin typeface="Times New Roman"/>
                          <a:ea typeface="Times New Roman"/>
                          <a:cs typeface="Times New Roman"/>
                          <a:sym typeface="Times New Roman"/>
                        </a:rPr>
                        <a:t>The model requires complex optimization techniques and significant computational resources for training.</a:t>
                      </a:r>
                      <a:endParaRPr sz="90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3"/>
                  </a:ext>
                </a:extLst>
              </a:tr>
            </a:tbl>
          </a:graphicData>
        </a:graphic>
      </p:graphicFrame>
      <p:sp>
        <p:nvSpPr>
          <p:cNvPr id="92" name="Google Shape;92;p14"/>
          <p:cNvSpPr txBox="1">
            <a:spLocks noGrp="1"/>
          </p:cNvSpPr>
          <p:nvPr>
            <p:ph type="sldNum" idx="12"/>
          </p:nvPr>
        </p:nvSpPr>
        <p:spPr>
          <a:xfrm>
            <a:off x="8472487" y="4662487"/>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Research Gaps</a:t>
            </a:r>
            <a:endParaRPr/>
          </a:p>
        </p:txBody>
      </p:sp>
      <p:sp>
        <p:nvSpPr>
          <p:cNvPr id="98" name="Google Shape;98;p15"/>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11</a:t>
            </a:fld>
            <a:endParaRPr/>
          </a:p>
        </p:txBody>
      </p:sp>
      <p:sp>
        <p:nvSpPr>
          <p:cNvPr id="99" name="Google Shape;99;p15"/>
          <p:cNvSpPr txBox="1"/>
          <p:nvPr/>
        </p:nvSpPr>
        <p:spPr>
          <a:xfrm>
            <a:off x="237200" y="685800"/>
            <a:ext cx="8666400" cy="3976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b="1">
                <a:latin typeface="Times New Roman"/>
                <a:ea typeface="Times New Roman"/>
                <a:cs typeface="Times New Roman"/>
                <a:sym typeface="Times New Roman"/>
              </a:rPr>
              <a:t>Data Quality and Availability:</a:t>
            </a:r>
            <a:r>
              <a:rPr lang="en-US" sz="1900">
                <a:latin typeface="Times New Roman"/>
                <a:ea typeface="Times New Roman"/>
                <a:cs typeface="Times New Roman"/>
                <a:sym typeface="Times New Roman"/>
              </a:rPr>
              <a:t> Many studies rely on limited or incomplete datasets, which may not capture the full range of factors affecting energy consumption.</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Complexity of Hybrid Models:</a:t>
            </a:r>
            <a:r>
              <a:rPr lang="en-US" sz="1900">
                <a:latin typeface="Times New Roman"/>
                <a:ea typeface="Times New Roman"/>
                <a:cs typeface="Times New Roman"/>
                <a:sym typeface="Times New Roman"/>
              </a:rPr>
              <a:t> Combining multiple forecasting models can lead to overly complex systems that are difficult to deploy and maintain in real-world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Data Dependency: </a:t>
            </a:r>
            <a:r>
              <a:rPr lang="en-US" sz="1900">
                <a:latin typeface="Times New Roman"/>
                <a:ea typeface="Times New Roman"/>
                <a:cs typeface="Times New Roman"/>
                <a:sym typeface="Times New Roman"/>
              </a:rPr>
              <a:t>Deep learning models require large amounts of high-quality data for training, which may not always be available in every setting.</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Data Consistency:</a:t>
            </a:r>
            <a:r>
              <a:rPr lang="en-US" sz="1900">
                <a:latin typeface="Times New Roman"/>
                <a:ea typeface="Times New Roman"/>
                <a:cs typeface="Times New Roman"/>
                <a:sym typeface="Times New Roman"/>
              </a:rPr>
              <a:t> Real-world data on energy consumption can be inconsistent, which affects the performance of machine learning models.</a:t>
            </a:r>
            <a:endParaRPr sz="19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p:nvPr/>
        </p:nvSpPr>
        <p:spPr>
          <a:xfrm>
            <a:off x="237200" y="685800"/>
            <a:ext cx="8666400" cy="3976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b="1">
                <a:latin typeface="Times New Roman"/>
                <a:ea typeface="Times New Roman"/>
                <a:cs typeface="Times New Roman"/>
                <a:sym typeface="Times New Roman"/>
              </a:rPr>
              <a:t>Model Complexity:</a:t>
            </a:r>
            <a:r>
              <a:rPr lang="en-US" sz="1900">
                <a:latin typeface="Times New Roman"/>
                <a:ea typeface="Times New Roman"/>
                <a:cs typeface="Times New Roman"/>
                <a:sym typeface="Times New Roman"/>
              </a:rPr>
              <a:t> LSTM models, while powerful, are computationally expensive and require significant resources, making them challenging for real-time applications.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Long-Term Prediction:</a:t>
            </a:r>
            <a:r>
              <a:rPr lang="en-US" sz="1900">
                <a:latin typeface="Times New Roman"/>
                <a:ea typeface="Times New Roman"/>
                <a:cs typeface="Times New Roman"/>
                <a:sym typeface="Times New Roman"/>
              </a:rPr>
              <a:t> The models used face uncertainty in projecting long-term energy consumption impacts due to the unpredictability of future climate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Overfitting:</a:t>
            </a:r>
            <a:r>
              <a:rPr lang="en-US" sz="1900">
                <a:latin typeface="Times New Roman"/>
                <a:ea typeface="Times New Roman"/>
                <a:cs typeface="Times New Roman"/>
                <a:sym typeface="Times New Roman"/>
              </a:rPr>
              <a:t> Short-term models, such as LSTM and GRU, are prone to overfitting when trained on limited data, reducing their generalizability to new or unseen scenarios.</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b="1">
                <a:latin typeface="Times New Roman"/>
                <a:ea typeface="Times New Roman"/>
                <a:cs typeface="Times New Roman"/>
                <a:sym typeface="Times New Roman"/>
              </a:rPr>
              <a:t>Integration with Real-World Systems:</a:t>
            </a:r>
            <a:r>
              <a:rPr lang="en-US" sz="1900">
                <a:latin typeface="Times New Roman"/>
                <a:ea typeface="Times New Roman"/>
                <a:cs typeface="Times New Roman"/>
                <a:sym typeface="Times New Roman"/>
              </a:rPr>
              <a:t> The proposed models may not integrate easily into existing building management systems, making practical implementation challenging.</a:t>
            </a:r>
            <a:endParaRPr sz="1900">
              <a:latin typeface="Times New Roman"/>
              <a:ea typeface="Times New Roman"/>
              <a:cs typeface="Times New Roman"/>
              <a:sym typeface="Times New Roman"/>
            </a:endParaRPr>
          </a:p>
        </p:txBody>
      </p:sp>
      <p:sp>
        <p:nvSpPr>
          <p:cNvPr id="105" name="Google Shape;105;p16"/>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Research Gaps</a:t>
            </a:r>
            <a:endParaRPr/>
          </a:p>
        </p:txBody>
      </p:sp>
      <p:sp>
        <p:nvSpPr>
          <p:cNvPr id="106" name="Google Shape;106;p16"/>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Problem Statement</a:t>
            </a:r>
            <a:endParaRPr/>
          </a:p>
        </p:txBody>
      </p:sp>
      <p:sp>
        <p:nvSpPr>
          <p:cNvPr id="112" name="Google Shape;112;p17"/>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13</a:t>
            </a:fld>
            <a:endParaRPr/>
          </a:p>
        </p:txBody>
      </p:sp>
      <p:sp>
        <p:nvSpPr>
          <p:cNvPr id="113" name="Google Shape;113;p17"/>
          <p:cNvSpPr txBox="1"/>
          <p:nvPr/>
        </p:nvSpPr>
        <p:spPr>
          <a:xfrm>
            <a:off x="331150" y="803225"/>
            <a:ext cx="8454900" cy="39105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sz="1900">
                <a:latin typeface="Times New Roman"/>
                <a:ea typeface="Times New Roman"/>
                <a:cs typeface="Times New Roman"/>
                <a:sym typeface="Times New Roman"/>
              </a:rPr>
              <a:t>For efficient energy management and policy making, it is essential to accurately forecast changes in global energy use. The complex, non-linear patterns of energy use are frequently difficult for traditional forecasting techniques to capture. By integrating historical data and several contributing factors, this research seeks to improve energy consumption projections through the use of time series analysis and refined Large Language Models (LLMs). The objective is to create a more accurate and dependable model that will help policymakers and energy providers around the world make well-informed decisions.</a:t>
            </a:r>
            <a:endParaRPr sz="19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ctrTitle"/>
          </p:nvPr>
        </p:nvSpPr>
        <p:spPr>
          <a:xfrm>
            <a:off x="0"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Objectives</a:t>
            </a:r>
            <a:endParaRPr/>
          </a:p>
        </p:txBody>
      </p:sp>
      <p:sp>
        <p:nvSpPr>
          <p:cNvPr id="119" name="Google Shape;119;p18"/>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14</a:t>
            </a:fld>
            <a:endParaRPr/>
          </a:p>
        </p:txBody>
      </p:sp>
      <p:sp>
        <p:nvSpPr>
          <p:cNvPr id="120" name="Google Shape;120;p18"/>
          <p:cNvSpPr txBox="1"/>
          <p:nvPr/>
        </p:nvSpPr>
        <p:spPr>
          <a:xfrm>
            <a:off x="385500" y="544875"/>
            <a:ext cx="8373000" cy="423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b="1" dirty="0">
                <a:latin typeface="Times New Roman"/>
                <a:ea typeface="Times New Roman"/>
                <a:cs typeface="Times New Roman"/>
                <a:sym typeface="Times New Roman"/>
              </a:rPr>
              <a:t>To Develop a predictive model</a:t>
            </a:r>
            <a:r>
              <a:rPr lang="en-US" sz="1900" dirty="0">
                <a:latin typeface="Times New Roman"/>
                <a:ea typeface="Times New Roman"/>
                <a:cs typeface="Times New Roman"/>
                <a:sym typeface="Times New Roman"/>
              </a:rPr>
              <a:t> for global energy consumption trends using time series analysis and fine-tuned Large Language Models (LLMs).</a:t>
            </a:r>
            <a:endParaRPr sz="1900" dirty="0">
              <a:latin typeface="Times New Roman"/>
              <a:ea typeface="Times New Roman"/>
              <a:cs typeface="Times New Roman"/>
              <a:sym typeface="Times New Roman"/>
            </a:endParaRPr>
          </a:p>
          <a:p>
            <a:pPr marL="0" lvl="0" indent="0" algn="l" rtl="0">
              <a:spcBef>
                <a:spcPts val="0"/>
              </a:spcBef>
              <a:spcAft>
                <a:spcPts val="0"/>
              </a:spcAft>
              <a:buNone/>
            </a:pPr>
            <a:endParaRPr sz="1900" dirty="0">
              <a:latin typeface="Times New Roman"/>
              <a:ea typeface="Times New Roman"/>
              <a:cs typeface="Times New Roman"/>
              <a:sym typeface="Times New Roman"/>
            </a:endParaRPr>
          </a:p>
          <a:p>
            <a:pPr marL="0" lvl="0" indent="0" algn="l" rtl="0">
              <a:spcBef>
                <a:spcPts val="0"/>
              </a:spcBef>
              <a:spcAft>
                <a:spcPts val="0"/>
              </a:spcAft>
              <a:buNone/>
            </a:pPr>
            <a:r>
              <a:rPr lang="en-US" sz="1900" b="1" dirty="0">
                <a:solidFill>
                  <a:schemeClr val="dk1"/>
                </a:solidFill>
                <a:latin typeface="Times New Roman"/>
                <a:ea typeface="Times New Roman"/>
                <a:cs typeface="Times New Roman"/>
                <a:sym typeface="Times New Roman"/>
              </a:rPr>
              <a:t>To </a:t>
            </a:r>
            <a:r>
              <a:rPr lang="en-US" sz="1900" b="1" dirty="0">
                <a:latin typeface="Times New Roman"/>
                <a:ea typeface="Times New Roman"/>
                <a:cs typeface="Times New Roman"/>
                <a:sym typeface="Times New Roman"/>
              </a:rPr>
              <a:t>Integrate multiple data sources</a:t>
            </a:r>
            <a:r>
              <a:rPr lang="en-US" sz="1900" dirty="0">
                <a:latin typeface="Times New Roman"/>
                <a:ea typeface="Times New Roman"/>
                <a:cs typeface="Times New Roman"/>
                <a:sym typeface="Times New Roman"/>
              </a:rPr>
              <a:t> including historical energy consumption data, socio-economic factors, and environmental variables to improve model accuracy.</a:t>
            </a:r>
            <a:endParaRPr sz="1900" dirty="0">
              <a:latin typeface="Times New Roman"/>
              <a:ea typeface="Times New Roman"/>
              <a:cs typeface="Times New Roman"/>
              <a:sym typeface="Times New Roman"/>
            </a:endParaRPr>
          </a:p>
          <a:p>
            <a:pPr marL="0" lvl="0" indent="0" algn="l" rtl="0">
              <a:spcBef>
                <a:spcPts val="0"/>
              </a:spcBef>
              <a:spcAft>
                <a:spcPts val="0"/>
              </a:spcAft>
              <a:buNone/>
            </a:pPr>
            <a:endParaRPr sz="1900" dirty="0">
              <a:latin typeface="Times New Roman"/>
              <a:ea typeface="Times New Roman"/>
              <a:cs typeface="Times New Roman"/>
              <a:sym typeface="Times New Roman"/>
            </a:endParaRPr>
          </a:p>
          <a:p>
            <a:pPr marL="0" lvl="0" indent="0" algn="l" rtl="0">
              <a:spcBef>
                <a:spcPts val="0"/>
              </a:spcBef>
              <a:spcAft>
                <a:spcPts val="0"/>
              </a:spcAft>
              <a:buNone/>
            </a:pPr>
            <a:r>
              <a:rPr lang="en-US" sz="1900" b="1" dirty="0">
                <a:solidFill>
                  <a:schemeClr val="dk1"/>
                </a:solidFill>
                <a:latin typeface="Times New Roman"/>
                <a:ea typeface="Times New Roman"/>
                <a:cs typeface="Times New Roman"/>
                <a:sym typeface="Times New Roman"/>
              </a:rPr>
              <a:t>To </a:t>
            </a:r>
            <a:r>
              <a:rPr lang="en-US" sz="1900" b="1" dirty="0">
                <a:latin typeface="Times New Roman"/>
                <a:ea typeface="Times New Roman"/>
                <a:cs typeface="Times New Roman"/>
                <a:sym typeface="Times New Roman"/>
              </a:rPr>
              <a:t>Evaluate the performance</a:t>
            </a:r>
            <a:r>
              <a:rPr lang="en-US" sz="1900" dirty="0">
                <a:latin typeface="Times New Roman"/>
                <a:ea typeface="Times New Roman"/>
                <a:cs typeface="Times New Roman"/>
                <a:sym typeface="Times New Roman"/>
              </a:rPr>
              <a:t> of the proposed model by comparing it with traditional energy forecasting techniques in terms of accuracy and efficiency.</a:t>
            </a:r>
            <a:endParaRPr sz="1900" dirty="0">
              <a:latin typeface="Times New Roman"/>
              <a:ea typeface="Times New Roman"/>
              <a:cs typeface="Times New Roman"/>
              <a:sym typeface="Times New Roman"/>
            </a:endParaRPr>
          </a:p>
          <a:p>
            <a:pPr marL="0" lvl="0" indent="0" algn="l" rtl="0">
              <a:spcBef>
                <a:spcPts val="0"/>
              </a:spcBef>
              <a:spcAft>
                <a:spcPts val="0"/>
              </a:spcAft>
              <a:buNone/>
            </a:pPr>
            <a:endParaRPr sz="1900" dirty="0">
              <a:latin typeface="Times New Roman"/>
              <a:ea typeface="Times New Roman"/>
              <a:cs typeface="Times New Roman"/>
              <a:sym typeface="Times New Roman"/>
            </a:endParaRPr>
          </a:p>
          <a:p>
            <a:pPr marL="0" lvl="0" indent="0" algn="l" rtl="0">
              <a:spcBef>
                <a:spcPts val="0"/>
              </a:spcBef>
              <a:spcAft>
                <a:spcPts val="0"/>
              </a:spcAft>
              <a:buNone/>
            </a:pPr>
            <a:r>
              <a:rPr lang="en-US" sz="1900" b="1" dirty="0">
                <a:solidFill>
                  <a:schemeClr val="dk1"/>
                </a:solidFill>
                <a:latin typeface="Times New Roman"/>
                <a:ea typeface="Times New Roman"/>
                <a:cs typeface="Times New Roman"/>
                <a:sym typeface="Times New Roman"/>
              </a:rPr>
              <a:t>To </a:t>
            </a:r>
            <a:r>
              <a:rPr lang="en-US" sz="1900" b="1" dirty="0">
                <a:latin typeface="Times New Roman"/>
                <a:ea typeface="Times New Roman"/>
                <a:cs typeface="Times New Roman"/>
                <a:sym typeface="Times New Roman"/>
              </a:rPr>
              <a:t>Identify key factors</a:t>
            </a:r>
            <a:r>
              <a:rPr lang="en-US" sz="1900" dirty="0">
                <a:latin typeface="Times New Roman"/>
                <a:ea typeface="Times New Roman"/>
                <a:cs typeface="Times New Roman"/>
                <a:sym typeface="Times New Roman"/>
              </a:rPr>
              <a:t> influencing global energy consumption patterns and integrate them into the predictive framework.</a:t>
            </a:r>
            <a:endParaRPr sz="1900" dirty="0">
              <a:latin typeface="Times New Roman"/>
              <a:ea typeface="Times New Roman"/>
              <a:cs typeface="Times New Roman"/>
              <a:sym typeface="Times New Roman"/>
            </a:endParaRPr>
          </a:p>
          <a:p>
            <a:pPr marL="0" lvl="0" indent="0" algn="l" rtl="0">
              <a:spcBef>
                <a:spcPts val="0"/>
              </a:spcBef>
              <a:spcAft>
                <a:spcPts val="0"/>
              </a:spcAft>
              <a:buNone/>
            </a:pPr>
            <a:endParaRPr sz="1900" dirty="0">
              <a:latin typeface="Times New Roman"/>
              <a:ea typeface="Times New Roman"/>
              <a:cs typeface="Times New Roman"/>
              <a:sym typeface="Times New Roman"/>
            </a:endParaRPr>
          </a:p>
          <a:p>
            <a:pPr marL="0" lvl="0" indent="0" algn="l" rtl="0">
              <a:spcBef>
                <a:spcPts val="0"/>
              </a:spcBef>
              <a:spcAft>
                <a:spcPts val="0"/>
              </a:spcAft>
              <a:buNone/>
            </a:pPr>
            <a:r>
              <a:rPr lang="en-US" sz="1900" b="1" dirty="0">
                <a:solidFill>
                  <a:schemeClr val="dk1"/>
                </a:solidFill>
                <a:latin typeface="Times New Roman"/>
                <a:ea typeface="Times New Roman"/>
                <a:cs typeface="Times New Roman"/>
                <a:sym typeface="Times New Roman"/>
              </a:rPr>
              <a:t>To </a:t>
            </a:r>
            <a:r>
              <a:rPr lang="en-US" sz="1900" b="1" dirty="0">
                <a:latin typeface="Times New Roman"/>
                <a:ea typeface="Times New Roman"/>
                <a:cs typeface="Times New Roman"/>
                <a:sym typeface="Times New Roman"/>
              </a:rPr>
              <a:t>Provide actionable insights</a:t>
            </a:r>
            <a:r>
              <a:rPr lang="en-US" sz="1900" dirty="0">
                <a:latin typeface="Times New Roman"/>
                <a:ea typeface="Times New Roman"/>
                <a:cs typeface="Times New Roman"/>
                <a:sym typeface="Times New Roman"/>
              </a:rPr>
              <a:t> for energy policymakers and businesses to better manage energy resources and anticipate future demand.</a:t>
            </a:r>
            <a:endParaRPr sz="1900"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3" name="Picture 2">
            <a:extLst>
              <a:ext uri="{FF2B5EF4-FFF2-40B4-BE49-F238E27FC236}">
                <a16:creationId xmlns:a16="http://schemas.microsoft.com/office/drawing/2014/main" id="{A862DDAD-E841-4871-2C9E-198173C57966}"/>
              </a:ext>
            </a:extLst>
          </p:cNvPr>
          <p:cNvPicPr>
            <a:picLocks noChangeAspect="1"/>
          </p:cNvPicPr>
          <p:nvPr/>
        </p:nvPicPr>
        <p:blipFill>
          <a:blip r:embed="rId3"/>
          <a:stretch>
            <a:fillRect/>
          </a:stretch>
        </p:blipFill>
        <p:spPr>
          <a:xfrm>
            <a:off x="0" y="343"/>
            <a:ext cx="9144000" cy="5142814"/>
          </a:xfrm>
          <a:prstGeom prst="rect">
            <a:avLst/>
          </a:prstGeom>
        </p:spPr>
      </p:pic>
      <p:sp>
        <p:nvSpPr>
          <p:cNvPr id="126" name="Google Shape;126;p19"/>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0"/>
          <p:cNvPicPr preferRelativeResize="0"/>
          <p:nvPr/>
        </p:nvPicPr>
        <p:blipFill>
          <a:blip r:embed="rId3">
            <a:alphaModFix/>
          </a:blip>
          <a:stretch>
            <a:fillRect/>
          </a:stretch>
        </p:blipFill>
        <p:spPr>
          <a:xfrm>
            <a:off x="-24800" y="-35050"/>
            <a:ext cx="9193575" cy="5205749"/>
          </a:xfrm>
          <a:prstGeom prst="rect">
            <a:avLst/>
          </a:prstGeom>
          <a:noFill/>
          <a:ln>
            <a:noFill/>
          </a:ln>
        </p:spPr>
      </p:pic>
      <p:sp>
        <p:nvSpPr>
          <p:cNvPr id="132" name="Google Shape;132;p20"/>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21"/>
          <p:cNvPicPr preferRelativeResize="0"/>
          <p:nvPr/>
        </p:nvPicPr>
        <p:blipFill>
          <a:blip r:embed="rId3">
            <a:alphaModFix/>
          </a:blip>
          <a:stretch>
            <a:fillRect/>
          </a:stretch>
        </p:blipFill>
        <p:spPr>
          <a:xfrm>
            <a:off x="-53025" y="-84450"/>
            <a:ext cx="9197100" cy="5228100"/>
          </a:xfrm>
          <a:prstGeom prst="rect">
            <a:avLst/>
          </a:prstGeom>
          <a:noFill/>
          <a:ln>
            <a:noFill/>
          </a:ln>
        </p:spPr>
      </p:pic>
      <p:sp>
        <p:nvSpPr>
          <p:cNvPr id="138" name="Google Shape;138;p21"/>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ctrTitle"/>
          </p:nvPr>
        </p:nvSpPr>
        <p:spPr>
          <a:xfrm>
            <a:off x="0" y="-682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Software and Hardware Requirements</a:t>
            </a:r>
            <a:endParaRPr/>
          </a:p>
        </p:txBody>
      </p:sp>
      <p:sp>
        <p:nvSpPr>
          <p:cNvPr id="144" name="Google Shape;144;p2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18</a:t>
            </a:fld>
            <a:endParaRPr/>
          </a:p>
        </p:txBody>
      </p:sp>
      <p:graphicFrame>
        <p:nvGraphicFramePr>
          <p:cNvPr id="145" name="Google Shape;145;p22"/>
          <p:cNvGraphicFramePr/>
          <p:nvPr>
            <p:extLst>
              <p:ext uri="{D42A27DB-BD31-4B8C-83A1-F6EECF244321}">
                <p14:modId xmlns:p14="http://schemas.microsoft.com/office/powerpoint/2010/main" val="1949943787"/>
              </p:ext>
            </p:extLst>
          </p:nvPr>
        </p:nvGraphicFramePr>
        <p:xfrm>
          <a:off x="358325" y="581012"/>
          <a:ext cx="8427350" cy="4349610"/>
        </p:xfrm>
        <a:graphic>
          <a:graphicData uri="http://schemas.openxmlformats.org/drawingml/2006/table">
            <a:tbl>
              <a:tblPr>
                <a:noFill/>
                <a:tableStyleId>{0EB5F669-19A5-4A0C-AAF8-9CA3CEDFA596}</a:tableStyleId>
              </a:tblPr>
              <a:tblGrid>
                <a:gridCol w="4298075">
                  <a:extLst>
                    <a:ext uri="{9D8B030D-6E8A-4147-A177-3AD203B41FA5}">
                      <a16:colId xmlns:a16="http://schemas.microsoft.com/office/drawing/2014/main" val="20000"/>
                    </a:ext>
                  </a:extLst>
                </a:gridCol>
                <a:gridCol w="4129275">
                  <a:extLst>
                    <a:ext uri="{9D8B030D-6E8A-4147-A177-3AD203B41FA5}">
                      <a16:colId xmlns:a16="http://schemas.microsoft.com/office/drawing/2014/main" val="20001"/>
                    </a:ext>
                  </a:extLst>
                </a:gridCol>
              </a:tblGrid>
              <a:tr h="364775">
                <a:tc>
                  <a:txBody>
                    <a:bodyPr/>
                    <a:lstStyle/>
                    <a:p>
                      <a:pPr marL="0" marR="0" lvl="0" indent="0" algn="ctr" rtl="0">
                        <a:lnSpc>
                          <a:spcPct val="100000"/>
                        </a:lnSpc>
                        <a:spcBef>
                          <a:spcPts val="0"/>
                        </a:spcBef>
                        <a:spcAft>
                          <a:spcPts val="0"/>
                        </a:spcAft>
                        <a:buClr>
                          <a:srgbClr val="000000"/>
                        </a:buClr>
                        <a:buSzPts val="1400"/>
                        <a:buFont typeface="Arial"/>
                        <a:buNone/>
                      </a:pPr>
                      <a:r>
                        <a:rPr lang="en-US" sz="1900" b="1" i="0" u="none" strike="noStrike" cap="none">
                          <a:solidFill>
                            <a:schemeClr val="lt1"/>
                          </a:solidFill>
                          <a:latin typeface="Times New Roman"/>
                          <a:ea typeface="Times New Roman"/>
                          <a:cs typeface="Times New Roman"/>
                          <a:sym typeface="Times New Roman"/>
                        </a:rPr>
                        <a:t>SOFTWARE</a:t>
                      </a:r>
                      <a:endParaRPr sz="1900">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900" b="1" i="0" u="none" strike="noStrike" cap="none">
                          <a:solidFill>
                            <a:schemeClr val="lt1"/>
                          </a:solidFill>
                          <a:latin typeface="Times New Roman"/>
                          <a:ea typeface="Times New Roman"/>
                          <a:cs typeface="Times New Roman"/>
                          <a:sym typeface="Times New Roman"/>
                        </a:rPr>
                        <a:t>HARDWARE</a:t>
                      </a:r>
                      <a:endParaRPr sz="1900">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968600">
                <a:tc>
                  <a:txBody>
                    <a:bodyPr/>
                    <a:lstStyle/>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Operating System</a:t>
                      </a:r>
                      <a:r>
                        <a:rPr lang="en-US" sz="1900" dirty="0">
                          <a:solidFill>
                            <a:schemeClr val="dk1"/>
                          </a:solidFill>
                          <a:latin typeface="Times New Roman"/>
                          <a:ea typeface="Times New Roman"/>
                          <a:cs typeface="Times New Roman"/>
                          <a:sym typeface="Times New Roman"/>
                        </a:rPr>
                        <a:t>: Windows 10/11, macOS, or Linux (Ubuntu preferred)</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Programming Languages</a:t>
                      </a:r>
                      <a:r>
                        <a:rPr lang="en-US" sz="1900" dirty="0">
                          <a:solidFill>
                            <a:schemeClr val="dk1"/>
                          </a:solidFill>
                          <a:latin typeface="Times New Roman"/>
                          <a:ea typeface="Times New Roman"/>
                          <a:cs typeface="Times New Roman"/>
                          <a:sym typeface="Times New Roman"/>
                        </a:rPr>
                        <a:t>: Python (preferred), R (optional for statistical modeling)</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b="1" dirty="0">
                          <a:solidFill>
                            <a:schemeClr val="dk1"/>
                          </a:solidFill>
                          <a:latin typeface="Times New Roman"/>
                          <a:ea typeface="Times New Roman"/>
                          <a:cs typeface="Times New Roman"/>
                          <a:sym typeface="Times New Roman"/>
                        </a:rPr>
                        <a:t>Libraries &amp; Frameworks</a:t>
                      </a:r>
                      <a:r>
                        <a:rPr lang="en-US" sz="1900" dirty="0">
                          <a:solidFill>
                            <a:schemeClr val="dk1"/>
                          </a:solidFill>
                          <a:latin typeface="Times New Roman"/>
                          <a:ea typeface="Times New Roman"/>
                          <a:cs typeface="Times New Roman"/>
                          <a:sym typeface="Times New Roman"/>
                        </a:rPr>
                        <a:t>:</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Time Series Analysis: </a:t>
                      </a:r>
                      <a:r>
                        <a:rPr lang="en-US" sz="1900" dirty="0" err="1">
                          <a:solidFill>
                            <a:schemeClr val="dk1"/>
                          </a:solidFill>
                          <a:latin typeface="Times New Roman"/>
                          <a:ea typeface="Times New Roman"/>
                          <a:cs typeface="Times New Roman"/>
                          <a:sym typeface="Times New Roman"/>
                        </a:rPr>
                        <a:t>statsmodels</a:t>
                      </a:r>
                      <a:r>
                        <a:rPr lang="en-US" sz="1900" dirty="0">
                          <a:solidFill>
                            <a:schemeClr val="dk1"/>
                          </a:solidFill>
                          <a:latin typeface="Times New Roman"/>
                          <a:ea typeface="Times New Roman"/>
                          <a:cs typeface="Times New Roman"/>
                          <a:sym typeface="Times New Roman"/>
                        </a:rPr>
                        <a:t>, prophet (LSTM)</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Machine Learning: </a:t>
                      </a:r>
                      <a:r>
                        <a:rPr lang="en-US" sz="1900" dirty="0" err="1">
                          <a:solidFill>
                            <a:schemeClr val="dk1"/>
                          </a:solidFill>
                          <a:latin typeface="Times New Roman"/>
                          <a:ea typeface="Times New Roman"/>
                          <a:cs typeface="Times New Roman"/>
                          <a:sym typeface="Times New Roman"/>
                        </a:rPr>
                        <a:t>tensorflow</a:t>
                      </a:r>
                      <a:r>
                        <a:rPr lang="en-US" sz="1900" dirty="0">
                          <a:solidFill>
                            <a:schemeClr val="dk1"/>
                          </a:solidFill>
                          <a:latin typeface="Times New Roman"/>
                          <a:ea typeface="Times New Roman"/>
                          <a:cs typeface="Times New Roman"/>
                          <a:sym typeface="Times New Roman"/>
                        </a:rPr>
                        <a:t>, torch</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Data Processing: pandas, </a:t>
                      </a:r>
                      <a:r>
                        <a:rPr lang="en-US" sz="1900" dirty="0" err="1">
                          <a:solidFill>
                            <a:schemeClr val="dk1"/>
                          </a:solidFill>
                          <a:latin typeface="Times New Roman"/>
                          <a:ea typeface="Times New Roman"/>
                          <a:cs typeface="Times New Roman"/>
                          <a:sym typeface="Times New Roman"/>
                        </a:rPr>
                        <a:t>numpy</a:t>
                      </a:r>
                      <a:r>
                        <a:rPr lang="en-US" sz="1900" dirty="0">
                          <a:solidFill>
                            <a:schemeClr val="dk1"/>
                          </a:solidFill>
                          <a:latin typeface="Times New Roman"/>
                          <a:ea typeface="Times New Roman"/>
                          <a:cs typeface="Times New Roman"/>
                          <a:sym typeface="Times New Roman"/>
                        </a:rPr>
                        <a:t>, matplotlib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dirty="0">
                          <a:solidFill>
                            <a:schemeClr val="dk1"/>
                          </a:solidFill>
                          <a:latin typeface="Times New Roman"/>
                          <a:ea typeface="Times New Roman"/>
                          <a:cs typeface="Times New Roman"/>
                          <a:sym typeface="Times New Roman"/>
                        </a:rPr>
                        <a:t>LLM Fine-Tuning &amp; Inference: transformers, </a:t>
                      </a:r>
                      <a:r>
                        <a:rPr lang="en-US" sz="1900" dirty="0" err="1">
                          <a:solidFill>
                            <a:schemeClr val="dk1"/>
                          </a:solidFill>
                          <a:latin typeface="Times New Roman"/>
                          <a:ea typeface="Times New Roman"/>
                          <a:cs typeface="Times New Roman"/>
                          <a:sym typeface="Times New Roman"/>
                        </a:rPr>
                        <a:t>bitsAndBytes</a:t>
                      </a:r>
                      <a:r>
                        <a:rPr lang="en-US" sz="1900" dirty="0">
                          <a:solidFill>
                            <a:schemeClr val="dk1"/>
                          </a:solidFill>
                          <a:latin typeface="Times New Roman"/>
                          <a:ea typeface="Times New Roman"/>
                          <a:cs typeface="Times New Roman"/>
                          <a:sym typeface="Times New Roman"/>
                        </a:rPr>
                        <a:t>, accelerate</a:t>
                      </a:r>
                      <a:endParaRPr sz="1900" dirty="0">
                        <a:solidFill>
                          <a:schemeClr val="dk1"/>
                        </a:solidFill>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tc>
                  <a:txBody>
                    <a:bodyPr/>
                    <a:lstStyle/>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CPU</a:t>
                      </a:r>
                      <a:r>
                        <a:rPr lang="en-US" sz="1900" dirty="0">
                          <a:solidFill>
                            <a:schemeClr val="dk1"/>
                          </a:solidFill>
                          <a:latin typeface="Times New Roman"/>
                          <a:ea typeface="Times New Roman"/>
                          <a:cs typeface="Times New Roman"/>
                          <a:sym typeface="Times New Roman"/>
                        </a:rPr>
                        <a:t>: Intel Core i7/i9 (12th Gen or later) or AMD Ryzen 7/9 (5000 series or later)</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RAM</a:t>
                      </a:r>
                      <a:r>
                        <a:rPr lang="en-US" sz="1900" dirty="0">
                          <a:solidFill>
                            <a:schemeClr val="dk1"/>
                          </a:solidFill>
                          <a:latin typeface="Times New Roman"/>
                          <a:ea typeface="Times New Roman"/>
                          <a:cs typeface="Times New Roman"/>
                          <a:sym typeface="Times New Roman"/>
                        </a:rPr>
                        <a:t>: Minimum 16GB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SzPts val="1100"/>
                        <a:buNone/>
                      </a:pPr>
                      <a:r>
                        <a:rPr lang="en-US" sz="1900" b="1" dirty="0">
                          <a:solidFill>
                            <a:schemeClr val="dk1"/>
                          </a:solidFill>
                          <a:latin typeface="Times New Roman"/>
                          <a:ea typeface="Times New Roman"/>
                          <a:cs typeface="Times New Roman"/>
                          <a:sym typeface="Times New Roman"/>
                        </a:rPr>
                        <a:t>GPU</a:t>
                      </a:r>
                      <a:r>
                        <a:rPr lang="en-US" sz="1900" dirty="0">
                          <a:solidFill>
                            <a:schemeClr val="dk1"/>
                          </a:solidFill>
                          <a:latin typeface="Times New Roman"/>
                          <a:ea typeface="Times New Roman"/>
                          <a:cs typeface="Times New Roman"/>
                          <a:sym typeface="Times New Roman"/>
                        </a:rPr>
                        <a:t>: NVIDIA RTX 3090/4090, T4 GPU (for fine-tuning LLMs)</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Cloud GPU Access</a:t>
                      </a:r>
                      <a:r>
                        <a:rPr lang="en-US" sz="1900" dirty="0">
                          <a:solidFill>
                            <a:schemeClr val="dk1"/>
                          </a:solidFill>
                          <a:latin typeface="Times New Roman"/>
                          <a:ea typeface="Times New Roman"/>
                          <a:cs typeface="Times New Roman"/>
                          <a:sym typeface="Times New Roman"/>
                        </a:rPr>
                        <a:t>: Google </a:t>
                      </a:r>
                      <a:r>
                        <a:rPr lang="en-US" sz="1900" dirty="0" err="1">
                          <a:solidFill>
                            <a:schemeClr val="dk1"/>
                          </a:solidFill>
                          <a:latin typeface="Times New Roman"/>
                          <a:ea typeface="Times New Roman"/>
                          <a:cs typeface="Times New Roman"/>
                          <a:sym typeface="Times New Roman"/>
                        </a:rPr>
                        <a:t>Colab</a:t>
                      </a:r>
                      <a:r>
                        <a:rPr lang="en-US" sz="1900" dirty="0">
                          <a:solidFill>
                            <a:schemeClr val="dk1"/>
                          </a:solidFill>
                          <a:latin typeface="Times New Roman"/>
                          <a:ea typeface="Times New Roman"/>
                          <a:cs typeface="Times New Roman"/>
                          <a:sym typeface="Times New Roman"/>
                        </a:rPr>
                        <a:t>, Kaggle</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Storage</a:t>
                      </a:r>
                      <a:r>
                        <a:rPr lang="en-US" sz="1900" dirty="0">
                          <a:solidFill>
                            <a:schemeClr val="dk1"/>
                          </a:solidFill>
                          <a:latin typeface="Times New Roman"/>
                          <a:ea typeface="Times New Roman"/>
                          <a:cs typeface="Times New Roman"/>
                          <a:sym typeface="Times New Roman"/>
                        </a:rPr>
                        <a:t>: SSD (Minimum 1TB)</a:t>
                      </a:r>
                      <a:endParaRPr sz="1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1900" b="1" dirty="0">
                          <a:solidFill>
                            <a:schemeClr val="dk1"/>
                          </a:solidFill>
                          <a:latin typeface="Times New Roman"/>
                          <a:ea typeface="Times New Roman"/>
                          <a:cs typeface="Times New Roman"/>
                          <a:sym typeface="Times New Roman"/>
                        </a:rPr>
                        <a:t>Network</a:t>
                      </a:r>
                      <a:r>
                        <a:rPr lang="en-US" sz="1900" dirty="0">
                          <a:solidFill>
                            <a:schemeClr val="dk1"/>
                          </a:solidFill>
                          <a:latin typeface="Times New Roman"/>
                          <a:ea typeface="Times New Roman"/>
                          <a:cs typeface="Times New Roman"/>
                          <a:sym typeface="Times New Roman"/>
                        </a:rPr>
                        <a:t>: High-speed internet (for cloud-based LLM training &amp; data fetching)</a:t>
                      </a:r>
                      <a:endParaRPr sz="19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900" dirty="0">
                        <a:latin typeface="Times New Roman"/>
                        <a:ea typeface="Times New Roman"/>
                        <a:cs typeface="Times New Roman"/>
                        <a:sym typeface="Times New Roman"/>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FD9FB"/>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body" idx="1"/>
          </p:nvPr>
        </p:nvSpPr>
        <p:spPr>
          <a:xfrm>
            <a:off x="230175" y="559600"/>
            <a:ext cx="8697900" cy="4322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900"/>
              <a:t>1. Coal Consumption Dataset</a:t>
            </a:r>
            <a:endParaRPr sz="1900"/>
          </a:p>
          <a:p>
            <a:pPr marL="0" lvl="0" indent="0" algn="l" rtl="0">
              <a:lnSpc>
                <a:spcPct val="100000"/>
              </a:lnSpc>
              <a:spcBef>
                <a:spcPts val="0"/>
              </a:spcBef>
              <a:spcAft>
                <a:spcPts val="0"/>
              </a:spcAft>
              <a:buNone/>
            </a:pPr>
            <a:r>
              <a:rPr lang="en-US" sz="1900"/>
              <a:t>   </a:t>
            </a:r>
            <a:r>
              <a:rPr lang="en-US" sz="1900" u="sng">
                <a:solidFill>
                  <a:srgbClr val="00B0F0"/>
                </a:solidFill>
                <a:hlinkClick r:id="rId3">
                  <a:extLst>
                    <a:ext uri="{A12FA001-AC4F-418D-AE19-62706E023703}">
                      <ahyp:hlinkClr xmlns:ahyp="http://schemas.microsoft.com/office/drawing/2018/hyperlinkcolor" val="tx"/>
                    </a:ext>
                  </a:extLst>
                </a:hlinkClick>
              </a:rPr>
              <a:t>https://ourworldindata.org/grapher/coal-consumption-by-country-terawatt-hours-twh</a:t>
            </a:r>
            <a:endParaRPr sz="1900">
              <a:solidFill>
                <a:srgbClr val="00B0F0"/>
              </a:solidFill>
            </a:endParaRPr>
          </a:p>
          <a:p>
            <a:pPr marL="0" lvl="0" indent="0" algn="l" rtl="0">
              <a:lnSpc>
                <a:spcPct val="100000"/>
              </a:lnSpc>
              <a:spcBef>
                <a:spcPts val="0"/>
              </a:spcBef>
              <a:spcAft>
                <a:spcPts val="0"/>
              </a:spcAft>
              <a:buNone/>
            </a:pPr>
            <a:r>
              <a:rPr lang="en-US" sz="1900">
                <a:solidFill>
                  <a:schemeClr val="dk1"/>
                </a:solidFill>
              </a:rPr>
              <a:t>2. Natural Gas Consumption Dataset</a:t>
            </a:r>
            <a:r>
              <a:rPr lang="en-US" sz="1900">
                <a:solidFill>
                  <a:srgbClr val="00B0F0"/>
                </a:solidFill>
              </a:rPr>
              <a:t>	</a:t>
            </a:r>
            <a:endParaRPr sz="1900">
              <a:solidFill>
                <a:srgbClr val="00B0F0"/>
              </a:solidFill>
            </a:endParaRPr>
          </a:p>
          <a:p>
            <a:pPr marL="0" lvl="0" indent="0" algn="l" rtl="0">
              <a:lnSpc>
                <a:spcPct val="100000"/>
              </a:lnSpc>
              <a:spcBef>
                <a:spcPts val="0"/>
              </a:spcBef>
              <a:spcAft>
                <a:spcPts val="0"/>
              </a:spcAft>
              <a:buNone/>
            </a:pPr>
            <a:r>
              <a:rPr lang="en-US" sz="1900">
                <a:solidFill>
                  <a:srgbClr val="00B0F0"/>
                </a:solidFill>
              </a:rPr>
              <a:t>   </a:t>
            </a:r>
            <a:r>
              <a:rPr lang="en-US" sz="1900" u="sng">
                <a:solidFill>
                  <a:srgbClr val="00B0F0"/>
                </a:solidFill>
                <a:hlinkClick r:id="rId4">
                  <a:extLst>
                    <a:ext uri="{A12FA001-AC4F-418D-AE19-62706E023703}">
                      <ahyp:hlinkClr xmlns:ahyp="http://schemas.microsoft.com/office/drawing/2018/hyperlinkcolor" val="tx"/>
                    </a:ext>
                  </a:extLst>
                </a:hlinkClick>
              </a:rPr>
              <a:t>https://ourworldindata.org/grapher/natural-gas-consumption-by-region</a:t>
            </a:r>
            <a:endParaRPr sz="1900">
              <a:solidFill>
                <a:srgbClr val="00B0F0"/>
              </a:solidFill>
            </a:endParaRPr>
          </a:p>
          <a:p>
            <a:pPr marL="0" lvl="0" indent="0" algn="l" rtl="0">
              <a:lnSpc>
                <a:spcPct val="100000"/>
              </a:lnSpc>
              <a:spcBef>
                <a:spcPts val="0"/>
              </a:spcBef>
              <a:spcAft>
                <a:spcPts val="0"/>
              </a:spcAft>
              <a:buNone/>
            </a:pPr>
            <a:r>
              <a:rPr lang="en-US" sz="1900">
                <a:solidFill>
                  <a:schemeClr val="dk1"/>
                </a:solidFill>
              </a:rPr>
              <a:t>3. Oil Consumption Dataset</a:t>
            </a:r>
            <a:endParaRPr sz="1900">
              <a:solidFill>
                <a:schemeClr val="dk1"/>
              </a:solidFill>
            </a:endParaRPr>
          </a:p>
          <a:p>
            <a:pPr marL="0" lvl="0" indent="0" algn="l" rtl="0">
              <a:lnSpc>
                <a:spcPct val="100000"/>
              </a:lnSpc>
              <a:spcBef>
                <a:spcPts val="0"/>
              </a:spcBef>
              <a:spcAft>
                <a:spcPts val="0"/>
              </a:spcAft>
              <a:buNone/>
            </a:pPr>
            <a:r>
              <a:rPr lang="en-US" sz="1900">
                <a:solidFill>
                  <a:srgbClr val="00B0F0"/>
                </a:solidFill>
              </a:rPr>
              <a:t>   </a:t>
            </a:r>
            <a:r>
              <a:rPr lang="en-US" sz="1900" u="sng">
                <a:solidFill>
                  <a:srgbClr val="00B0F0"/>
                </a:solidFill>
                <a:hlinkClick r:id="rId5">
                  <a:extLst>
                    <a:ext uri="{A12FA001-AC4F-418D-AE19-62706E023703}">
                      <ahyp:hlinkClr xmlns:ahyp="http://schemas.microsoft.com/office/drawing/2018/hyperlinkcolor" val="tx"/>
                    </a:ext>
                  </a:extLst>
                </a:hlinkClick>
              </a:rPr>
              <a:t>https://ourworldindata.org/grapher/oil-consumption-by-country</a:t>
            </a:r>
            <a:endParaRPr sz="1900">
              <a:solidFill>
                <a:srgbClr val="00B0F0"/>
              </a:solidFill>
            </a:endParaRPr>
          </a:p>
          <a:p>
            <a:pPr marL="0" lvl="0" indent="0" algn="l" rtl="0">
              <a:lnSpc>
                <a:spcPct val="100000"/>
              </a:lnSpc>
              <a:spcBef>
                <a:spcPts val="0"/>
              </a:spcBef>
              <a:spcAft>
                <a:spcPts val="0"/>
              </a:spcAft>
              <a:buNone/>
            </a:pPr>
            <a:endParaRPr sz="1900">
              <a:solidFill>
                <a:srgbClr val="00B0F0"/>
              </a:solidFill>
            </a:endParaRPr>
          </a:p>
          <a:p>
            <a:pPr marL="0" lvl="0" indent="0" algn="l" rtl="0">
              <a:lnSpc>
                <a:spcPct val="100000"/>
              </a:lnSpc>
              <a:spcBef>
                <a:spcPts val="0"/>
              </a:spcBef>
              <a:spcAft>
                <a:spcPts val="0"/>
              </a:spcAft>
              <a:buNone/>
            </a:pPr>
            <a:r>
              <a:rPr lang="en-US" sz="1900" b="1">
                <a:solidFill>
                  <a:schemeClr val="dk1"/>
                </a:solidFill>
              </a:rPr>
              <a:t>Size of the Datasets</a:t>
            </a:r>
            <a:r>
              <a:rPr lang="en-US" sz="1900">
                <a:solidFill>
                  <a:schemeClr val="dk1"/>
                </a:solidFill>
              </a:rPr>
              <a:t>: 5522 rows Each including 73 Countries and 31 Regions.</a:t>
            </a:r>
            <a:endParaRPr sz="1900">
              <a:solidFill>
                <a:schemeClr val="dk1"/>
              </a:solidFill>
            </a:endParaRPr>
          </a:p>
          <a:p>
            <a:pPr marL="0" lvl="0" indent="0" algn="l" rtl="0">
              <a:lnSpc>
                <a:spcPct val="100000"/>
              </a:lnSpc>
              <a:spcBef>
                <a:spcPts val="0"/>
              </a:spcBef>
              <a:spcAft>
                <a:spcPts val="0"/>
              </a:spcAft>
              <a:buNone/>
            </a:pPr>
            <a:r>
              <a:rPr lang="en-US" sz="1900" b="1">
                <a:solidFill>
                  <a:schemeClr val="dk1"/>
                </a:solidFill>
              </a:rPr>
              <a:t>Attributes</a:t>
            </a:r>
            <a:r>
              <a:rPr lang="en-US" sz="1900">
                <a:solidFill>
                  <a:schemeClr val="dk1"/>
                </a:solidFill>
              </a:rPr>
              <a:t>:</a:t>
            </a:r>
            <a:endParaRPr sz="1900">
              <a:solidFill>
                <a:schemeClr val="dk1"/>
              </a:solidFill>
            </a:endParaRPr>
          </a:p>
          <a:p>
            <a:pPr marL="0" lvl="0" indent="457200" algn="l" rtl="0">
              <a:lnSpc>
                <a:spcPct val="100000"/>
              </a:lnSpc>
              <a:spcBef>
                <a:spcPts val="0"/>
              </a:spcBef>
              <a:spcAft>
                <a:spcPts val="0"/>
              </a:spcAft>
              <a:buNone/>
            </a:pPr>
            <a:r>
              <a:rPr lang="en-US" sz="1900" b="1">
                <a:solidFill>
                  <a:schemeClr val="dk1"/>
                </a:solidFill>
              </a:rPr>
              <a:t>Entity</a:t>
            </a:r>
            <a:r>
              <a:rPr lang="en-US" sz="1900">
                <a:solidFill>
                  <a:schemeClr val="dk1"/>
                </a:solidFill>
              </a:rPr>
              <a:t>: Categorical attribute (Country or Region).</a:t>
            </a:r>
            <a:endParaRPr sz="1900">
              <a:solidFill>
                <a:schemeClr val="dk1"/>
              </a:solidFill>
            </a:endParaRPr>
          </a:p>
          <a:p>
            <a:pPr marL="0" lvl="0" indent="457200" algn="l" rtl="0">
              <a:spcBef>
                <a:spcPts val="0"/>
              </a:spcBef>
              <a:spcAft>
                <a:spcPts val="0"/>
              </a:spcAft>
              <a:buClr>
                <a:schemeClr val="dk1"/>
              </a:buClr>
              <a:buSzPts val="1100"/>
              <a:buFont typeface="Arial"/>
              <a:buNone/>
            </a:pPr>
            <a:r>
              <a:rPr lang="en-US" sz="1900" b="1">
                <a:solidFill>
                  <a:schemeClr val="dk1"/>
                </a:solidFill>
              </a:rPr>
              <a:t>Year</a:t>
            </a:r>
            <a:r>
              <a:rPr lang="en-US" sz="1900">
                <a:solidFill>
                  <a:schemeClr val="dk1"/>
                </a:solidFill>
              </a:rPr>
              <a:t>: Numerical attribute (Integer, representing the year).</a:t>
            </a:r>
            <a:endParaRPr sz="1900">
              <a:solidFill>
                <a:schemeClr val="dk1"/>
              </a:solidFill>
            </a:endParaRPr>
          </a:p>
          <a:p>
            <a:pPr marL="457200" lvl="0" indent="0" algn="l" rtl="0">
              <a:spcBef>
                <a:spcPts val="0"/>
              </a:spcBef>
              <a:spcAft>
                <a:spcPts val="0"/>
              </a:spcAft>
              <a:buNone/>
            </a:pPr>
            <a:r>
              <a:rPr lang="en-US" sz="1900" b="1">
                <a:solidFill>
                  <a:schemeClr val="dk1"/>
                </a:solidFill>
              </a:rPr>
              <a:t>Consumption (TWh)</a:t>
            </a:r>
            <a:r>
              <a:rPr lang="en-US" sz="1900">
                <a:solidFill>
                  <a:schemeClr val="dk1"/>
                </a:solidFill>
              </a:rPr>
              <a:t>: Numerical attribute (Floating point, representing energy consumption in TWh).</a:t>
            </a:r>
            <a:endParaRPr sz="1900">
              <a:solidFill>
                <a:schemeClr val="dk1"/>
              </a:solidFill>
            </a:endParaRPr>
          </a:p>
          <a:p>
            <a:pPr marL="0" lvl="0" indent="0" algn="l" rtl="0">
              <a:spcBef>
                <a:spcPts val="0"/>
              </a:spcBef>
              <a:spcAft>
                <a:spcPts val="0"/>
              </a:spcAft>
              <a:buNone/>
            </a:pPr>
            <a:r>
              <a:rPr lang="en-US" sz="1900" b="1">
                <a:solidFill>
                  <a:schemeClr val="dk1"/>
                </a:solidFill>
              </a:rPr>
              <a:t>Sources</a:t>
            </a:r>
            <a:r>
              <a:rPr lang="en-US" sz="1900">
                <a:solidFill>
                  <a:schemeClr val="dk1"/>
                </a:solidFill>
              </a:rPr>
              <a:t>: Statistical Review of World Energy, Our World in Data.</a:t>
            </a:r>
            <a:endParaRPr sz="1900">
              <a:solidFill>
                <a:schemeClr val="dk1"/>
              </a:solidFill>
            </a:endParaRPr>
          </a:p>
          <a:p>
            <a:pPr marL="342900" lvl="0" indent="0" algn="l" rtl="0">
              <a:lnSpc>
                <a:spcPct val="100000"/>
              </a:lnSpc>
              <a:spcBef>
                <a:spcPts val="0"/>
              </a:spcBef>
              <a:spcAft>
                <a:spcPts val="0"/>
              </a:spcAft>
              <a:buNone/>
            </a:pPr>
            <a:endParaRPr sz="1900"/>
          </a:p>
        </p:txBody>
      </p:sp>
      <p:sp>
        <p:nvSpPr>
          <p:cNvPr id="151" name="Google Shape;151;p23"/>
          <p:cNvSpPr txBox="1">
            <a:spLocks noGrp="1"/>
          </p:cNvSpPr>
          <p:nvPr>
            <p:ph type="ctrTitle"/>
          </p:nvPr>
        </p:nvSpPr>
        <p:spPr>
          <a:xfrm>
            <a:off x="7125" y="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Datasets Details</a:t>
            </a:r>
            <a:endParaRPr/>
          </a:p>
        </p:txBody>
      </p:sp>
      <p:sp>
        <p:nvSpPr>
          <p:cNvPr id="152" name="Google Shape;152;p2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5" name="Picture 4">
            <a:extLst>
              <a:ext uri="{FF2B5EF4-FFF2-40B4-BE49-F238E27FC236}">
                <a16:creationId xmlns:a16="http://schemas.microsoft.com/office/drawing/2014/main" id="{4D24FF5A-9397-4519-AFFD-FA44744C8C5B}"/>
              </a:ext>
            </a:extLst>
          </p:cNvPr>
          <p:cNvPicPr>
            <a:picLocks noChangeAspect="1"/>
          </p:cNvPicPr>
          <p:nvPr/>
        </p:nvPicPr>
        <p:blipFill>
          <a:blip r:embed="rId3"/>
          <a:stretch>
            <a:fillRect/>
          </a:stretch>
        </p:blipFill>
        <p:spPr>
          <a:xfrm>
            <a:off x="0" y="343"/>
            <a:ext cx="9144000" cy="5142814"/>
          </a:xfrm>
          <a:prstGeom prst="rect">
            <a:avLst/>
          </a:prstGeom>
        </p:spPr>
      </p:pic>
      <p:sp>
        <p:nvSpPr>
          <p:cNvPr id="206" name="Google Shape;206;p30"/>
          <p:cNvSpPr txBox="1">
            <a:spLocks noGrp="1"/>
          </p:cNvSpPr>
          <p:nvPr>
            <p:ph type="sldNum" idx="12"/>
          </p:nvPr>
        </p:nvSpPr>
        <p:spPr>
          <a:xfrm>
            <a:off x="8472488" y="4662488"/>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5" name="Picture 4">
            <a:extLst>
              <a:ext uri="{FF2B5EF4-FFF2-40B4-BE49-F238E27FC236}">
                <a16:creationId xmlns:a16="http://schemas.microsoft.com/office/drawing/2014/main" id="{EAC7AB91-D230-07B4-2671-0E57F09AC0C3}"/>
              </a:ext>
            </a:extLst>
          </p:cNvPr>
          <p:cNvPicPr>
            <a:picLocks noChangeAspect="1"/>
          </p:cNvPicPr>
          <p:nvPr/>
        </p:nvPicPr>
        <p:blipFill>
          <a:blip r:embed="rId3"/>
          <a:stretch>
            <a:fillRect/>
          </a:stretch>
        </p:blipFill>
        <p:spPr>
          <a:xfrm>
            <a:off x="0" y="266200"/>
            <a:ext cx="9144000" cy="5142814"/>
          </a:xfrm>
          <a:prstGeom prst="rect">
            <a:avLst/>
          </a:prstGeom>
        </p:spPr>
      </p:pic>
      <p:sp>
        <p:nvSpPr>
          <p:cNvPr id="212" name="Google Shape;212;p31"/>
          <p:cNvSpPr txBox="1">
            <a:spLocks noGrp="1"/>
          </p:cNvSpPr>
          <p:nvPr>
            <p:ph type="ctrTitle"/>
          </p:nvPr>
        </p:nvSpPr>
        <p:spPr>
          <a:xfrm>
            <a:off x="0" y="-58700"/>
            <a:ext cx="9144000" cy="649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dirty="0">
                <a:solidFill>
                  <a:srgbClr val="C00000"/>
                </a:solidFill>
              </a:rPr>
              <a:t>Data flow diagram</a:t>
            </a:r>
            <a:endParaRPr dirty="0">
              <a:solidFill>
                <a:srgbClr val="C00000"/>
              </a:solidFill>
            </a:endParaRPr>
          </a:p>
        </p:txBody>
      </p:sp>
      <p:sp>
        <p:nvSpPr>
          <p:cNvPr id="213" name="Google Shape;213;p31"/>
          <p:cNvSpPr txBox="1">
            <a:spLocks noGrp="1"/>
          </p:cNvSpPr>
          <p:nvPr>
            <p:ph type="sldNum" idx="12"/>
          </p:nvPr>
        </p:nvSpPr>
        <p:spPr>
          <a:xfrm>
            <a:off x="8472488" y="4662488"/>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9" name="Picture 8">
            <a:extLst>
              <a:ext uri="{FF2B5EF4-FFF2-40B4-BE49-F238E27FC236}">
                <a16:creationId xmlns:a16="http://schemas.microsoft.com/office/drawing/2014/main" id="{04480C43-0D6A-6397-12CA-F4C2796BC65F}"/>
              </a:ext>
            </a:extLst>
          </p:cNvPr>
          <p:cNvPicPr>
            <a:picLocks noChangeAspect="1"/>
          </p:cNvPicPr>
          <p:nvPr/>
        </p:nvPicPr>
        <p:blipFill>
          <a:blip r:embed="rId3"/>
          <a:stretch>
            <a:fillRect/>
          </a:stretch>
        </p:blipFill>
        <p:spPr>
          <a:xfrm>
            <a:off x="0" y="343"/>
            <a:ext cx="9144000" cy="5142814"/>
          </a:xfrm>
          <a:prstGeom prst="rect">
            <a:avLst/>
          </a:prstGeom>
        </p:spPr>
      </p:pic>
      <p:sp>
        <p:nvSpPr>
          <p:cNvPr id="221" name="Google Shape;221;p32"/>
          <p:cNvSpPr txBox="1">
            <a:spLocks noGrp="1"/>
          </p:cNvSpPr>
          <p:nvPr>
            <p:ph type="sldNum" idx="12"/>
          </p:nvPr>
        </p:nvSpPr>
        <p:spPr>
          <a:xfrm>
            <a:off x="8472488" y="4662488"/>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4"/>
          <p:cNvSpPr txBox="1">
            <a:spLocks noGrp="1"/>
          </p:cNvSpPr>
          <p:nvPr>
            <p:ph type="ctrTitle"/>
          </p:nvPr>
        </p:nvSpPr>
        <p:spPr>
          <a:xfrm>
            <a:off x="0" y="0"/>
            <a:ext cx="9144000" cy="6498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US"/>
              <a:t>List of standards</a:t>
            </a:r>
            <a:endParaRPr/>
          </a:p>
        </p:txBody>
      </p:sp>
      <p:sp>
        <p:nvSpPr>
          <p:cNvPr id="236" name="Google Shape;236;p34"/>
          <p:cNvSpPr txBox="1">
            <a:spLocks noGrp="1"/>
          </p:cNvSpPr>
          <p:nvPr>
            <p:ph type="body" idx="1"/>
          </p:nvPr>
        </p:nvSpPr>
        <p:spPr>
          <a:xfrm>
            <a:off x="165100" y="914400"/>
            <a:ext cx="8763000" cy="34797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1200"/>
              </a:spcBef>
              <a:spcAft>
                <a:spcPts val="0"/>
              </a:spcAft>
              <a:buClr>
                <a:schemeClr val="dk1"/>
              </a:buClr>
              <a:buSzPts val="1800"/>
              <a:buChar char="●"/>
            </a:pPr>
            <a:r>
              <a:rPr lang="en-US" sz="1800" dirty="0">
                <a:solidFill>
                  <a:schemeClr val="dk1"/>
                </a:solidFill>
              </a:rPr>
              <a:t>For creating diagrams:</a:t>
            </a: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dirty="0">
                <a:solidFill>
                  <a:schemeClr val="dk1"/>
                </a:solidFill>
              </a:rPr>
              <a:t>Miro– Used for creating high-quality and visually appealing diagrams.</a:t>
            </a:r>
            <a:endParaRPr sz="1800" dirty="0">
              <a:solidFill>
                <a:schemeClr val="dk1"/>
              </a:solidFill>
            </a:endParaRPr>
          </a:p>
          <a:p>
            <a:pPr marL="457200" lvl="0" indent="-342900" algn="l" rtl="0">
              <a:lnSpc>
                <a:spcPct val="115000"/>
              </a:lnSpc>
              <a:spcBef>
                <a:spcPts val="0"/>
              </a:spcBef>
              <a:spcAft>
                <a:spcPts val="0"/>
              </a:spcAft>
              <a:buClr>
                <a:schemeClr val="dk1"/>
              </a:buClr>
              <a:buSzPts val="1800"/>
              <a:buFont typeface="Times New Roman"/>
              <a:buChar char="●"/>
            </a:pPr>
            <a:r>
              <a:rPr lang="en-US" sz="1800" dirty="0">
                <a:solidFill>
                  <a:schemeClr val="dk1"/>
                </a:solidFill>
              </a:rPr>
              <a:t>Followed coding standards with modularized structure, efficient data handling, transfer learning, and class imbalance handling for better readability, maintainability, and performance.</a:t>
            </a:r>
            <a:endParaRPr sz="1800" dirty="0">
              <a:solidFill>
                <a:schemeClr val="dk1"/>
              </a:solidFill>
            </a:endParaRPr>
          </a:p>
          <a:p>
            <a:pPr marL="0" lvl="0" indent="0" algn="l" rtl="0">
              <a:spcBef>
                <a:spcPts val="1200"/>
              </a:spcBef>
              <a:spcAft>
                <a:spcPts val="0"/>
              </a:spcAft>
              <a:buNone/>
            </a:pPr>
            <a:endParaRPr dirty="0"/>
          </a:p>
        </p:txBody>
      </p:sp>
      <p:sp>
        <p:nvSpPr>
          <p:cNvPr id="237" name="Google Shape;237;p34"/>
          <p:cNvSpPr txBox="1">
            <a:spLocks noGrp="1"/>
          </p:cNvSpPr>
          <p:nvPr>
            <p:ph type="sldNum" idx="12"/>
          </p:nvPr>
        </p:nvSpPr>
        <p:spPr>
          <a:xfrm>
            <a:off x="8472488" y="4662488"/>
            <a:ext cx="5493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body" idx="1"/>
          </p:nvPr>
        </p:nvSpPr>
        <p:spPr>
          <a:xfrm>
            <a:off x="230175" y="559600"/>
            <a:ext cx="8697900" cy="43221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US" sz="1900" b="1"/>
              <a:t>1. </a:t>
            </a:r>
            <a:r>
              <a:rPr lang="en-US" sz="1900"/>
              <a:t>A. B. Amjoud and M. Amrouch, "Object Detection Using Deep Learning, CNNs and Vision Transformers: A Review," in IEEE Access, vol. 11, pp. 35479-35516, 2023.</a:t>
            </a:r>
            <a:endParaRPr sz="1900"/>
          </a:p>
          <a:p>
            <a:pPr marL="45720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t>2. </a:t>
            </a:r>
            <a:r>
              <a:rPr lang="en-US" sz="1900"/>
              <a:t>Z. Liu, J. Wu, L. Guo, "Energy Time Series Forecasting—Analytical and Empirical Assessment of Conventional and Machine Learning Models," in Energy Procedia, vol. 100, pp. 423-429, 2021.</a:t>
            </a:r>
            <a:endParaRPr sz="1900"/>
          </a:p>
          <a:p>
            <a:pPr marL="45720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t>3. </a:t>
            </a:r>
            <a:r>
              <a:rPr lang="en-US" sz="1900"/>
              <a:t>J. K. Smith, S. R. Lee, "Energy Consumption Prediction Using Deep Learning Technique," in IEEE Transactions on Smart Grid, vol. 11, no. 4, pp. 2451-2460, 2020.</a:t>
            </a:r>
            <a:endParaRPr sz="1900"/>
          </a:p>
          <a:p>
            <a:pPr marL="0" lvl="0" indent="0" algn="just" rtl="0">
              <a:spcBef>
                <a:spcPts val="0"/>
              </a:spcBef>
              <a:spcAft>
                <a:spcPts val="0"/>
              </a:spcAft>
              <a:buClr>
                <a:schemeClr val="dk1"/>
              </a:buClr>
              <a:buSzPts val="1100"/>
              <a:buFont typeface="Arial"/>
              <a:buNone/>
            </a:pPr>
            <a:endParaRPr sz="1900">
              <a:solidFill>
                <a:schemeClr val="dk1"/>
              </a:solidFill>
            </a:endParaRPr>
          </a:p>
          <a:p>
            <a:pPr marL="0" lvl="0" indent="0" algn="just" rtl="0">
              <a:spcBef>
                <a:spcPts val="0"/>
              </a:spcBef>
              <a:spcAft>
                <a:spcPts val="0"/>
              </a:spcAft>
              <a:buClr>
                <a:schemeClr val="dk1"/>
              </a:buClr>
              <a:buSzPts val="1100"/>
              <a:buFont typeface="Arial"/>
              <a:buNone/>
            </a:pPr>
            <a:r>
              <a:rPr lang="en-US" sz="1900" b="1">
                <a:solidFill>
                  <a:schemeClr val="dk1"/>
                </a:solidFill>
              </a:rPr>
              <a:t>4. </a:t>
            </a:r>
            <a:r>
              <a:rPr lang="en-US" sz="1900">
                <a:solidFill>
                  <a:schemeClr val="dk1"/>
                </a:solidFill>
              </a:rPr>
              <a:t>D. A. Lopez, L. K. Garcia, "Enhanced Data Processing and Machine Learning Techniques for Scenario-Based Prediction of Climate Change Impacts on Building Cooling Energy Consumption with Explainable Artificial Intelligence," in Energy and Buildings, vol. 274, pp. 113585, 2024.</a:t>
            </a:r>
            <a:endParaRPr sz="1900">
              <a:solidFill>
                <a:schemeClr val="dk1"/>
              </a:solidFill>
            </a:endParaRPr>
          </a:p>
          <a:p>
            <a:pPr marL="0" lvl="0" indent="0" algn="just" rtl="0">
              <a:lnSpc>
                <a:spcPct val="100000"/>
              </a:lnSpc>
              <a:spcBef>
                <a:spcPts val="0"/>
              </a:spcBef>
              <a:spcAft>
                <a:spcPts val="0"/>
              </a:spcAft>
              <a:buNone/>
            </a:pPr>
            <a:endParaRPr sz="1900"/>
          </a:p>
        </p:txBody>
      </p:sp>
      <p:sp>
        <p:nvSpPr>
          <p:cNvPr id="158" name="Google Shape;158;p24"/>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References</a:t>
            </a:r>
            <a:endParaRPr/>
          </a:p>
        </p:txBody>
      </p:sp>
      <p:sp>
        <p:nvSpPr>
          <p:cNvPr id="159" name="Google Shape;159;p24"/>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5"/>
          <p:cNvSpPr txBox="1">
            <a:spLocks noGrp="1"/>
          </p:cNvSpPr>
          <p:nvPr>
            <p:ph type="body" idx="1"/>
          </p:nvPr>
        </p:nvSpPr>
        <p:spPr>
          <a:xfrm>
            <a:off x="223050" y="410700"/>
            <a:ext cx="8697900" cy="43221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US" sz="1900" b="1"/>
              <a:t>5.</a:t>
            </a:r>
            <a:r>
              <a:rPr lang="en-US" sz="1900"/>
              <a:t> P. Y. Wang, H. Zeng, "Machine Learning Algorithms for Predicting Energy Consumption in Smart Buildings," in International Journal of Energy Research, vol. 48, no. 8, pp. 10356-10371, 2024.</a:t>
            </a:r>
            <a:endParaRPr sz="1900"/>
          </a:p>
          <a:p>
            <a:pPr marL="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solidFill>
                  <a:schemeClr val="dk1"/>
                </a:solidFill>
              </a:rPr>
              <a:t>6. </a:t>
            </a:r>
            <a:r>
              <a:rPr lang="en-US" sz="1900"/>
              <a:t>A. T. Khot, L. S. Zhang, "Electricity Demand Forecasting with Hybrid Statistical and Machine Learning Algorithms: Case Study of Ukraine," in Energy Reports, vol. 9, pp. 923-931, 2023.</a:t>
            </a:r>
            <a:endParaRPr sz="1900"/>
          </a:p>
          <a:p>
            <a:pPr marL="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solidFill>
                  <a:schemeClr val="dk1"/>
                </a:solidFill>
              </a:rPr>
              <a:t>7. </a:t>
            </a:r>
            <a:r>
              <a:rPr lang="en-US" sz="1900"/>
              <a:t>M. X. Chen, T. R. Li, "DECODE: Data-driven Energy Consumption Prediction Leveraging Historical Data and Environmental Factors in Buildings," in Renewable and Sustainable Energy Reviews, vol. 72, pp. 456-467, 2023.</a:t>
            </a:r>
            <a:endParaRPr sz="1900"/>
          </a:p>
          <a:p>
            <a:pPr marL="0" lvl="0" indent="0" algn="just" rtl="0">
              <a:spcBef>
                <a:spcPts val="0"/>
              </a:spcBef>
              <a:spcAft>
                <a:spcPts val="0"/>
              </a:spcAft>
              <a:buClr>
                <a:schemeClr val="dk1"/>
              </a:buClr>
              <a:buSzPts val="1100"/>
              <a:buFont typeface="Arial"/>
              <a:buNone/>
            </a:pPr>
            <a:endParaRPr sz="1900">
              <a:solidFill>
                <a:schemeClr val="dk1"/>
              </a:solidFill>
            </a:endParaRPr>
          </a:p>
          <a:p>
            <a:pPr marL="0" lvl="0" indent="0" algn="just" rtl="0">
              <a:spcBef>
                <a:spcPts val="0"/>
              </a:spcBef>
              <a:spcAft>
                <a:spcPts val="0"/>
              </a:spcAft>
              <a:buClr>
                <a:schemeClr val="dk1"/>
              </a:buClr>
              <a:buSzPts val="1100"/>
              <a:buFont typeface="Arial"/>
              <a:buNone/>
            </a:pPr>
            <a:r>
              <a:rPr lang="en-US" sz="1900" b="1">
                <a:solidFill>
                  <a:schemeClr val="dk1"/>
                </a:solidFill>
              </a:rPr>
              <a:t>8. </a:t>
            </a:r>
            <a:r>
              <a:rPr lang="en-US" sz="1900">
                <a:solidFill>
                  <a:schemeClr val="dk1"/>
                </a:solidFill>
              </a:rPr>
              <a:t>P. S. Han, Z. J. Lin, "Short-term Prediction of Household Electricity Consumption Using Customized LSTM and GRU Models," in Applied Energy, vol. 289, pp. 116645, 2022.</a:t>
            </a:r>
            <a:endParaRPr sz="1900">
              <a:solidFill>
                <a:schemeClr val="dk1"/>
              </a:solidFill>
            </a:endParaRPr>
          </a:p>
          <a:p>
            <a:pPr marL="0" lvl="0" indent="0" algn="just" rtl="0">
              <a:lnSpc>
                <a:spcPct val="100000"/>
              </a:lnSpc>
              <a:spcBef>
                <a:spcPts val="0"/>
              </a:spcBef>
              <a:spcAft>
                <a:spcPts val="0"/>
              </a:spcAft>
              <a:buNone/>
            </a:pPr>
            <a:endParaRPr sz="1900"/>
          </a:p>
        </p:txBody>
      </p:sp>
      <p:sp>
        <p:nvSpPr>
          <p:cNvPr id="165" name="Google Shape;165;p25"/>
          <p:cNvSpPr txBox="1">
            <a:spLocks noGrp="1"/>
          </p:cNvSpPr>
          <p:nvPr>
            <p:ph type="ctrTitle"/>
          </p:nvPr>
        </p:nvSpPr>
        <p:spPr>
          <a:xfrm>
            <a:off x="0" y="-896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References</a:t>
            </a:r>
            <a:endParaRPr/>
          </a:p>
        </p:txBody>
      </p:sp>
      <p:sp>
        <p:nvSpPr>
          <p:cNvPr id="166" name="Google Shape;166;p25"/>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body" idx="1"/>
          </p:nvPr>
        </p:nvSpPr>
        <p:spPr>
          <a:xfrm>
            <a:off x="223050" y="410700"/>
            <a:ext cx="8697900" cy="4322100"/>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None/>
            </a:pPr>
            <a:r>
              <a:rPr lang="en-US" sz="1900" b="1"/>
              <a:t>9.</a:t>
            </a:r>
            <a:r>
              <a:rPr lang="en-US" sz="1900"/>
              <a:t> L. D. Simpson, J. H. Mendoza, "Comparative Analysis of Time Series Forecasting Approaches for Household Electricity Consumption Prediction," in Energy Economics, vol. 58, pp. 94-107, 2022.</a:t>
            </a:r>
            <a:endParaRPr sz="1900"/>
          </a:p>
          <a:p>
            <a:pPr marL="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solidFill>
                  <a:schemeClr val="dk1"/>
                </a:solidFill>
              </a:rPr>
              <a:t>10. </a:t>
            </a:r>
            <a:r>
              <a:rPr lang="en-US" sz="1900"/>
              <a:t>R. K. Patel, M. D. Vats, "Machine Learning for Energy Consumption Prediction and Scheduling in Smart Buildings," in Journal of Building Performance, vol. 11, no. 2, pp. 77-89, 2020.</a:t>
            </a:r>
            <a:endParaRPr sz="1900"/>
          </a:p>
          <a:p>
            <a:pPr marL="0" lvl="0" indent="0" algn="just" rtl="0">
              <a:lnSpc>
                <a:spcPct val="100000"/>
              </a:lnSpc>
              <a:spcBef>
                <a:spcPts val="0"/>
              </a:spcBef>
              <a:spcAft>
                <a:spcPts val="0"/>
              </a:spcAft>
              <a:buNone/>
            </a:pPr>
            <a:endParaRPr sz="1900"/>
          </a:p>
          <a:p>
            <a:pPr marL="0" lvl="0" indent="0" algn="just" rtl="0">
              <a:lnSpc>
                <a:spcPct val="100000"/>
              </a:lnSpc>
              <a:spcBef>
                <a:spcPts val="0"/>
              </a:spcBef>
              <a:spcAft>
                <a:spcPts val="0"/>
              </a:spcAft>
              <a:buNone/>
            </a:pPr>
            <a:r>
              <a:rPr lang="en-US" sz="1900" b="1">
                <a:solidFill>
                  <a:schemeClr val="dk1"/>
                </a:solidFill>
              </a:rPr>
              <a:t>11. </a:t>
            </a:r>
            <a:r>
              <a:rPr lang="en-US" sz="1900"/>
              <a:t>C. B. Miller, D. L. Scott, "How AI Is Making Buildings More Energy-Efficient," in Energy Efficiency Journal, vol. 12, no. 3, pp. 223-236, 2024.</a:t>
            </a:r>
            <a:endParaRPr sz="1900"/>
          </a:p>
          <a:p>
            <a:pPr marL="0" lvl="0" indent="0" algn="just" rtl="0">
              <a:spcBef>
                <a:spcPts val="0"/>
              </a:spcBef>
              <a:spcAft>
                <a:spcPts val="0"/>
              </a:spcAft>
              <a:buNone/>
            </a:pPr>
            <a:endParaRPr sz="1900">
              <a:solidFill>
                <a:schemeClr val="dk1"/>
              </a:solidFill>
            </a:endParaRPr>
          </a:p>
          <a:p>
            <a:pPr marL="0" lvl="0" indent="0" algn="just" rtl="0">
              <a:lnSpc>
                <a:spcPct val="100000"/>
              </a:lnSpc>
              <a:spcBef>
                <a:spcPts val="0"/>
              </a:spcBef>
              <a:spcAft>
                <a:spcPts val="0"/>
              </a:spcAft>
              <a:buNone/>
            </a:pPr>
            <a:endParaRPr sz="1900"/>
          </a:p>
        </p:txBody>
      </p:sp>
      <p:sp>
        <p:nvSpPr>
          <p:cNvPr id="172" name="Google Shape;172;p26"/>
          <p:cNvSpPr txBox="1">
            <a:spLocks noGrp="1"/>
          </p:cNvSpPr>
          <p:nvPr>
            <p:ph type="ctrTitle"/>
          </p:nvPr>
        </p:nvSpPr>
        <p:spPr>
          <a:xfrm>
            <a:off x="0" y="-89600"/>
            <a:ext cx="9144000" cy="6492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5200"/>
              <a:buNone/>
            </a:pPr>
            <a:r>
              <a:rPr lang="en-US" sz="2900" b="1" i="0" u="none">
                <a:solidFill>
                  <a:srgbClr val="000000"/>
                </a:solidFill>
                <a:latin typeface="Times New Roman"/>
                <a:ea typeface="Times New Roman"/>
                <a:cs typeface="Times New Roman"/>
                <a:sym typeface="Times New Roman"/>
              </a:rPr>
              <a:t>References</a:t>
            </a:r>
            <a:endParaRPr/>
          </a:p>
        </p:txBody>
      </p:sp>
      <p:sp>
        <p:nvSpPr>
          <p:cNvPr id="173" name="Google Shape;173;p26"/>
          <p:cNvSpPr txBox="1"/>
          <p:nvPr/>
        </p:nvSpPr>
        <p:spPr>
          <a:xfrm>
            <a:off x="8472487" y="4662487"/>
            <a:ext cx="5493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7"/>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179" name="Google Shape;179;p27"/>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a:solidFill>
                  <a:srgbClr val="595959"/>
                </a:solidFill>
                <a:latin typeface="Arial"/>
                <a:ea typeface="Arial"/>
                <a:cs typeface="Arial"/>
                <a:sym typeface="Arial"/>
              </a:rPr>
              <a:t>27</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3795</Words>
  <Application>Microsoft Office PowerPoint</Application>
  <PresentationFormat>On-screen Show (16:9)</PresentationFormat>
  <Paragraphs>343</Paragraphs>
  <Slides>27</Slides>
  <Notes>27</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27</vt:i4>
      </vt:variant>
    </vt:vector>
  </HeadingPairs>
  <TitlesOfParts>
    <vt:vector size="31" baseType="lpstr">
      <vt:lpstr>Arial</vt:lpstr>
      <vt:lpstr>Times New Roman</vt:lpstr>
      <vt:lpstr>2_Simple Light</vt:lpstr>
      <vt:lpstr>1_Simple Light</vt:lpstr>
      <vt:lpstr>    Gokaraju Rangaraju Institute of Engineering and Technology  (Autonomous) Department of Data Science  Mini Project Work (CSE(DS))</vt:lpstr>
      <vt:lpstr>PowerPoint Presentation</vt:lpstr>
      <vt:lpstr>Review 1 Feedback</vt:lpstr>
      <vt:lpstr>Abstract</vt:lpstr>
      <vt:lpstr>Literature Review</vt:lpstr>
      <vt:lpstr>PowerPoint Presentation</vt:lpstr>
      <vt:lpstr>PowerPoint Presentation</vt:lpstr>
      <vt:lpstr>PowerPoint Presentation</vt:lpstr>
      <vt:lpstr>PowerPoint Presentation</vt:lpstr>
      <vt:lpstr>PowerPoint Presentation</vt:lpstr>
      <vt:lpstr>Research Gaps</vt:lpstr>
      <vt:lpstr>Research Gaps</vt:lpstr>
      <vt:lpstr>Problem Statement</vt:lpstr>
      <vt:lpstr>Objectives</vt:lpstr>
      <vt:lpstr>PowerPoint Presentation</vt:lpstr>
      <vt:lpstr>PowerPoint Presentation</vt:lpstr>
      <vt:lpstr>PowerPoint Presentation</vt:lpstr>
      <vt:lpstr>Software and Hardware Requirements</vt:lpstr>
      <vt:lpstr>Datasets Details</vt:lpstr>
      <vt:lpstr>PowerPoint Presentation</vt:lpstr>
      <vt:lpstr>Data flow diagram</vt:lpstr>
      <vt:lpstr>PowerPoint Presentation</vt:lpstr>
      <vt:lpstr>List of standards</vt:lpstr>
      <vt:lpstr>References</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KARTHIKEYA</dc:creator>
  <cp:lastModifiedBy>Sushanth Bobbala</cp:lastModifiedBy>
  <cp:revision>3</cp:revision>
  <dcterms:modified xsi:type="dcterms:W3CDTF">2025-04-07T04:40:32Z</dcterms:modified>
</cp:coreProperties>
</file>