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0" r:id="rId1"/>
    <p:sldMasterId id="2147483651" r:id="rId2"/>
  </p:sldMasterIdLst>
  <p:notesMasterIdLst>
    <p:notesMasterId r:id="rId41"/>
  </p:notesMasterIdLst>
  <p:sldIdLst>
    <p:sldId id="256" r:id="rId3"/>
    <p:sldId id="257" r:id="rId4"/>
    <p:sldId id="301"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82" r:id="rId22"/>
    <p:sldId id="283" r:id="rId23"/>
    <p:sldId id="284" r:id="rId24"/>
    <p:sldId id="290" r:id="rId25"/>
    <p:sldId id="296" r:id="rId26"/>
    <p:sldId id="289" r:id="rId27"/>
    <p:sldId id="299" r:id="rId28"/>
    <p:sldId id="292" r:id="rId29"/>
    <p:sldId id="297" r:id="rId30"/>
    <p:sldId id="300" r:id="rId31"/>
    <p:sldId id="298" r:id="rId32"/>
    <p:sldId id="293" r:id="rId33"/>
    <p:sldId id="286" r:id="rId34"/>
    <p:sldId id="294" r:id="rId35"/>
    <p:sldId id="295" r:id="rId36"/>
    <p:sldId id="275" r:id="rId37"/>
    <p:sldId id="276" r:id="rId38"/>
    <p:sldId id="277" r:id="rId39"/>
    <p:sldId id="278" r:id="rId4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EB5F669-19A5-4A0C-AAF8-9CA3CEDFA596}">
  <a:tblStyle styleId="{0EB5F669-19A5-4A0C-AAF8-9CA3CEDFA596}"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1262" autoAdjust="0"/>
  </p:normalViewPr>
  <p:slideViewPr>
    <p:cSldViewPr snapToGrid="0">
      <p:cViewPr varScale="1">
        <p:scale>
          <a:sx n="103" d="100"/>
          <a:sy n="103" d="100"/>
        </p:scale>
        <p:origin x="802"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0" Type="http://schemas.openxmlformats.org/officeDocument/2006/relationships/slide" Target="slides/slide18.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
        <p:cNvGrpSpPr/>
        <p:nvPr/>
      </p:nvGrpSpPr>
      <p:grpSpPr>
        <a:xfrm>
          <a:off x="0" y="0"/>
          <a:ext cx="0" cy="0"/>
          <a:chOff x="0" y="0"/>
          <a:chExt cx="0" cy="0"/>
        </a:xfrm>
      </p:grpSpPr>
      <p:sp>
        <p:nvSpPr>
          <p:cNvPr id="25" name="Google Shape;2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 name="Google Shape;2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
        <p:cNvGrpSpPr/>
        <p:nvPr/>
      </p:nvGrpSpPr>
      <p:grpSpPr>
        <a:xfrm>
          <a:off x="0" y="0"/>
          <a:ext cx="0" cy="0"/>
          <a:chOff x="0" y="0"/>
          <a:chExt cx="0" cy="0"/>
        </a:xfrm>
      </p:grpSpPr>
      <p:sp>
        <p:nvSpPr>
          <p:cNvPr id="35" name="Google Shape;35;g2dd3059041f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 name="Google Shape;36;g2dd3059041f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 name="Google Shape;5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 name="Google Shape;5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3cab92230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33cab92230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33cab92230f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33cab92230f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3cab92230f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3cab92230f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3cab92230f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3cab92230f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33cab92230f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33cab92230f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2dd3059041f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g2dd3059041f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 name="Google Shape;10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3cab92230f_4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 name="Google Shape;116;g33cab92230f_4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3cab92230f_4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g33cab92230f_4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3cab92230f_4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5" name="Google Shape;135;g33cab92230f_4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 name="Google Shape;141;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329384d487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3329384d487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32ad8f452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332ad8f452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3329384d487_1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3329384d487_1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7650" name="Google Shape;350;p10:notes">
            <a:extLst>
              <a:ext uri="{FF2B5EF4-FFF2-40B4-BE49-F238E27FC236}">
                <a16:creationId xmlns:a16="http://schemas.microsoft.com/office/drawing/2014/main" id="{BFE7D2E3-19C6-5857-CBB9-091A5D0F11CD}"/>
              </a:ext>
            </a:extLst>
          </p:cNvPr>
          <p:cNvSpPr txBox="1">
            <a:spLocks noGrp="1" noChangeArrowheads="1"/>
          </p:cNvSpPr>
          <p:nvPr>
            <p:ph type="body" idx="1"/>
          </p:nvPr>
        </p:nvSpPr>
        <p:spPr>
          <a:xfrm>
            <a:off x="914400" y="3251200"/>
            <a:ext cx="7315200" cy="3081338"/>
          </a:xfrm>
        </p:spPr>
        <p:txBody>
          <a:bodyPr tIns="45700" bIns="45700"/>
          <a:lstStyle/>
          <a:p>
            <a:pPr marL="0" indent="0"/>
            <a:endParaRPr lang="en-US" altLang="en-US">
              <a:latin typeface="Arial" panose="020B0604020202020204" pitchFamily="34" charset="0"/>
              <a:cs typeface="Arial" panose="020B0604020202020204" pitchFamily="34" charset="0"/>
            </a:endParaRPr>
          </a:p>
        </p:txBody>
      </p:sp>
      <p:sp>
        <p:nvSpPr>
          <p:cNvPr id="27651" name="Google Shape;351;p10:notes">
            <a:extLst>
              <a:ext uri="{FF2B5EF4-FFF2-40B4-BE49-F238E27FC236}">
                <a16:creationId xmlns:a16="http://schemas.microsoft.com/office/drawing/2014/main" id="{2B582454-A74E-00E1-3BB3-8F0F24D12510}"/>
              </a:ext>
            </a:extLst>
          </p:cNvPr>
          <p:cNvSpPr>
            <a:spLocks noGrp="1" noRot="1" noChangeAspect="1" noTextEdit="1"/>
          </p:cNvSpPr>
          <p:nvPr>
            <p:ph type="sldImg" idx="2"/>
          </p:nvPr>
        </p:nvSpPr>
        <p:spPr>
          <a:xfrm>
            <a:off x="2290763" y="512763"/>
            <a:ext cx="4562475" cy="2566987"/>
          </a:xfrm>
          <a:custGeom>
            <a:avLst/>
            <a:gdLst>
              <a:gd name="T0" fmla="*/ 0 w 120000"/>
              <a:gd name="T1" fmla="*/ 0 h 120000"/>
              <a:gd name="T2" fmla="*/ 120000 w 120000"/>
              <a:gd name="T3" fmla="*/ 0 h 120000"/>
              <a:gd name="T4" fmla="*/ 120000 w 120000"/>
              <a:gd name="T5" fmla="*/ 120000 h 120000"/>
              <a:gd name="T6" fmla="*/ 0 w 120000"/>
              <a:gd name="T7" fmla="*/ 120000 h 120000"/>
              <a:gd name="T8" fmla="*/ 0 w 120000"/>
              <a:gd name="T9" fmla="*/ 0 h 120000"/>
            </a:gdLst>
            <a:ahLst/>
            <a:cxnLst>
              <a:cxn ang="0">
                <a:pos x="T0" y="T1"/>
              </a:cxn>
              <a:cxn ang="0">
                <a:pos x="T2" y="T3"/>
              </a:cxn>
              <a:cxn ang="0">
                <a:pos x="T4" y="T5"/>
              </a:cxn>
              <a:cxn ang="0">
                <a:pos x="T6" y="T7"/>
              </a:cxn>
              <a:cxn ang="0">
                <a:pos x="T8" y="T9"/>
              </a:cxn>
            </a:cxnLst>
            <a:rect l="0" t="0" r="r" b="b"/>
            <a:pathLst>
              <a:path w="120000" h="120000" extrusionOk="0">
                <a:moveTo>
                  <a:pt x="0" y="0"/>
                </a:moveTo>
                <a:lnTo>
                  <a:pt x="120000" y="0"/>
                </a:lnTo>
                <a:lnTo>
                  <a:pt x="120000" y="120000"/>
                </a:lnTo>
                <a:lnTo>
                  <a:pt x="0" y="120000"/>
                </a:lnTo>
                <a:lnTo>
                  <a:pt x="0" y="0"/>
                </a:lnTo>
                <a:close/>
              </a:path>
            </a:pathLst>
          </a:custGeom>
          <a:noFill/>
          <a:ln>
            <a:headEnd/>
            <a:tailEnd/>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9698" name="Google Shape;350;p10:notes">
            <a:extLst>
              <a:ext uri="{FF2B5EF4-FFF2-40B4-BE49-F238E27FC236}">
                <a16:creationId xmlns:a16="http://schemas.microsoft.com/office/drawing/2014/main" id="{A386944E-8121-3E62-0611-9189745B9B5D}"/>
              </a:ext>
            </a:extLst>
          </p:cNvPr>
          <p:cNvSpPr txBox="1">
            <a:spLocks noGrp="1" noChangeArrowheads="1"/>
          </p:cNvSpPr>
          <p:nvPr>
            <p:ph type="body" idx="1"/>
          </p:nvPr>
        </p:nvSpPr>
        <p:spPr>
          <a:xfrm>
            <a:off x="914400" y="3251200"/>
            <a:ext cx="7315200" cy="3081338"/>
          </a:xfrm>
        </p:spPr>
        <p:txBody>
          <a:bodyPr tIns="45700" bIns="45700"/>
          <a:lstStyle/>
          <a:p>
            <a:pPr marL="0" indent="0"/>
            <a:endParaRPr lang="en-US" altLang="en-US">
              <a:latin typeface="Arial" panose="020B0604020202020204" pitchFamily="34" charset="0"/>
              <a:cs typeface="Arial" panose="020B0604020202020204" pitchFamily="34" charset="0"/>
            </a:endParaRPr>
          </a:p>
        </p:txBody>
      </p:sp>
      <p:sp>
        <p:nvSpPr>
          <p:cNvPr id="29699" name="Google Shape;351;p10:notes">
            <a:extLst>
              <a:ext uri="{FF2B5EF4-FFF2-40B4-BE49-F238E27FC236}">
                <a16:creationId xmlns:a16="http://schemas.microsoft.com/office/drawing/2014/main" id="{A6ABB1C0-C3C6-6E2B-23FD-69035789211C}"/>
              </a:ext>
            </a:extLst>
          </p:cNvPr>
          <p:cNvSpPr>
            <a:spLocks noGrp="1" noRot="1" noChangeAspect="1" noTextEdit="1"/>
          </p:cNvSpPr>
          <p:nvPr>
            <p:ph type="sldImg" idx="2"/>
          </p:nvPr>
        </p:nvSpPr>
        <p:spPr>
          <a:xfrm>
            <a:off x="2290763" y="512763"/>
            <a:ext cx="4562475" cy="2566987"/>
          </a:xfrm>
          <a:custGeom>
            <a:avLst/>
            <a:gdLst>
              <a:gd name="T0" fmla="*/ 0 w 120000"/>
              <a:gd name="T1" fmla="*/ 0 h 120000"/>
              <a:gd name="T2" fmla="*/ 120000 w 120000"/>
              <a:gd name="T3" fmla="*/ 0 h 120000"/>
              <a:gd name="T4" fmla="*/ 120000 w 120000"/>
              <a:gd name="T5" fmla="*/ 120000 h 120000"/>
              <a:gd name="T6" fmla="*/ 0 w 120000"/>
              <a:gd name="T7" fmla="*/ 120000 h 120000"/>
              <a:gd name="T8" fmla="*/ 0 w 120000"/>
              <a:gd name="T9" fmla="*/ 0 h 120000"/>
            </a:gdLst>
            <a:ahLst/>
            <a:cxnLst>
              <a:cxn ang="0">
                <a:pos x="T0" y="T1"/>
              </a:cxn>
              <a:cxn ang="0">
                <a:pos x="T2" y="T3"/>
              </a:cxn>
              <a:cxn ang="0">
                <a:pos x="T4" y="T5"/>
              </a:cxn>
              <a:cxn ang="0">
                <a:pos x="T6" y="T7"/>
              </a:cxn>
              <a:cxn ang="0">
                <a:pos x="T8" y="T9"/>
              </a:cxn>
            </a:cxnLst>
            <a:rect l="0" t="0" r="r" b="b"/>
            <a:pathLst>
              <a:path w="120000" h="120000" extrusionOk="0">
                <a:moveTo>
                  <a:pt x="0" y="0"/>
                </a:moveTo>
                <a:lnTo>
                  <a:pt x="120000" y="0"/>
                </a:lnTo>
                <a:lnTo>
                  <a:pt x="120000" y="120000"/>
                </a:lnTo>
                <a:lnTo>
                  <a:pt x="0" y="120000"/>
                </a:lnTo>
                <a:lnTo>
                  <a:pt x="0" y="0"/>
                </a:lnTo>
                <a:close/>
              </a:path>
            </a:pathLst>
          </a:custGeom>
          <a:noFill/>
          <a:ln>
            <a:headEnd/>
            <a:tailEnd/>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3794" name="Google Shape;350;p10:notes">
            <a:extLst>
              <a:ext uri="{FF2B5EF4-FFF2-40B4-BE49-F238E27FC236}">
                <a16:creationId xmlns:a16="http://schemas.microsoft.com/office/drawing/2014/main" id="{B9B2A424-9DE9-18A4-BB1E-50962AAFF0FC}"/>
              </a:ext>
            </a:extLst>
          </p:cNvPr>
          <p:cNvSpPr txBox="1">
            <a:spLocks noGrp="1" noChangeArrowheads="1"/>
          </p:cNvSpPr>
          <p:nvPr>
            <p:ph type="body" idx="1"/>
          </p:nvPr>
        </p:nvSpPr>
        <p:spPr>
          <a:xfrm>
            <a:off x="914400" y="3251200"/>
            <a:ext cx="7315200" cy="3081338"/>
          </a:xfrm>
        </p:spPr>
        <p:txBody>
          <a:bodyPr tIns="45700" bIns="45700"/>
          <a:lstStyle/>
          <a:p>
            <a:pPr marL="0" indent="0"/>
            <a:endParaRPr lang="en-US" altLang="en-US">
              <a:latin typeface="Arial" panose="020B0604020202020204" pitchFamily="34" charset="0"/>
              <a:cs typeface="Arial" panose="020B0604020202020204" pitchFamily="34" charset="0"/>
            </a:endParaRPr>
          </a:p>
        </p:txBody>
      </p:sp>
      <p:sp>
        <p:nvSpPr>
          <p:cNvPr id="33795" name="Google Shape;351;p10:notes">
            <a:extLst>
              <a:ext uri="{FF2B5EF4-FFF2-40B4-BE49-F238E27FC236}">
                <a16:creationId xmlns:a16="http://schemas.microsoft.com/office/drawing/2014/main" id="{C3E51349-A0F8-BE7F-D29C-FC7AACE85FD3}"/>
              </a:ext>
            </a:extLst>
          </p:cNvPr>
          <p:cNvSpPr>
            <a:spLocks noGrp="1" noRot="1" noChangeAspect="1" noTextEdit="1"/>
          </p:cNvSpPr>
          <p:nvPr>
            <p:ph type="sldImg" idx="2"/>
          </p:nvPr>
        </p:nvSpPr>
        <p:spPr>
          <a:xfrm>
            <a:off x="2290763" y="512763"/>
            <a:ext cx="4562475" cy="2566987"/>
          </a:xfrm>
          <a:custGeom>
            <a:avLst/>
            <a:gdLst>
              <a:gd name="T0" fmla="*/ 0 w 120000"/>
              <a:gd name="T1" fmla="*/ 0 h 120000"/>
              <a:gd name="T2" fmla="*/ 120000 w 120000"/>
              <a:gd name="T3" fmla="*/ 0 h 120000"/>
              <a:gd name="T4" fmla="*/ 120000 w 120000"/>
              <a:gd name="T5" fmla="*/ 120000 h 120000"/>
              <a:gd name="T6" fmla="*/ 0 w 120000"/>
              <a:gd name="T7" fmla="*/ 120000 h 120000"/>
              <a:gd name="T8" fmla="*/ 0 w 120000"/>
              <a:gd name="T9" fmla="*/ 0 h 120000"/>
            </a:gdLst>
            <a:ahLst/>
            <a:cxnLst>
              <a:cxn ang="0">
                <a:pos x="T0" y="T1"/>
              </a:cxn>
              <a:cxn ang="0">
                <a:pos x="T2" y="T3"/>
              </a:cxn>
              <a:cxn ang="0">
                <a:pos x="T4" y="T5"/>
              </a:cxn>
              <a:cxn ang="0">
                <a:pos x="T6" y="T7"/>
              </a:cxn>
              <a:cxn ang="0">
                <a:pos x="T8" y="T9"/>
              </a:cxn>
            </a:cxnLst>
            <a:rect l="0" t="0" r="r" b="b"/>
            <a:pathLst>
              <a:path w="120000" h="120000" extrusionOk="0">
                <a:moveTo>
                  <a:pt x="0" y="0"/>
                </a:moveTo>
                <a:lnTo>
                  <a:pt x="120000" y="0"/>
                </a:lnTo>
                <a:lnTo>
                  <a:pt x="120000" y="120000"/>
                </a:lnTo>
                <a:lnTo>
                  <a:pt x="0" y="120000"/>
                </a:lnTo>
                <a:lnTo>
                  <a:pt x="0" y="0"/>
                </a:lnTo>
                <a:close/>
              </a:path>
            </a:pathLst>
          </a:custGeom>
          <a:noFill/>
          <a:ln>
            <a:headEnd/>
            <a:tailEnd/>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5842" name="Google Shape;350;p10:notes">
            <a:extLst>
              <a:ext uri="{FF2B5EF4-FFF2-40B4-BE49-F238E27FC236}">
                <a16:creationId xmlns:a16="http://schemas.microsoft.com/office/drawing/2014/main" id="{6F0D60CD-8E33-4E60-9F93-A809E5CC0A8B}"/>
              </a:ext>
            </a:extLst>
          </p:cNvPr>
          <p:cNvSpPr txBox="1">
            <a:spLocks noGrp="1" noChangeArrowheads="1"/>
          </p:cNvSpPr>
          <p:nvPr>
            <p:ph type="body" idx="1"/>
          </p:nvPr>
        </p:nvSpPr>
        <p:spPr>
          <a:xfrm>
            <a:off x="914400" y="3251200"/>
            <a:ext cx="7315200" cy="3081338"/>
          </a:xfrm>
        </p:spPr>
        <p:txBody>
          <a:bodyPr tIns="45700" bIns="45700"/>
          <a:lstStyle/>
          <a:p>
            <a:pPr marL="0" indent="0"/>
            <a:endParaRPr lang="en-US" altLang="en-US">
              <a:latin typeface="Arial" panose="020B0604020202020204" pitchFamily="34" charset="0"/>
              <a:cs typeface="Arial" panose="020B0604020202020204" pitchFamily="34" charset="0"/>
            </a:endParaRPr>
          </a:p>
        </p:txBody>
      </p:sp>
      <p:sp>
        <p:nvSpPr>
          <p:cNvPr id="35843" name="Google Shape;351;p10:notes">
            <a:extLst>
              <a:ext uri="{FF2B5EF4-FFF2-40B4-BE49-F238E27FC236}">
                <a16:creationId xmlns:a16="http://schemas.microsoft.com/office/drawing/2014/main" id="{04CE9B30-E049-5C60-4CE2-D42E1442382C}"/>
              </a:ext>
            </a:extLst>
          </p:cNvPr>
          <p:cNvSpPr>
            <a:spLocks noGrp="1" noRot="1" noChangeAspect="1" noTextEdit="1"/>
          </p:cNvSpPr>
          <p:nvPr>
            <p:ph type="sldImg" idx="2"/>
          </p:nvPr>
        </p:nvSpPr>
        <p:spPr>
          <a:xfrm>
            <a:off x="2290763" y="512763"/>
            <a:ext cx="4562475" cy="2566987"/>
          </a:xfrm>
          <a:custGeom>
            <a:avLst/>
            <a:gdLst>
              <a:gd name="T0" fmla="*/ 0 w 120000"/>
              <a:gd name="T1" fmla="*/ 0 h 120000"/>
              <a:gd name="T2" fmla="*/ 120000 w 120000"/>
              <a:gd name="T3" fmla="*/ 0 h 120000"/>
              <a:gd name="T4" fmla="*/ 120000 w 120000"/>
              <a:gd name="T5" fmla="*/ 120000 h 120000"/>
              <a:gd name="T6" fmla="*/ 0 w 120000"/>
              <a:gd name="T7" fmla="*/ 120000 h 120000"/>
              <a:gd name="T8" fmla="*/ 0 w 120000"/>
              <a:gd name="T9" fmla="*/ 0 h 120000"/>
            </a:gdLst>
            <a:ahLst/>
            <a:cxnLst>
              <a:cxn ang="0">
                <a:pos x="T0" y="T1"/>
              </a:cxn>
              <a:cxn ang="0">
                <a:pos x="T2" y="T3"/>
              </a:cxn>
              <a:cxn ang="0">
                <a:pos x="T4" y="T5"/>
              </a:cxn>
              <a:cxn ang="0">
                <a:pos x="T6" y="T7"/>
              </a:cxn>
              <a:cxn ang="0">
                <a:pos x="T8" y="T9"/>
              </a:cxn>
            </a:cxnLst>
            <a:rect l="0" t="0" r="r" b="b"/>
            <a:pathLst>
              <a:path w="120000" h="120000" extrusionOk="0">
                <a:moveTo>
                  <a:pt x="0" y="0"/>
                </a:moveTo>
                <a:lnTo>
                  <a:pt x="120000" y="0"/>
                </a:lnTo>
                <a:lnTo>
                  <a:pt x="120000" y="120000"/>
                </a:lnTo>
                <a:lnTo>
                  <a:pt x="0" y="120000"/>
                </a:lnTo>
                <a:lnTo>
                  <a:pt x="0" y="0"/>
                </a:lnTo>
                <a:close/>
              </a:path>
            </a:pathLst>
          </a:custGeom>
          <a:noFill/>
          <a:ln>
            <a:headEnd/>
            <a:tailEnd/>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329384d487_1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329384d487_1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7890" name="Google Shape;350;p10:notes">
            <a:extLst>
              <a:ext uri="{FF2B5EF4-FFF2-40B4-BE49-F238E27FC236}">
                <a16:creationId xmlns:a16="http://schemas.microsoft.com/office/drawing/2014/main" id="{4CA4DEC2-C40E-0A25-EB20-8EC96691C834}"/>
              </a:ext>
            </a:extLst>
          </p:cNvPr>
          <p:cNvSpPr txBox="1">
            <a:spLocks noGrp="1" noChangeArrowheads="1"/>
          </p:cNvSpPr>
          <p:nvPr>
            <p:ph type="body" idx="1"/>
          </p:nvPr>
        </p:nvSpPr>
        <p:spPr>
          <a:xfrm>
            <a:off x="914400" y="3251200"/>
            <a:ext cx="7315200" cy="3081338"/>
          </a:xfrm>
        </p:spPr>
        <p:txBody>
          <a:bodyPr tIns="45700" bIns="45700"/>
          <a:lstStyle/>
          <a:p>
            <a:pPr marL="0" indent="0"/>
            <a:endParaRPr lang="en-US" altLang="en-US">
              <a:latin typeface="Arial" panose="020B0604020202020204" pitchFamily="34" charset="0"/>
              <a:cs typeface="Arial" panose="020B0604020202020204" pitchFamily="34" charset="0"/>
            </a:endParaRPr>
          </a:p>
        </p:txBody>
      </p:sp>
      <p:sp>
        <p:nvSpPr>
          <p:cNvPr id="37891" name="Google Shape;351;p10:notes">
            <a:extLst>
              <a:ext uri="{FF2B5EF4-FFF2-40B4-BE49-F238E27FC236}">
                <a16:creationId xmlns:a16="http://schemas.microsoft.com/office/drawing/2014/main" id="{AB9DFAA4-B2A5-73F2-76E7-C4D63B7A2DFC}"/>
              </a:ext>
            </a:extLst>
          </p:cNvPr>
          <p:cNvSpPr>
            <a:spLocks noGrp="1" noRot="1" noChangeAspect="1" noTextEdit="1"/>
          </p:cNvSpPr>
          <p:nvPr>
            <p:ph type="sldImg" idx="2"/>
          </p:nvPr>
        </p:nvSpPr>
        <p:spPr>
          <a:xfrm>
            <a:off x="2290763" y="512763"/>
            <a:ext cx="4562475" cy="2566987"/>
          </a:xfrm>
          <a:custGeom>
            <a:avLst/>
            <a:gdLst>
              <a:gd name="T0" fmla="*/ 0 w 120000"/>
              <a:gd name="T1" fmla="*/ 0 h 120000"/>
              <a:gd name="T2" fmla="*/ 120000 w 120000"/>
              <a:gd name="T3" fmla="*/ 0 h 120000"/>
              <a:gd name="T4" fmla="*/ 120000 w 120000"/>
              <a:gd name="T5" fmla="*/ 120000 h 120000"/>
              <a:gd name="T6" fmla="*/ 0 w 120000"/>
              <a:gd name="T7" fmla="*/ 120000 h 120000"/>
              <a:gd name="T8" fmla="*/ 0 w 120000"/>
              <a:gd name="T9" fmla="*/ 0 h 120000"/>
            </a:gdLst>
            <a:ahLst/>
            <a:cxnLst>
              <a:cxn ang="0">
                <a:pos x="T0" y="T1"/>
              </a:cxn>
              <a:cxn ang="0">
                <a:pos x="T2" y="T3"/>
              </a:cxn>
              <a:cxn ang="0">
                <a:pos x="T4" y="T5"/>
              </a:cxn>
              <a:cxn ang="0">
                <a:pos x="T6" y="T7"/>
              </a:cxn>
              <a:cxn ang="0">
                <a:pos x="T8" y="T9"/>
              </a:cxn>
            </a:cxnLst>
            <a:rect l="0" t="0" r="r" b="b"/>
            <a:pathLst>
              <a:path w="120000" h="120000" extrusionOk="0">
                <a:moveTo>
                  <a:pt x="0" y="0"/>
                </a:moveTo>
                <a:lnTo>
                  <a:pt x="120000" y="0"/>
                </a:lnTo>
                <a:lnTo>
                  <a:pt x="120000" y="120000"/>
                </a:lnTo>
                <a:lnTo>
                  <a:pt x="0" y="120000"/>
                </a:lnTo>
                <a:lnTo>
                  <a:pt x="0" y="0"/>
                </a:lnTo>
                <a:close/>
              </a:path>
            </a:pathLst>
          </a:custGeom>
          <a:noFill/>
          <a:ln>
            <a:headEnd/>
            <a:tailEnd/>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5" name="Google Shape;155;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2dd3059041f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2" name="Google Shape;162;g2dd3059041f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2dd3059041f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9" name="Google Shape;169;g2dd3059041f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6" name="Google Shape;176;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0" y="0"/>
            <a:ext cx="9144000" cy="649800"/>
          </a:xfrm>
          <a:prstGeom prst="rect">
            <a:avLst/>
          </a:prstGeom>
          <a:noFill/>
          <a:ln>
            <a:noFill/>
          </a:ln>
        </p:spPr>
        <p:txBody>
          <a:bodyPr spcFirstLastPara="1" wrap="square" lIns="91425" tIns="91425" rIns="91425" bIns="91425" anchor="t" anchorCtr="0">
            <a:normAutofit/>
          </a:bodyPr>
          <a:lstStyle>
            <a:lvl1pPr lvl="0" algn="ctr">
              <a:spcBef>
                <a:spcPts val="0"/>
              </a:spcBef>
              <a:spcAft>
                <a:spcPts val="0"/>
              </a:spcAft>
              <a:buSzPts val="5200"/>
              <a:buNone/>
              <a:defRPr sz="3200" b="1">
                <a:latin typeface="Times New Roman"/>
                <a:ea typeface="Times New Roman"/>
                <a:cs typeface="Times New Roman"/>
                <a:sym typeface="Times New Roman"/>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2" name="Google Shape;12;p2"/>
          <p:cNvSpPr txBox="1">
            <a:spLocks noGrp="1"/>
          </p:cNvSpPr>
          <p:nvPr>
            <p:ph type="body" idx="1"/>
          </p:nvPr>
        </p:nvSpPr>
        <p:spPr>
          <a:xfrm>
            <a:off x="165100" y="914400"/>
            <a:ext cx="8763000" cy="3479700"/>
          </a:xfrm>
          <a:prstGeom prst="rect">
            <a:avLst/>
          </a:prstGeom>
          <a:noFill/>
          <a:ln>
            <a:noFill/>
          </a:ln>
        </p:spPr>
        <p:txBody>
          <a:bodyPr spcFirstLastPara="1" wrap="square" lIns="91425" tIns="91425" rIns="91425" bIns="91425" anchor="t" anchorCtr="0">
            <a:noAutofit/>
          </a:bodyPr>
          <a:lstStyle>
            <a:lvl1pPr marL="457200" lvl="0" indent="-228600" algn="l">
              <a:spcBef>
                <a:spcPts val="0"/>
              </a:spcBef>
              <a:spcAft>
                <a:spcPts val="0"/>
              </a:spcAft>
              <a:buSzPts val="1400"/>
              <a:buNone/>
              <a:defRPr sz="2400">
                <a:latin typeface="Times New Roman"/>
                <a:ea typeface="Times New Roman"/>
                <a:cs typeface="Times New Roman"/>
                <a:sym typeface="Times New Roman"/>
              </a:defRPr>
            </a:lvl1pPr>
            <a:lvl2pPr marL="914400" lvl="1" indent="-228600" algn="l">
              <a:spcBef>
                <a:spcPts val="0"/>
              </a:spcBef>
              <a:spcAft>
                <a:spcPts val="0"/>
              </a:spcAft>
              <a:buSzPts val="1400"/>
              <a:buNone/>
              <a:defRPr sz="2200">
                <a:latin typeface="Times New Roman"/>
                <a:ea typeface="Times New Roman"/>
                <a:cs typeface="Times New Roman"/>
                <a:sym typeface="Times New Roman"/>
              </a:defRPr>
            </a:lvl2pPr>
            <a:lvl3pPr marL="1371600" lvl="2" indent="-228600" algn="l">
              <a:spcBef>
                <a:spcPts val="0"/>
              </a:spcBef>
              <a:spcAft>
                <a:spcPts val="0"/>
              </a:spcAft>
              <a:buSzPts val="1400"/>
              <a:buNone/>
              <a:defRPr sz="2200">
                <a:latin typeface="Times New Roman"/>
                <a:ea typeface="Times New Roman"/>
                <a:cs typeface="Times New Roman"/>
                <a:sym typeface="Times New Roman"/>
              </a:defRPr>
            </a:lvl3pPr>
            <a:lvl4pPr marL="1828800" lvl="3" indent="-228600" algn="l">
              <a:spcBef>
                <a:spcPts val="0"/>
              </a:spcBef>
              <a:spcAft>
                <a:spcPts val="0"/>
              </a:spcAft>
              <a:buSzPts val="1400"/>
              <a:buNone/>
              <a:defRPr sz="2000">
                <a:latin typeface="Times New Roman"/>
                <a:ea typeface="Times New Roman"/>
                <a:cs typeface="Times New Roman"/>
                <a:sym typeface="Times New Roman"/>
              </a:defRPr>
            </a:lvl4pPr>
            <a:lvl5pPr marL="2286000" lvl="4" indent="-228600" algn="l">
              <a:spcBef>
                <a:spcPts val="0"/>
              </a:spcBef>
              <a:spcAft>
                <a:spcPts val="0"/>
              </a:spcAft>
              <a:buSzPts val="1400"/>
              <a:buNone/>
              <a:defRPr sz="2000">
                <a:latin typeface="Times New Roman"/>
                <a:ea typeface="Times New Roman"/>
                <a:cs typeface="Times New Roman"/>
                <a:sym typeface="Times New Roman"/>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3" name="Google Shape;13;p2"/>
          <p:cNvSpPr txBox="1">
            <a:spLocks noGrp="1"/>
          </p:cNvSpPr>
          <p:nvPr>
            <p:ph type="sldNum" idx="12"/>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4" name="Google Shape;14;p2"/>
          <p:cNvSpPr txBox="1">
            <a:spLocks noGrp="1"/>
          </p:cNvSpPr>
          <p:nvPr>
            <p:ph type="ftr" idx="11"/>
          </p:nvPr>
        </p:nvSpPr>
        <p:spPr>
          <a:xfrm>
            <a:off x="2706687" y="4760912"/>
            <a:ext cx="3538500" cy="1983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b="1">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2" name="Google Shape;16;p14">
            <a:extLst>
              <a:ext uri="{FF2B5EF4-FFF2-40B4-BE49-F238E27FC236}">
                <a16:creationId xmlns:a16="http://schemas.microsoft.com/office/drawing/2014/main" id="{230DE04F-7AA5-532F-01B8-2AA0BA3CF685}"/>
              </a:ext>
            </a:extLst>
          </p:cNvPr>
          <p:cNvSpPr txBox="1">
            <a:spLocks noGrp="1"/>
          </p:cNvSpPr>
          <p:nvPr>
            <p:ph type="dt" idx="10"/>
          </p:nvPr>
        </p:nvSpPr>
        <p:spPr>
          <a:xfrm>
            <a:off x="228600" y="3178175"/>
            <a:ext cx="1066800" cy="182563"/>
          </a:xfrm>
          <a:prstGeom prst="rect">
            <a:avLst/>
          </a:prstGeom>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3" name="Google Shape;17;p14">
            <a:extLst>
              <a:ext uri="{FF2B5EF4-FFF2-40B4-BE49-F238E27FC236}">
                <a16:creationId xmlns:a16="http://schemas.microsoft.com/office/drawing/2014/main" id="{60C1066C-3CDF-9D79-6348-CD5EB14FC2E0}"/>
              </a:ext>
            </a:extLst>
          </p:cNvPr>
          <p:cNvSpPr txBox="1">
            <a:spLocks noGrp="1"/>
          </p:cNvSpPr>
          <p:nvPr>
            <p:ph type="ftr" idx="11"/>
          </p:nvPr>
        </p:nvSpPr>
        <p:spPr>
          <a:xfrm>
            <a:off x="1562100" y="3178175"/>
            <a:ext cx="1447800" cy="182563"/>
          </a:xfrm>
          <a:prstGeom prst="rect">
            <a:avLst/>
          </a:prstGeom>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4" name="Google Shape;18;p14">
            <a:extLst>
              <a:ext uri="{FF2B5EF4-FFF2-40B4-BE49-F238E27FC236}">
                <a16:creationId xmlns:a16="http://schemas.microsoft.com/office/drawing/2014/main" id="{FF61FC15-95A4-3B94-FF71-4A56C7461C19}"/>
              </a:ext>
            </a:extLst>
          </p:cNvPr>
          <p:cNvSpPr txBox="1">
            <a:spLocks noGrp="1"/>
          </p:cNvSpPr>
          <p:nvPr>
            <p:ph type="sldNum" idx="12"/>
          </p:nvPr>
        </p:nvSpPr>
        <p:spPr>
          <a:xfrm>
            <a:off x="3276600" y="3178175"/>
            <a:ext cx="1066800" cy="182563"/>
          </a:xfrm>
        </p:spPr>
        <p:txBody>
          <a:bodyPr spcFirstLastPara="1" tIns="45700" bIns="45700">
            <a:noAutofit/>
          </a:bodyPr>
          <a:lstStyle>
            <a:lvl1pPr marL="0" lvl="0" indent="0" algn="r">
              <a:spcBef>
                <a:spcPts val="0"/>
              </a:spcBef>
              <a:spcAft>
                <a:spcPts val="0"/>
              </a:spcAft>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a:defRPr/>
            </a:pPr>
            <a:fld id="{C47352ED-CA36-4D3E-BDAD-C75263ED03EB}" type="slidenum">
              <a:rPr lang="en-US"/>
              <a:pPr>
                <a:defRPr/>
              </a:pPr>
              <a:t>‹#›</a:t>
            </a:fld>
            <a:endParaRPr lang="en-US"/>
          </a:p>
        </p:txBody>
      </p:sp>
    </p:spTree>
    <p:extLst>
      <p:ext uri="{BB962C8B-B14F-4D97-AF65-F5344CB8AC3E}">
        <p14:creationId xmlns:p14="http://schemas.microsoft.com/office/powerpoint/2010/main" val="3374662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0"/>
        <p:cNvGrpSpPr/>
        <p:nvPr/>
      </p:nvGrpSpPr>
      <p:grpSpPr>
        <a:xfrm>
          <a:off x="0" y="0"/>
          <a:ext cx="0" cy="0"/>
          <a:chOff x="0" y="0"/>
          <a:chExt cx="0" cy="0"/>
        </a:xfrm>
      </p:grpSpPr>
      <p:sp>
        <p:nvSpPr>
          <p:cNvPr id="21" name="Google Shape;21;p4"/>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2" name="Google Shape;22;p4"/>
          <p:cNvSpPr txBox="1">
            <a:spLocks noGrp="1"/>
          </p:cNvSpPr>
          <p:nvPr>
            <p:ph type="sldNum" idx="12"/>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3" name="Google Shape;23;p4"/>
          <p:cNvSpPr txBox="1">
            <a:spLocks noGrp="1"/>
          </p:cNvSpPr>
          <p:nvPr>
            <p:ph type="ftr" idx="11"/>
          </p:nvPr>
        </p:nvSpPr>
        <p:spPr>
          <a:xfrm>
            <a:off x="2706687" y="4760912"/>
            <a:ext cx="3538500" cy="1983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b="1">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150" y="444500"/>
            <a:ext cx="8521800" cy="573000"/>
          </a:xfrm>
          <a:prstGeom prst="rect">
            <a:avLst/>
          </a:prstGeom>
          <a:noFill/>
          <a:ln>
            <a:noFill/>
          </a:ln>
        </p:spPr>
        <p:txBody>
          <a:bodyPr spcFirstLastPara="1" wrap="square" lIns="91425" tIns="91425" rIns="91425" bIns="91425" anchor="t" anchorCtr="0">
            <a:noAutofit/>
          </a:bodyPr>
          <a:lstStyle>
            <a:lvl1pPr marR="0" lvl="0" algn="l">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150" y="1152525"/>
            <a:ext cx="8521800" cy="3416400"/>
          </a:xfrm>
          <a:prstGeom prst="rect">
            <a:avLst/>
          </a:prstGeom>
          <a:noFill/>
          <a:ln>
            <a:noFill/>
          </a:ln>
        </p:spPr>
        <p:txBody>
          <a:bodyPr spcFirstLastPara="1" wrap="square" lIns="91425" tIns="91425" rIns="91425" bIns="91425" anchor="t" anchorCtr="0">
            <a:noAutofit/>
          </a:bodyPr>
          <a:lstStyle>
            <a:lvl1pPr marL="457200" marR="0" lvl="0" indent="-228600" algn="l">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L="914400" marR="0" lvl="1" indent="-228600" algn="l">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L="1371600" marR="0" lvl="2" indent="-228600" algn="l">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L="1828800" marR="0" lvl="3" indent="-228600" algn="l">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L="2286000" marR="0" lvl="4" indent="-228600" algn="l">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
        <p:nvSpPr>
          <p:cNvPr id="9" name="Google Shape;9;p1"/>
          <p:cNvSpPr txBox="1">
            <a:spLocks noGrp="1"/>
          </p:cNvSpPr>
          <p:nvPr>
            <p:ph type="ftr" idx="11"/>
          </p:nvPr>
        </p:nvSpPr>
        <p:spPr>
          <a:xfrm>
            <a:off x="2706687" y="4760912"/>
            <a:ext cx="3538500" cy="198300"/>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SzPts val="1400"/>
              <a:buNone/>
              <a:defRPr sz="900" b="1" i="0" u="none" strike="noStrike" cap="none">
                <a:solidFill>
                  <a:srgbClr val="898989"/>
                </a:solidFill>
                <a:latin typeface="Arial"/>
                <a:ea typeface="Arial"/>
                <a:cs typeface="Arial"/>
                <a:sym typeface="Arial"/>
              </a:defRPr>
            </a:lvl1pPr>
            <a:lvl2pPr marR="0" lvl="1"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311150" y="444500"/>
            <a:ext cx="8521800" cy="573000"/>
          </a:xfrm>
          <a:prstGeom prst="rect">
            <a:avLst/>
          </a:prstGeom>
          <a:noFill/>
          <a:ln>
            <a:noFill/>
          </a:ln>
        </p:spPr>
        <p:txBody>
          <a:bodyPr spcFirstLastPara="1" wrap="square" lIns="91425" tIns="91425" rIns="91425" bIns="91425" anchor="t" anchorCtr="0">
            <a:noAutofit/>
          </a:bodyPr>
          <a:lstStyle>
            <a:lvl1pPr marR="0" lvl="0" algn="l">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7" name="Google Shape;17;p3"/>
          <p:cNvSpPr txBox="1">
            <a:spLocks noGrp="1"/>
          </p:cNvSpPr>
          <p:nvPr>
            <p:ph type="body" idx="1"/>
          </p:nvPr>
        </p:nvSpPr>
        <p:spPr>
          <a:xfrm>
            <a:off x="311150" y="1152525"/>
            <a:ext cx="8521800" cy="3416400"/>
          </a:xfrm>
          <a:prstGeom prst="rect">
            <a:avLst/>
          </a:prstGeom>
          <a:noFill/>
          <a:ln>
            <a:noFill/>
          </a:ln>
        </p:spPr>
        <p:txBody>
          <a:bodyPr spcFirstLastPara="1" wrap="square" lIns="91425" tIns="91425" rIns="91425" bIns="91425" anchor="t" anchorCtr="0">
            <a:noAutofit/>
          </a:bodyPr>
          <a:lstStyle>
            <a:lvl1pPr marL="457200" marR="0" lvl="0" indent="-228600" algn="l">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L="914400" marR="0" lvl="1" indent="-228600" algn="l">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L="1371600" marR="0" lvl="2" indent="-228600" algn="l">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L="1828800" marR="0" lvl="3" indent="-228600" algn="l">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L="2286000" marR="0" lvl="4" indent="-228600" algn="l">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8" name="Google Shape;18;p3"/>
          <p:cNvSpPr txBox="1">
            <a:spLocks noGrp="1"/>
          </p:cNvSpPr>
          <p:nvPr>
            <p:ph type="sldNum" idx="12"/>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
        <p:nvSpPr>
          <p:cNvPr id="19" name="Google Shape;19;p3"/>
          <p:cNvSpPr txBox="1">
            <a:spLocks noGrp="1"/>
          </p:cNvSpPr>
          <p:nvPr>
            <p:ph type="ftr" idx="11"/>
          </p:nvPr>
        </p:nvSpPr>
        <p:spPr>
          <a:xfrm>
            <a:off x="2706687" y="4760912"/>
            <a:ext cx="3538500" cy="198300"/>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SzPts val="1400"/>
              <a:buNone/>
              <a:defRPr sz="900" b="1" i="0" u="none">
                <a:solidFill>
                  <a:srgbClr val="898989"/>
                </a:solidFill>
                <a:latin typeface="Arial"/>
                <a:ea typeface="Arial"/>
                <a:cs typeface="Arial"/>
                <a:sym typeface="Arial"/>
              </a:defRPr>
            </a:lvl1pPr>
            <a:lvl2pPr marR="0" lvl="1"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hyperlink" Target="https://ourworldindata.org/grapher/coal-consumption-by-country-terawatt-hours-twh"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hyperlink" Target="https://ourworldindata.org/grapher/oil-consumption-by-country" TargetMode="External"/><Relationship Id="rId4" Type="http://schemas.openxmlformats.org/officeDocument/2006/relationships/hyperlink" Target="https://ourworldindata.org/grapher/natural-gas-consumption-by-region"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7"/>
        <p:cNvGrpSpPr/>
        <p:nvPr/>
      </p:nvGrpSpPr>
      <p:grpSpPr>
        <a:xfrm>
          <a:off x="0" y="0"/>
          <a:ext cx="0" cy="0"/>
          <a:chOff x="0" y="0"/>
          <a:chExt cx="0" cy="0"/>
        </a:xfrm>
      </p:grpSpPr>
      <p:sp>
        <p:nvSpPr>
          <p:cNvPr id="28" name="Google Shape;28;p5"/>
          <p:cNvSpPr txBox="1">
            <a:spLocks noGrp="1"/>
          </p:cNvSpPr>
          <p:nvPr>
            <p:ph type="ctrTitle"/>
          </p:nvPr>
        </p:nvSpPr>
        <p:spPr>
          <a:xfrm>
            <a:off x="-9525" y="738187"/>
            <a:ext cx="9144000" cy="1712912"/>
          </a:xfrm>
          <a:prstGeom prst="rect">
            <a:avLst/>
          </a:prstGeom>
          <a:noFill/>
          <a:ln>
            <a:noFill/>
          </a:ln>
        </p:spPr>
        <p:txBody>
          <a:bodyPr spcFirstLastPara="1" wrap="square" lIns="91425" tIns="91425" rIns="91425" bIns="91425" anchor="b" anchorCtr="0">
            <a:normAutofit fontScale="90000"/>
          </a:bodyPr>
          <a:lstStyle/>
          <a:p>
            <a:pPr marL="0" lvl="0" indent="0" algn="ctr" rtl="0">
              <a:lnSpc>
                <a:spcPct val="100000"/>
              </a:lnSpc>
              <a:spcBef>
                <a:spcPts val="0"/>
              </a:spcBef>
              <a:spcAft>
                <a:spcPts val="0"/>
              </a:spcAft>
              <a:buSzPts val="5200"/>
              <a:buNone/>
            </a:pPr>
            <a:br>
              <a:rPr lang="en-US" sz="2200" b="1" i="0" u="none" dirty="0">
                <a:solidFill>
                  <a:srgbClr val="000000"/>
                </a:solidFill>
                <a:latin typeface="Times New Roman"/>
                <a:ea typeface="Times New Roman"/>
                <a:cs typeface="Times New Roman"/>
                <a:sym typeface="Times New Roman"/>
              </a:rPr>
            </a:br>
            <a:br>
              <a:rPr lang="en-US" sz="2200" b="1" i="0" u="none" dirty="0">
                <a:solidFill>
                  <a:srgbClr val="000000"/>
                </a:solidFill>
                <a:latin typeface="Times New Roman"/>
                <a:ea typeface="Times New Roman"/>
                <a:cs typeface="Times New Roman"/>
                <a:sym typeface="Times New Roman"/>
              </a:rPr>
            </a:br>
            <a:br>
              <a:rPr lang="en-US" sz="2200" b="1" i="0" u="none" dirty="0">
                <a:solidFill>
                  <a:srgbClr val="000000"/>
                </a:solidFill>
                <a:latin typeface="Times New Roman"/>
                <a:ea typeface="Times New Roman"/>
                <a:cs typeface="Times New Roman"/>
                <a:sym typeface="Times New Roman"/>
              </a:rPr>
            </a:br>
            <a:br>
              <a:rPr lang="en-US" sz="2200" b="1" i="0" u="none" dirty="0">
                <a:solidFill>
                  <a:srgbClr val="000000"/>
                </a:solidFill>
                <a:latin typeface="Times New Roman"/>
                <a:ea typeface="Times New Roman"/>
                <a:cs typeface="Times New Roman"/>
                <a:sym typeface="Times New Roman"/>
              </a:rPr>
            </a:br>
            <a:r>
              <a:rPr lang="en-US" sz="1800" b="1" i="0" u="none" dirty="0">
                <a:solidFill>
                  <a:srgbClr val="000000"/>
                </a:solidFill>
                <a:latin typeface="Times New Roman"/>
                <a:ea typeface="Times New Roman"/>
                <a:cs typeface="Times New Roman"/>
                <a:sym typeface="Times New Roman"/>
              </a:rPr>
              <a:t>Gokaraju Rangaraju Institute of Engineering and Technology </a:t>
            </a:r>
            <a:br>
              <a:rPr lang="en-US" sz="1800" b="1" i="0" u="none" dirty="0">
                <a:solidFill>
                  <a:srgbClr val="000000"/>
                </a:solidFill>
                <a:latin typeface="Times New Roman"/>
                <a:ea typeface="Times New Roman"/>
                <a:cs typeface="Times New Roman"/>
                <a:sym typeface="Times New Roman"/>
              </a:rPr>
            </a:br>
            <a:r>
              <a:rPr lang="en-US" sz="1800" b="1" i="0" u="none" dirty="0">
                <a:solidFill>
                  <a:srgbClr val="000000"/>
                </a:solidFill>
                <a:latin typeface="Times New Roman"/>
                <a:ea typeface="Times New Roman"/>
                <a:cs typeface="Times New Roman"/>
                <a:sym typeface="Times New Roman"/>
              </a:rPr>
              <a:t>(Autonomous)</a:t>
            </a:r>
            <a:br>
              <a:rPr lang="en-US" sz="1800" b="1" i="0" u="none" dirty="0">
                <a:solidFill>
                  <a:srgbClr val="000000"/>
                </a:solidFill>
                <a:latin typeface="Times New Roman"/>
                <a:ea typeface="Times New Roman"/>
                <a:cs typeface="Times New Roman"/>
                <a:sym typeface="Times New Roman"/>
              </a:rPr>
            </a:br>
            <a:r>
              <a:rPr lang="en-US" sz="1800" b="1" i="0" u="none" dirty="0">
                <a:solidFill>
                  <a:srgbClr val="000000"/>
                </a:solidFill>
                <a:latin typeface="Times New Roman"/>
                <a:ea typeface="Times New Roman"/>
                <a:cs typeface="Times New Roman"/>
                <a:sym typeface="Times New Roman"/>
              </a:rPr>
              <a:t>Department of Data Science</a:t>
            </a:r>
            <a:br>
              <a:rPr lang="en-US" sz="1800" b="1" i="0" u="none" dirty="0">
                <a:solidFill>
                  <a:srgbClr val="000000"/>
                </a:solidFill>
                <a:latin typeface="Times New Roman"/>
                <a:ea typeface="Times New Roman"/>
                <a:cs typeface="Times New Roman"/>
                <a:sym typeface="Times New Roman"/>
              </a:rPr>
            </a:br>
            <a:br>
              <a:rPr lang="en-US" sz="1800" b="1" i="0" u="none" dirty="0">
                <a:solidFill>
                  <a:srgbClr val="000000"/>
                </a:solidFill>
                <a:latin typeface="Times New Roman"/>
                <a:ea typeface="Times New Roman"/>
                <a:cs typeface="Times New Roman"/>
                <a:sym typeface="Times New Roman"/>
              </a:rPr>
            </a:br>
            <a:r>
              <a:rPr lang="en-US" sz="1800" b="1" i="0" u="none" dirty="0">
                <a:solidFill>
                  <a:srgbClr val="000000"/>
                </a:solidFill>
                <a:latin typeface="Times New Roman"/>
                <a:ea typeface="Times New Roman"/>
                <a:cs typeface="Times New Roman"/>
                <a:sym typeface="Times New Roman"/>
              </a:rPr>
              <a:t>M</a:t>
            </a:r>
            <a:r>
              <a:rPr lang="en-US" sz="1800" b="1" i="0" u="none" dirty="0">
                <a:solidFill>
                  <a:srgbClr val="000000"/>
                </a:solidFill>
                <a:latin typeface="Arial"/>
                <a:ea typeface="Arial"/>
                <a:cs typeface="Arial"/>
                <a:sym typeface="Arial"/>
              </a:rPr>
              <a:t>ini</a:t>
            </a:r>
            <a:r>
              <a:rPr lang="en-US" sz="1800" b="1" i="0" u="none" dirty="0">
                <a:solidFill>
                  <a:srgbClr val="000000"/>
                </a:solidFill>
                <a:latin typeface="Times New Roman"/>
                <a:ea typeface="Times New Roman"/>
                <a:cs typeface="Times New Roman"/>
                <a:sym typeface="Times New Roman"/>
              </a:rPr>
              <a:t> Project Work</a:t>
            </a:r>
            <a:br>
              <a:rPr lang="en-US" sz="1800" b="1" i="0" u="none" dirty="0">
                <a:solidFill>
                  <a:srgbClr val="000000"/>
                </a:solidFill>
                <a:latin typeface="Times New Roman"/>
                <a:ea typeface="Times New Roman"/>
                <a:cs typeface="Times New Roman"/>
                <a:sym typeface="Times New Roman"/>
              </a:rPr>
            </a:br>
            <a:r>
              <a:rPr lang="en-US" sz="1800" b="1" i="0" u="none" dirty="0">
                <a:solidFill>
                  <a:srgbClr val="000000"/>
                </a:solidFill>
                <a:latin typeface="Times New Roman"/>
                <a:ea typeface="Times New Roman"/>
                <a:cs typeface="Times New Roman"/>
                <a:sym typeface="Times New Roman"/>
              </a:rPr>
              <a:t>(CSE(DS))</a:t>
            </a:r>
            <a:endParaRPr dirty="0"/>
          </a:p>
        </p:txBody>
      </p:sp>
      <p:sp>
        <p:nvSpPr>
          <p:cNvPr id="29" name="Google Shape;29;p5"/>
          <p:cNvSpPr txBox="1">
            <a:spLocks noGrp="1"/>
          </p:cNvSpPr>
          <p:nvPr>
            <p:ph type="subTitle" idx="4294967295"/>
          </p:nvPr>
        </p:nvSpPr>
        <p:spPr>
          <a:xfrm>
            <a:off x="9525" y="2571750"/>
            <a:ext cx="9144000" cy="523875"/>
          </a:xfrm>
          <a:prstGeom prst="rect">
            <a:avLst/>
          </a:prstGeom>
          <a:noFill/>
          <a:ln>
            <a:noFill/>
          </a:ln>
        </p:spPr>
        <p:txBody>
          <a:bodyPr spcFirstLastPara="1" wrap="square" lIns="91425" tIns="91425" rIns="91425" bIns="91425" anchor="t" anchorCtr="0">
            <a:noAutofit/>
          </a:bodyPr>
          <a:lstStyle/>
          <a:p>
            <a:pPr marL="0" indent="0" algn="ctr" eaLnBrk="1" hangingPunct="1">
              <a:lnSpc>
                <a:spcPct val="115000"/>
              </a:lnSpc>
              <a:buClr>
                <a:srgbClr val="595959"/>
              </a:buClr>
              <a:buSzPts val="1800"/>
              <a:defRPr/>
            </a:pPr>
            <a:r>
              <a:rPr lang="en-US" altLang="en-US" sz="2200" b="1" dirty="0">
                <a:solidFill>
                  <a:schemeClr val="accent1">
                    <a:lumMod val="75000"/>
                  </a:schemeClr>
                </a:solidFill>
                <a:latin typeface="Times New Roman" panose="02020603050405020304" pitchFamily="18" charset="0"/>
                <a:cs typeface="Times New Roman" panose="02020603050405020304" pitchFamily="18" charset="0"/>
              </a:rPr>
              <a:t>Review 4: Execution Cycle 1 Presentation</a:t>
            </a:r>
          </a:p>
          <a:p>
            <a:pPr marL="0" indent="0" algn="ctr" eaLnBrk="1" hangingPunct="1">
              <a:lnSpc>
                <a:spcPct val="115000"/>
              </a:lnSpc>
              <a:buClr>
                <a:srgbClr val="595959"/>
              </a:buClr>
              <a:buSzPts val="1800"/>
              <a:defRPr/>
            </a:pPr>
            <a:endParaRPr lang="en-US" altLang="en-US" sz="2800" b="1" dirty="0">
              <a:solidFill>
                <a:schemeClr val="tx1"/>
              </a:solidFill>
              <a:latin typeface="Times New Roman" panose="02020603050405020304" pitchFamily="18" charset="0"/>
              <a:cs typeface="Times New Roman" panose="02020603050405020304" pitchFamily="18" charset="0"/>
            </a:endParaRPr>
          </a:p>
          <a:p>
            <a:pPr marL="342900" marR="0" lvl="0" indent="-342900" algn="l" rtl="0">
              <a:spcBef>
                <a:spcPts val="0"/>
              </a:spcBef>
              <a:spcAft>
                <a:spcPts val="0"/>
              </a:spcAft>
              <a:buNone/>
            </a:pPr>
            <a:endParaRPr sz="2200" b="1" i="0" u="none" dirty="0">
              <a:solidFill>
                <a:srgbClr val="0D5BDC"/>
              </a:solidFill>
              <a:latin typeface="Times New Roman"/>
              <a:ea typeface="Times New Roman"/>
              <a:cs typeface="Times New Roman"/>
              <a:sym typeface="Times New Roman"/>
            </a:endParaRPr>
          </a:p>
        </p:txBody>
      </p:sp>
      <p:pic>
        <p:nvPicPr>
          <p:cNvPr id="30" name="Google Shape;30;p5" descr="Untitled-1 copy"/>
          <p:cNvPicPr preferRelativeResize="0"/>
          <p:nvPr/>
        </p:nvPicPr>
        <p:blipFill rotWithShape="1">
          <a:blip r:embed="rId3">
            <a:alphaModFix/>
          </a:blip>
          <a:srcRect l="25561" t="23017" r="26994" b="21855"/>
          <a:stretch/>
        </p:blipFill>
        <p:spPr>
          <a:xfrm>
            <a:off x="4271962" y="114300"/>
            <a:ext cx="604837" cy="554037"/>
          </a:xfrm>
          <a:prstGeom prst="rect">
            <a:avLst/>
          </a:prstGeom>
          <a:noFill/>
          <a:ln>
            <a:noFill/>
          </a:ln>
        </p:spPr>
      </p:pic>
      <p:sp>
        <p:nvSpPr>
          <p:cNvPr id="31" name="Google Shape;31;p5"/>
          <p:cNvSpPr txBox="1"/>
          <p:nvPr/>
        </p:nvSpPr>
        <p:spPr>
          <a:xfrm>
            <a:off x="330300" y="3500437"/>
            <a:ext cx="4260900" cy="1420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1600" b="1">
                <a:solidFill>
                  <a:schemeClr val="dk1"/>
                </a:solidFill>
                <a:latin typeface="Times New Roman"/>
                <a:ea typeface="Times New Roman"/>
                <a:cs typeface="Times New Roman"/>
                <a:sym typeface="Times New Roman"/>
              </a:rPr>
              <a:t>Presented by:</a:t>
            </a:r>
            <a:endParaRPr sz="1600" b="1">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US" sz="1600" b="1">
                <a:solidFill>
                  <a:schemeClr val="dk1"/>
                </a:solidFill>
                <a:latin typeface="Times New Roman"/>
                <a:ea typeface="Times New Roman"/>
                <a:cs typeface="Times New Roman"/>
                <a:sym typeface="Times New Roman"/>
              </a:rPr>
              <a:t>1. B. Karthikeya (22241A6771)</a:t>
            </a:r>
            <a:endParaRPr sz="1600" b="1">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US" sz="1600" b="1">
                <a:solidFill>
                  <a:schemeClr val="dk1"/>
                </a:solidFill>
                <a:latin typeface="Times New Roman"/>
                <a:ea typeface="Times New Roman"/>
                <a:cs typeface="Times New Roman"/>
                <a:sym typeface="Times New Roman"/>
              </a:rPr>
              <a:t>2. B. Abhilash Reddy (22241A6775)</a:t>
            </a:r>
            <a:endParaRPr sz="1600" b="1">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US" sz="1600" b="1">
                <a:solidFill>
                  <a:schemeClr val="dk1"/>
                </a:solidFill>
                <a:latin typeface="Times New Roman"/>
                <a:ea typeface="Times New Roman"/>
                <a:cs typeface="Times New Roman"/>
                <a:sym typeface="Times New Roman"/>
              </a:rPr>
              <a:t>3. B. Sushanth (22241A6776)</a:t>
            </a:r>
            <a:endParaRPr sz="1600" b="1">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600"/>
              <a:buFont typeface="Times New Roman"/>
              <a:buNone/>
            </a:pPr>
            <a:endParaRPr sz="1600" b="1">
              <a:latin typeface="Times New Roman"/>
              <a:ea typeface="Times New Roman"/>
              <a:cs typeface="Times New Roman"/>
              <a:sym typeface="Times New Roman"/>
            </a:endParaRPr>
          </a:p>
        </p:txBody>
      </p:sp>
      <p:sp>
        <p:nvSpPr>
          <p:cNvPr id="32" name="Google Shape;32;p5"/>
          <p:cNvSpPr txBox="1"/>
          <p:nvPr/>
        </p:nvSpPr>
        <p:spPr>
          <a:xfrm>
            <a:off x="5945787" y="3500425"/>
            <a:ext cx="3294000" cy="14208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chemeClr val="dk1"/>
              </a:buClr>
              <a:buSzPts val="1100"/>
              <a:buFont typeface="Arial"/>
              <a:buNone/>
            </a:pPr>
            <a:r>
              <a:rPr lang="en-US" sz="1600" b="1">
                <a:solidFill>
                  <a:schemeClr val="dk1"/>
                </a:solidFill>
                <a:latin typeface="Times New Roman"/>
                <a:ea typeface="Times New Roman"/>
                <a:cs typeface="Times New Roman"/>
                <a:sym typeface="Times New Roman"/>
              </a:rPr>
              <a:t>Under the Guidance of:</a:t>
            </a:r>
            <a:endParaRPr sz="1600" b="1">
              <a:solidFill>
                <a:schemeClr val="dk1"/>
              </a:solidFill>
              <a:latin typeface="Times New Roman"/>
              <a:ea typeface="Times New Roman"/>
              <a:cs typeface="Times New Roman"/>
              <a:sym typeface="Times New Roman"/>
            </a:endParaRPr>
          </a:p>
          <a:p>
            <a:pPr marL="0" lvl="0" indent="0" algn="l" rtl="0">
              <a:lnSpc>
                <a:spcPct val="90000"/>
              </a:lnSpc>
              <a:spcBef>
                <a:spcPts val="0"/>
              </a:spcBef>
              <a:spcAft>
                <a:spcPts val="0"/>
              </a:spcAft>
              <a:buClr>
                <a:schemeClr val="dk1"/>
              </a:buClr>
              <a:buSzPts val="1100"/>
              <a:buFont typeface="Arial"/>
              <a:buNone/>
            </a:pPr>
            <a:r>
              <a:rPr lang="en-US" sz="1600" b="1">
                <a:solidFill>
                  <a:srgbClr val="006600"/>
                </a:solidFill>
                <a:latin typeface="Times New Roman"/>
                <a:ea typeface="Times New Roman"/>
                <a:cs typeface="Times New Roman"/>
                <a:sym typeface="Times New Roman"/>
              </a:rPr>
              <a:t>Dr. R.P. Ram Kumar</a:t>
            </a:r>
            <a:endParaRPr sz="1600" b="1">
              <a:solidFill>
                <a:srgbClr val="006600"/>
              </a:solidFill>
              <a:latin typeface="Times New Roman"/>
              <a:ea typeface="Times New Roman"/>
              <a:cs typeface="Times New Roman"/>
              <a:sym typeface="Times New Roman"/>
            </a:endParaRPr>
          </a:p>
          <a:p>
            <a:pPr marL="0" lvl="0" indent="0" algn="l" rtl="0">
              <a:lnSpc>
                <a:spcPct val="90000"/>
              </a:lnSpc>
              <a:spcBef>
                <a:spcPts val="0"/>
              </a:spcBef>
              <a:spcAft>
                <a:spcPts val="0"/>
              </a:spcAft>
              <a:buClr>
                <a:schemeClr val="dk1"/>
              </a:buClr>
              <a:buSzPts val="1100"/>
              <a:buFont typeface="Arial"/>
              <a:buNone/>
            </a:pPr>
            <a:r>
              <a:rPr lang="en-US" sz="1600" b="1">
                <a:solidFill>
                  <a:srgbClr val="006600"/>
                </a:solidFill>
                <a:latin typeface="Times New Roman"/>
                <a:ea typeface="Times New Roman"/>
                <a:cs typeface="Times New Roman"/>
                <a:sym typeface="Times New Roman"/>
              </a:rPr>
              <a:t>Professor</a:t>
            </a:r>
            <a:endParaRPr sz="1600" b="1">
              <a:solidFill>
                <a:srgbClr val="006600"/>
              </a:solidFill>
              <a:latin typeface="Times New Roman"/>
              <a:ea typeface="Times New Roman"/>
              <a:cs typeface="Times New Roman"/>
              <a:sym typeface="Times New Roman"/>
            </a:endParaRPr>
          </a:p>
          <a:p>
            <a:pPr marL="0" lvl="0" indent="0" algn="l" rtl="0">
              <a:lnSpc>
                <a:spcPct val="90000"/>
              </a:lnSpc>
              <a:spcBef>
                <a:spcPts val="0"/>
              </a:spcBef>
              <a:spcAft>
                <a:spcPts val="0"/>
              </a:spcAft>
              <a:buClr>
                <a:schemeClr val="dk1"/>
              </a:buClr>
              <a:buSzPts val="1100"/>
              <a:buFont typeface="Arial"/>
              <a:buNone/>
            </a:pPr>
            <a:r>
              <a:rPr lang="en-US" sz="1600" b="1">
                <a:solidFill>
                  <a:srgbClr val="006600"/>
                </a:solidFill>
                <a:latin typeface="Times New Roman"/>
                <a:ea typeface="Times New Roman"/>
                <a:cs typeface="Times New Roman"/>
                <a:sym typeface="Times New Roman"/>
              </a:rPr>
              <a:t>CSE(DS) Department</a:t>
            </a:r>
            <a:endParaRPr sz="1600" b="1">
              <a:solidFill>
                <a:srgbClr val="0066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1600" b="1">
              <a:latin typeface="Times New Roman"/>
              <a:ea typeface="Times New Roman"/>
              <a:cs typeface="Times New Roman"/>
              <a:sym typeface="Times New Roman"/>
            </a:endParaRPr>
          </a:p>
        </p:txBody>
      </p:sp>
      <p:sp>
        <p:nvSpPr>
          <p:cNvPr id="33" name="Google Shape;33;p5"/>
          <p:cNvSpPr txBox="1"/>
          <p:nvPr/>
        </p:nvSpPr>
        <p:spPr>
          <a:xfrm>
            <a:off x="330300" y="2976562"/>
            <a:ext cx="1992300" cy="5238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D5BDC"/>
              </a:buClr>
              <a:buSzPts val="1800"/>
              <a:buFont typeface="Times New Roman"/>
              <a:buNone/>
            </a:pPr>
            <a:r>
              <a:rPr lang="en-US" sz="1800" b="1" i="0" u="none" dirty="0">
                <a:solidFill>
                  <a:srgbClr val="0D5BDC"/>
                </a:solidFill>
                <a:latin typeface="Times New Roman"/>
                <a:ea typeface="Times New Roman"/>
                <a:cs typeface="Times New Roman"/>
                <a:sym typeface="Times New Roman"/>
              </a:rPr>
              <a:t>Batch No - B3  </a:t>
            </a:r>
            <a:endParaRPr sz="1800" b="0" i="0" u="none" dirty="0">
              <a:solidFill>
                <a:srgbClr val="000000"/>
              </a:solidFill>
              <a:latin typeface="Arial"/>
              <a:ea typeface="Arial"/>
              <a:cs typeface="Arial"/>
              <a:sym typeface="Arial"/>
            </a:endParaRPr>
          </a:p>
          <a:p>
            <a:pPr marL="0" marR="0" lvl="0" indent="0" algn="ctr" rtl="0">
              <a:lnSpc>
                <a:spcPct val="115000"/>
              </a:lnSpc>
              <a:spcBef>
                <a:spcPts val="0"/>
              </a:spcBef>
              <a:spcAft>
                <a:spcPts val="0"/>
              </a:spcAft>
              <a:buClr>
                <a:srgbClr val="000000"/>
              </a:buClr>
              <a:buSzPts val="2200"/>
              <a:buFont typeface="Arial"/>
              <a:buNone/>
            </a:pPr>
            <a:endParaRPr sz="2200" b="1" i="0" u="none" dirty="0">
              <a:solidFill>
                <a:srgbClr val="0D5BDC"/>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2200" b="1" i="0" u="none" dirty="0">
              <a:solidFill>
                <a:srgbClr val="0D5BDC"/>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7"/>
        <p:cNvGrpSpPr/>
        <p:nvPr/>
      </p:nvGrpSpPr>
      <p:grpSpPr>
        <a:xfrm>
          <a:off x="0" y="0"/>
          <a:ext cx="0" cy="0"/>
          <a:chOff x="0" y="0"/>
          <a:chExt cx="0" cy="0"/>
        </a:xfrm>
      </p:grpSpPr>
      <p:sp>
        <p:nvSpPr>
          <p:cNvPr id="38" name="Google Shape;38;p6"/>
          <p:cNvSpPr txBox="1">
            <a:spLocks noGrp="1"/>
          </p:cNvSpPr>
          <p:nvPr>
            <p:ph type="ctrTitle"/>
          </p:nvPr>
        </p:nvSpPr>
        <p:spPr>
          <a:xfrm>
            <a:off x="0" y="0"/>
            <a:ext cx="9144000" cy="6498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endParaRPr/>
          </a:p>
        </p:txBody>
      </p:sp>
      <p:sp>
        <p:nvSpPr>
          <p:cNvPr id="39" name="Google Shape;39;p6"/>
          <p:cNvSpPr txBox="1">
            <a:spLocks noGrp="1"/>
          </p:cNvSpPr>
          <p:nvPr>
            <p:ph type="body" idx="1"/>
          </p:nvPr>
        </p:nvSpPr>
        <p:spPr>
          <a:xfrm>
            <a:off x="165100" y="914400"/>
            <a:ext cx="8763000" cy="3479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 name="Google Shape;40;p6"/>
          <p:cNvSpPr txBox="1">
            <a:spLocks noGrp="1"/>
          </p:cNvSpPr>
          <p:nvPr>
            <p:ph type="sldNum" idx="12"/>
          </p:nvPr>
        </p:nvSpPr>
        <p:spPr>
          <a:xfrm>
            <a:off x="8472487" y="4662487"/>
            <a:ext cx="5493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595959"/>
              </a:buClr>
              <a:buSzPts val="1000"/>
              <a:buFont typeface="Arial"/>
              <a:buNone/>
            </a:pPr>
            <a:fld id="{00000000-1234-1234-1234-123412341234}" type="slidenum">
              <a:rPr lang="en-US"/>
              <a:t>2</a:t>
            </a:fld>
            <a:endParaRPr/>
          </a:p>
        </p:txBody>
      </p:sp>
      <p:pic>
        <p:nvPicPr>
          <p:cNvPr id="41" name="Google Shape;41;p6"/>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0A76683-7D00-3B20-7499-439293EFB16B}"/>
              </a:ext>
            </a:extLst>
          </p:cNvPr>
          <p:cNvPicPr>
            <a:picLocks noChangeAspect="1"/>
          </p:cNvPicPr>
          <p:nvPr/>
        </p:nvPicPr>
        <p:blipFill>
          <a:blip r:embed="rId2"/>
          <a:srcRect l="10741" t="3194" r="3518" b="13600"/>
          <a:stretch/>
        </p:blipFill>
        <p:spPr>
          <a:xfrm>
            <a:off x="856297" y="716056"/>
            <a:ext cx="3307557" cy="4279687"/>
          </a:xfrm>
          <a:prstGeom prst="rect">
            <a:avLst/>
          </a:prstGeom>
        </p:spPr>
      </p:pic>
      <p:pic>
        <p:nvPicPr>
          <p:cNvPr id="6" name="Picture 5">
            <a:extLst>
              <a:ext uri="{FF2B5EF4-FFF2-40B4-BE49-F238E27FC236}">
                <a16:creationId xmlns:a16="http://schemas.microsoft.com/office/drawing/2014/main" id="{11A7AC6C-7B16-4CF8-9697-F736D689C307}"/>
              </a:ext>
            </a:extLst>
          </p:cNvPr>
          <p:cNvPicPr>
            <a:picLocks noChangeAspect="1"/>
          </p:cNvPicPr>
          <p:nvPr/>
        </p:nvPicPr>
        <p:blipFill>
          <a:blip r:embed="rId3"/>
          <a:srcRect l="7073" t="3194" r="3701" b="13600"/>
          <a:stretch/>
        </p:blipFill>
        <p:spPr>
          <a:xfrm>
            <a:off x="4508625" y="708622"/>
            <a:ext cx="3442010" cy="4279687"/>
          </a:xfrm>
          <a:prstGeom prst="rect">
            <a:avLst/>
          </a:prstGeom>
        </p:spPr>
      </p:pic>
      <p:sp>
        <p:nvSpPr>
          <p:cNvPr id="7" name="Google Shape;53;p8">
            <a:extLst>
              <a:ext uri="{FF2B5EF4-FFF2-40B4-BE49-F238E27FC236}">
                <a16:creationId xmlns:a16="http://schemas.microsoft.com/office/drawing/2014/main" id="{C70AC4B8-6C09-9AD4-426F-D81B9066DB59}"/>
              </a:ext>
            </a:extLst>
          </p:cNvPr>
          <p:cNvSpPr txBox="1">
            <a:spLocks/>
          </p:cNvSpPr>
          <p:nvPr/>
        </p:nvSpPr>
        <p:spPr>
          <a:xfrm>
            <a:off x="1498" y="7526"/>
            <a:ext cx="3800882" cy="6492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SzPts val="5200"/>
            </a:pPr>
            <a:r>
              <a:rPr lang="en-US" sz="2900" b="1" dirty="0">
                <a:latin typeface="Times New Roman"/>
                <a:ea typeface="Times New Roman"/>
                <a:cs typeface="Times New Roman"/>
                <a:sym typeface="Times New Roman"/>
              </a:rPr>
              <a:t>Review 2 &amp; 3 feedback</a:t>
            </a:r>
            <a:endParaRPr lang="en-US" dirty="0"/>
          </a:p>
        </p:txBody>
      </p:sp>
    </p:spTree>
    <p:extLst>
      <p:ext uri="{BB962C8B-B14F-4D97-AF65-F5344CB8AC3E}">
        <p14:creationId xmlns:p14="http://schemas.microsoft.com/office/powerpoint/2010/main" val="30902794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53" name="Google Shape;53;p8"/>
          <p:cNvSpPr txBox="1">
            <a:spLocks noGrp="1"/>
          </p:cNvSpPr>
          <p:nvPr>
            <p:ph type="ctrTitle"/>
          </p:nvPr>
        </p:nvSpPr>
        <p:spPr>
          <a:xfrm>
            <a:off x="0" y="89300"/>
            <a:ext cx="9144000" cy="6492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5200"/>
              <a:buNone/>
            </a:pPr>
            <a:r>
              <a:rPr lang="en-US" sz="2900" b="1" i="0" u="none" dirty="0">
                <a:solidFill>
                  <a:srgbClr val="000000"/>
                </a:solidFill>
                <a:latin typeface="Times New Roman"/>
                <a:ea typeface="Times New Roman"/>
                <a:cs typeface="Times New Roman"/>
                <a:sym typeface="Times New Roman"/>
              </a:rPr>
              <a:t>Abstract</a:t>
            </a:r>
            <a:endParaRPr dirty="0"/>
          </a:p>
        </p:txBody>
      </p:sp>
      <p:sp>
        <p:nvSpPr>
          <p:cNvPr id="54" name="Google Shape;54;p8"/>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a:solidFill>
                  <a:srgbClr val="595959"/>
                </a:solidFill>
                <a:latin typeface="Arial"/>
                <a:ea typeface="Arial"/>
                <a:cs typeface="Arial"/>
                <a:sym typeface="Arial"/>
              </a:rPr>
              <a:t>4</a:t>
            </a:fld>
            <a:endParaRPr/>
          </a:p>
        </p:txBody>
      </p:sp>
      <p:sp>
        <p:nvSpPr>
          <p:cNvPr id="55" name="Google Shape;55;p8"/>
          <p:cNvSpPr txBox="1">
            <a:spLocks noGrp="1"/>
          </p:cNvSpPr>
          <p:nvPr>
            <p:ph type="body" idx="1"/>
          </p:nvPr>
        </p:nvSpPr>
        <p:spPr>
          <a:xfrm>
            <a:off x="190500" y="820175"/>
            <a:ext cx="8763000" cy="3671400"/>
          </a:xfrm>
          <a:prstGeom prst="rect">
            <a:avLst/>
          </a:prstGeom>
          <a:noFill/>
          <a:ln>
            <a:noFill/>
          </a:ln>
        </p:spPr>
        <p:txBody>
          <a:bodyPr spcFirstLastPara="1" wrap="square" lIns="91425" tIns="91425" rIns="91425" bIns="91425" anchor="t" anchorCtr="0">
            <a:noAutofit/>
          </a:bodyPr>
          <a:lstStyle/>
          <a:p>
            <a:pPr marL="152400" lvl="0" indent="0" algn="just" rtl="0">
              <a:lnSpc>
                <a:spcPct val="115000"/>
              </a:lnSpc>
              <a:spcBef>
                <a:spcPts val="0"/>
              </a:spcBef>
              <a:spcAft>
                <a:spcPts val="0"/>
              </a:spcAft>
              <a:buClr>
                <a:schemeClr val="dk1"/>
              </a:buClr>
              <a:buSzPts val="1100"/>
              <a:buFont typeface="Arial"/>
              <a:buNone/>
            </a:pPr>
            <a:r>
              <a:rPr lang="en-US" sz="1900" dirty="0">
                <a:solidFill>
                  <a:schemeClr val="dk1"/>
                </a:solidFill>
              </a:rPr>
              <a:t>This project focuses on a Comprehensive analysis of Global Energy Trends and their consumption every year using “Time series analysis and fine-tuned LLM models” along with data analysis. This project incorporates enhanced prediction and analysis of “Global Energy” Consumption from Natural Resources like Coal, Oil, Natural Gas, Hydroelectricity and more. This project leverages </a:t>
            </a:r>
            <a:r>
              <a:rPr lang="en-US" sz="1900" b="1" dirty="0">
                <a:solidFill>
                  <a:schemeClr val="dk1"/>
                </a:solidFill>
              </a:rPr>
              <a:t>Time Series Analysis (ARIMA, SARIMA)</a:t>
            </a:r>
            <a:r>
              <a:rPr lang="en-US" sz="1900" dirty="0">
                <a:solidFill>
                  <a:schemeClr val="dk1"/>
                </a:solidFill>
              </a:rPr>
              <a:t> and </a:t>
            </a:r>
            <a:r>
              <a:rPr lang="en-US" sz="1900" b="1" dirty="0">
                <a:solidFill>
                  <a:schemeClr val="dk1"/>
                </a:solidFill>
              </a:rPr>
              <a:t>Fine-Tuned Large Language Models (LLMs) like Mistral 7b</a:t>
            </a:r>
            <a:r>
              <a:rPr lang="en-US" sz="1900" dirty="0">
                <a:solidFill>
                  <a:schemeClr val="dk1"/>
                </a:solidFill>
              </a:rPr>
              <a:t> to analyze and predict global energy consumption trends with high accuracy. Using historical energy data from sources like the </a:t>
            </a:r>
            <a:r>
              <a:rPr lang="en-US" sz="1900" b="1" dirty="0">
                <a:solidFill>
                  <a:schemeClr val="dk1"/>
                </a:solidFill>
              </a:rPr>
              <a:t>IEA, World Bank, and BP Statistical Review</a:t>
            </a:r>
            <a:r>
              <a:rPr lang="en-US" sz="1900" dirty="0">
                <a:solidFill>
                  <a:schemeClr val="dk1"/>
                </a:solidFill>
              </a:rPr>
              <a:t>, the project identifies key consumption patterns across </a:t>
            </a:r>
            <a:r>
              <a:rPr lang="en-US" sz="1900" b="1" dirty="0">
                <a:solidFill>
                  <a:schemeClr val="dk1"/>
                </a:solidFill>
              </a:rPr>
              <a:t>coal, oil, natural gas, and renewables</a:t>
            </a:r>
            <a:r>
              <a:rPr lang="en-US" sz="1900" dirty="0">
                <a:solidFill>
                  <a:schemeClr val="dk1"/>
                </a:solidFill>
              </a:rPr>
              <a:t> to support informed decision-making and Environmental Sustainability.</a:t>
            </a:r>
            <a:endParaRPr sz="1900" dirty="0">
              <a:solidFill>
                <a:schemeClr val="dk1"/>
              </a:solidFill>
            </a:endParaRPr>
          </a:p>
          <a:p>
            <a:pPr marL="342900" lvl="0" indent="-342900" algn="just" rtl="0">
              <a:spcBef>
                <a:spcPts val="0"/>
              </a:spcBef>
              <a:spcAft>
                <a:spcPts val="0"/>
              </a:spcAft>
              <a:buNone/>
            </a:pPr>
            <a:endParaRPr sz="1900" dirty="0">
              <a:solidFill>
                <a:srgbClr val="FF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9"/>
          <p:cNvSpPr txBox="1">
            <a:spLocks noGrp="1"/>
          </p:cNvSpPr>
          <p:nvPr>
            <p:ph type="ctrTitle"/>
          </p:nvPr>
        </p:nvSpPr>
        <p:spPr>
          <a:xfrm>
            <a:off x="0" y="-99800"/>
            <a:ext cx="9144000" cy="6492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5200"/>
              <a:buNone/>
            </a:pPr>
            <a:r>
              <a:rPr lang="en-US" sz="2900" b="1" i="0" u="none">
                <a:solidFill>
                  <a:srgbClr val="000000"/>
                </a:solidFill>
                <a:latin typeface="Times New Roman"/>
                <a:ea typeface="Times New Roman"/>
                <a:cs typeface="Times New Roman"/>
                <a:sym typeface="Times New Roman"/>
              </a:rPr>
              <a:t>Literature Review</a:t>
            </a:r>
            <a:endParaRPr/>
          </a:p>
        </p:txBody>
      </p:sp>
      <p:sp>
        <p:nvSpPr>
          <p:cNvPr id="61" name="Google Shape;61;p9"/>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a:solidFill>
                  <a:srgbClr val="595959"/>
                </a:solidFill>
                <a:latin typeface="Arial"/>
                <a:ea typeface="Arial"/>
                <a:cs typeface="Arial"/>
                <a:sym typeface="Arial"/>
              </a:rPr>
              <a:t>5</a:t>
            </a:fld>
            <a:endParaRPr/>
          </a:p>
        </p:txBody>
      </p:sp>
      <p:graphicFrame>
        <p:nvGraphicFramePr>
          <p:cNvPr id="62" name="Google Shape;62;p9"/>
          <p:cNvGraphicFramePr/>
          <p:nvPr/>
        </p:nvGraphicFramePr>
        <p:xfrm>
          <a:off x="191312" y="480137"/>
          <a:ext cx="8620050" cy="4248650"/>
        </p:xfrm>
        <a:graphic>
          <a:graphicData uri="http://schemas.openxmlformats.org/drawingml/2006/table">
            <a:tbl>
              <a:tblPr>
                <a:noFill/>
                <a:tableStyleId>{0EB5F669-19A5-4A0C-AAF8-9CA3CEDFA596}</a:tableStyleId>
              </a:tblPr>
              <a:tblGrid>
                <a:gridCol w="750875">
                  <a:extLst>
                    <a:ext uri="{9D8B030D-6E8A-4147-A177-3AD203B41FA5}">
                      <a16:colId xmlns:a16="http://schemas.microsoft.com/office/drawing/2014/main" val="20000"/>
                    </a:ext>
                  </a:extLst>
                </a:gridCol>
                <a:gridCol w="1057275">
                  <a:extLst>
                    <a:ext uri="{9D8B030D-6E8A-4147-A177-3AD203B41FA5}">
                      <a16:colId xmlns:a16="http://schemas.microsoft.com/office/drawing/2014/main" val="20001"/>
                    </a:ext>
                  </a:extLst>
                </a:gridCol>
                <a:gridCol w="1065200">
                  <a:extLst>
                    <a:ext uri="{9D8B030D-6E8A-4147-A177-3AD203B41FA5}">
                      <a16:colId xmlns:a16="http://schemas.microsoft.com/office/drawing/2014/main" val="20002"/>
                    </a:ext>
                  </a:extLst>
                </a:gridCol>
                <a:gridCol w="1006850">
                  <a:extLst>
                    <a:ext uri="{9D8B030D-6E8A-4147-A177-3AD203B41FA5}">
                      <a16:colId xmlns:a16="http://schemas.microsoft.com/office/drawing/2014/main" val="20003"/>
                    </a:ext>
                  </a:extLst>
                </a:gridCol>
                <a:gridCol w="909250">
                  <a:extLst>
                    <a:ext uri="{9D8B030D-6E8A-4147-A177-3AD203B41FA5}">
                      <a16:colId xmlns:a16="http://schemas.microsoft.com/office/drawing/2014/main" val="20004"/>
                    </a:ext>
                  </a:extLst>
                </a:gridCol>
                <a:gridCol w="957250">
                  <a:extLst>
                    <a:ext uri="{9D8B030D-6E8A-4147-A177-3AD203B41FA5}">
                      <a16:colId xmlns:a16="http://schemas.microsoft.com/office/drawing/2014/main" val="20005"/>
                    </a:ext>
                  </a:extLst>
                </a:gridCol>
                <a:gridCol w="957250">
                  <a:extLst>
                    <a:ext uri="{9D8B030D-6E8A-4147-A177-3AD203B41FA5}">
                      <a16:colId xmlns:a16="http://schemas.microsoft.com/office/drawing/2014/main" val="20006"/>
                    </a:ext>
                  </a:extLst>
                </a:gridCol>
                <a:gridCol w="958850">
                  <a:extLst>
                    <a:ext uri="{9D8B030D-6E8A-4147-A177-3AD203B41FA5}">
                      <a16:colId xmlns:a16="http://schemas.microsoft.com/office/drawing/2014/main" val="20007"/>
                    </a:ext>
                  </a:extLst>
                </a:gridCol>
                <a:gridCol w="957250">
                  <a:extLst>
                    <a:ext uri="{9D8B030D-6E8A-4147-A177-3AD203B41FA5}">
                      <a16:colId xmlns:a16="http://schemas.microsoft.com/office/drawing/2014/main" val="20008"/>
                    </a:ext>
                  </a:extLst>
                </a:gridCol>
              </a:tblGrid>
              <a:tr h="735575">
                <a:tc>
                  <a:txBody>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Source</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Research Objective or Research Question</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Methodology</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Key Findings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Relevance to Project</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Techniques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Accuracy &amp; Performance Measures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Advantages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Disadvantages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817125">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Energy Studies Review, 2022, Volume 34, Issue 4</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To predict global energy consumption using time series forecasting models.</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ARIMA and LSTM models for comparison.</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LSTM outperformed ARIMA in accuracy and trend prediction</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Provides insights into time series forecasting, applicable to energy trend prediction.</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ARIMA, LSTM, Time Series Analysis.</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Evaluated using MAE, RMSE, and MAPE, with LSTM outperforming ARIMA.</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LSTM captures long-term dependencies better.</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LSTM requires high computational resources.</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extLst>
                  <a:ext uri="{0D108BD9-81ED-4DB2-BD59-A6C34878D82A}">
                    <a16:rowId xmlns:a16="http://schemas.microsoft.com/office/drawing/2014/main" val="10001"/>
                  </a:ext>
                </a:extLst>
              </a:tr>
              <a:tr h="1272775">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International Journal of Energy Research, 2023, Volume 47, Issue 2.</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To explore the use of fine-tuned LLMs for energy demand forecasting</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Fine-tuned GPT-3 models using historical data and economic indicators.</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Fine-tuned LLMs outperformed regression models, especially with sparse data.</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Directly applicable for integrating fine-tuned LLMs in energy consumption prediction.</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Fine-tuned GPT-3, Transfer Learning.</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Achieved a higher R² score (0.91) than regression models.</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LLMs can model complex relationships and handle unstructured data.</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Requires extensive computational power and data for fine-tuning</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extLst>
                  <a:ext uri="{0D108BD9-81ED-4DB2-BD59-A6C34878D82A}">
                    <a16:rowId xmlns:a16="http://schemas.microsoft.com/office/drawing/2014/main" val="10002"/>
                  </a:ext>
                </a:extLst>
              </a:tr>
              <a:tr h="1184825">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Journal of Renewable and Sustainable Energy, 2021, Volume 13, Issue 5.</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To develop a hybrid model combining ARIMA and LSTM for energy consumption forecasting.</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Hybrid ARIMA-LSTM model applied to IEA data.</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Hybrid model outperformed ARIMA and LSTM individually.</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Suggests a hybrid approach that could be expanded with LLMs.</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Hybrid ARIMA-LSTM, Neural Networks.</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Hybrid model showed 15% improvement in MAPE over standalone models.</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Combines strengths of time series and neural networks for better accuracy.</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Hybrid models are complex and require careful parameter tuning.</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0"/>
          <p:cNvSpPr txBox="1">
            <a:spLocks noGrp="1"/>
          </p:cNvSpPr>
          <p:nvPr>
            <p:ph type="sldNum" idx="12"/>
          </p:nvPr>
        </p:nvSpPr>
        <p:spPr>
          <a:xfrm>
            <a:off x="8472487" y="4662487"/>
            <a:ext cx="5493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595959"/>
              </a:buClr>
              <a:buSzPts val="1000"/>
              <a:buFont typeface="Arial"/>
              <a:buNone/>
            </a:pPr>
            <a:fld id="{00000000-1234-1234-1234-123412341234}" type="slidenum">
              <a:rPr lang="en-US"/>
              <a:t>6</a:t>
            </a:fld>
            <a:endParaRPr/>
          </a:p>
        </p:txBody>
      </p:sp>
      <p:graphicFrame>
        <p:nvGraphicFramePr>
          <p:cNvPr id="68" name="Google Shape;68;p10"/>
          <p:cNvGraphicFramePr/>
          <p:nvPr/>
        </p:nvGraphicFramePr>
        <p:xfrm>
          <a:off x="261987" y="221787"/>
          <a:ext cx="8620050" cy="4438925"/>
        </p:xfrm>
        <a:graphic>
          <a:graphicData uri="http://schemas.openxmlformats.org/drawingml/2006/table">
            <a:tbl>
              <a:tblPr>
                <a:noFill/>
                <a:tableStyleId>{0EB5F669-19A5-4A0C-AAF8-9CA3CEDFA596}</a:tableStyleId>
              </a:tblPr>
              <a:tblGrid>
                <a:gridCol w="750875">
                  <a:extLst>
                    <a:ext uri="{9D8B030D-6E8A-4147-A177-3AD203B41FA5}">
                      <a16:colId xmlns:a16="http://schemas.microsoft.com/office/drawing/2014/main" val="20000"/>
                    </a:ext>
                  </a:extLst>
                </a:gridCol>
                <a:gridCol w="1057275">
                  <a:extLst>
                    <a:ext uri="{9D8B030D-6E8A-4147-A177-3AD203B41FA5}">
                      <a16:colId xmlns:a16="http://schemas.microsoft.com/office/drawing/2014/main" val="20001"/>
                    </a:ext>
                  </a:extLst>
                </a:gridCol>
                <a:gridCol w="1065200">
                  <a:extLst>
                    <a:ext uri="{9D8B030D-6E8A-4147-A177-3AD203B41FA5}">
                      <a16:colId xmlns:a16="http://schemas.microsoft.com/office/drawing/2014/main" val="20002"/>
                    </a:ext>
                  </a:extLst>
                </a:gridCol>
                <a:gridCol w="1006850">
                  <a:extLst>
                    <a:ext uri="{9D8B030D-6E8A-4147-A177-3AD203B41FA5}">
                      <a16:colId xmlns:a16="http://schemas.microsoft.com/office/drawing/2014/main" val="20003"/>
                    </a:ext>
                  </a:extLst>
                </a:gridCol>
                <a:gridCol w="909250">
                  <a:extLst>
                    <a:ext uri="{9D8B030D-6E8A-4147-A177-3AD203B41FA5}">
                      <a16:colId xmlns:a16="http://schemas.microsoft.com/office/drawing/2014/main" val="20004"/>
                    </a:ext>
                  </a:extLst>
                </a:gridCol>
                <a:gridCol w="957250">
                  <a:extLst>
                    <a:ext uri="{9D8B030D-6E8A-4147-A177-3AD203B41FA5}">
                      <a16:colId xmlns:a16="http://schemas.microsoft.com/office/drawing/2014/main" val="20005"/>
                    </a:ext>
                  </a:extLst>
                </a:gridCol>
                <a:gridCol w="957250">
                  <a:extLst>
                    <a:ext uri="{9D8B030D-6E8A-4147-A177-3AD203B41FA5}">
                      <a16:colId xmlns:a16="http://schemas.microsoft.com/office/drawing/2014/main" val="20006"/>
                    </a:ext>
                  </a:extLst>
                </a:gridCol>
                <a:gridCol w="958850">
                  <a:extLst>
                    <a:ext uri="{9D8B030D-6E8A-4147-A177-3AD203B41FA5}">
                      <a16:colId xmlns:a16="http://schemas.microsoft.com/office/drawing/2014/main" val="20007"/>
                    </a:ext>
                  </a:extLst>
                </a:gridCol>
                <a:gridCol w="957250">
                  <a:extLst>
                    <a:ext uri="{9D8B030D-6E8A-4147-A177-3AD203B41FA5}">
                      <a16:colId xmlns:a16="http://schemas.microsoft.com/office/drawing/2014/main" val="20008"/>
                    </a:ext>
                  </a:extLst>
                </a:gridCol>
              </a:tblGrid>
              <a:tr h="735575">
                <a:tc>
                  <a:txBody>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Source</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Research Objective or Research Question</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Methodology</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Key Findings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Relevance to Project</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Techniques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Accuracy &amp; Performance Measures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Advantages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Disadvantages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817125">
                <a:tc>
                  <a:txBody>
                    <a:bodyPr/>
                    <a:lstStyle/>
                    <a:p>
                      <a:pPr marL="0" marR="0" lvl="0" indent="0" algn="l" rtl="0">
                        <a:lnSpc>
                          <a:spcPct val="100000"/>
                        </a:lnSpc>
                        <a:spcBef>
                          <a:spcPts val="0"/>
                        </a:spcBef>
                        <a:spcAft>
                          <a:spcPts val="0"/>
                        </a:spcAft>
                        <a:buClr>
                          <a:srgbClr val="000000"/>
                        </a:buClr>
                        <a:buSzPts val="700"/>
                        <a:buFont typeface="Arial"/>
                        <a:buNone/>
                      </a:pPr>
                      <a:r>
                        <a:rPr lang="en-US" sz="900" b="0" i="0" u="none" strike="noStrike" cap="none">
                          <a:solidFill>
                            <a:srgbClr val="000000"/>
                          </a:solidFill>
                          <a:latin typeface="Times New Roman"/>
                          <a:ea typeface="Times New Roman"/>
                          <a:cs typeface="Times New Roman"/>
                          <a:sym typeface="Times New Roman"/>
                        </a:rPr>
                        <a:t>MDPI Sustainability</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b="0" i="0" u="none" strike="noStrike" cap="none">
                          <a:solidFill>
                            <a:srgbClr val="000000"/>
                          </a:solidFill>
                          <a:latin typeface="Times New Roman"/>
                          <a:ea typeface="Times New Roman"/>
                          <a:cs typeface="Times New Roman"/>
                          <a:sym typeface="Times New Roman"/>
                        </a:rPr>
                        <a:t>Explores ANN applications for predicting building energy consumption.</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b="0" i="0" u="none" strike="noStrike" cap="none">
                          <a:solidFill>
                            <a:srgbClr val="000000"/>
                          </a:solidFill>
                          <a:latin typeface="Times New Roman"/>
                          <a:ea typeface="Times New Roman"/>
                          <a:cs typeface="Times New Roman"/>
                          <a:sym typeface="Times New Roman"/>
                        </a:rPr>
                        <a:t>A review of studies using ANNs for energy consumption prediction.</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b="0" i="0" u="none" strike="noStrike" cap="none">
                          <a:solidFill>
                            <a:srgbClr val="000000"/>
                          </a:solidFill>
                          <a:latin typeface="Times New Roman"/>
                          <a:ea typeface="Times New Roman"/>
                          <a:cs typeface="Times New Roman"/>
                          <a:sym typeface="Times New Roman"/>
                        </a:rPr>
                        <a:t>ANNs, especially MLP and RNN, are effective for energy prediction.</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b="0" i="0" u="none" strike="noStrike" cap="none">
                          <a:solidFill>
                            <a:srgbClr val="000000"/>
                          </a:solidFill>
                          <a:latin typeface="Times New Roman"/>
                          <a:ea typeface="Times New Roman"/>
                          <a:cs typeface="Times New Roman"/>
                          <a:sym typeface="Times New Roman"/>
                        </a:rPr>
                        <a:t>Insights on accuracy and challenges apply to LLM-based forecasting.</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b="0" i="0" u="none" strike="noStrike" cap="none">
                          <a:solidFill>
                            <a:srgbClr val="000000"/>
                          </a:solidFill>
                          <a:latin typeface="Times New Roman"/>
                          <a:ea typeface="Times New Roman"/>
                          <a:cs typeface="Times New Roman"/>
                          <a:sym typeface="Times New Roman"/>
                        </a:rPr>
                        <a:t>Discusses ANN techniques that can be adapted for LLM-based predictions.</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b="0" i="0" u="none" strike="noStrike" cap="none">
                          <a:solidFill>
                            <a:srgbClr val="000000"/>
                          </a:solidFill>
                          <a:latin typeface="Times New Roman"/>
                          <a:ea typeface="Times New Roman"/>
                          <a:cs typeface="Times New Roman"/>
                          <a:sym typeface="Times New Roman"/>
                        </a:rPr>
                        <a:t>MAE, RMSE, and R-squared can also evaluate LLMs for energy prediction.</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b="0" i="0" u="none" strike="noStrike" cap="none">
                          <a:solidFill>
                            <a:srgbClr val="000000"/>
                          </a:solidFill>
                          <a:latin typeface="Times New Roman"/>
                          <a:ea typeface="Times New Roman"/>
                          <a:cs typeface="Times New Roman"/>
                          <a:sym typeface="Times New Roman"/>
                        </a:rPr>
                        <a:t>ANNs' adaptability is similar to LLMs in handling complex data.</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b="0" i="0" u="none" strike="noStrike" cap="none">
                          <a:solidFill>
                            <a:srgbClr val="000000"/>
                          </a:solidFill>
                          <a:latin typeface="Times New Roman"/>
                          <a:ea typeface="Times New Roman"/>
                          <a:cs typeface="Times New Roman"/>
                          <a:sym typeface="Times New Roman"/>
                        </a:rPr>
                        <a:t>Both face challenges like overfitting and high data dependency.</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extLst>
                  <a:ext uri="{0D108BD9-81ED-4DB2-BD59-A6C34878D82A}">
                    <a16:rowId xmlns:a16="http://schemas.microsoft.com/office/drawing/2014/main" val="10001"/>
                  </a:ext>
                </a:extLst>
              </a:tr>
              <a:tr h="1429975">
                <a:tc>
                  <a:txBody>
                    <a:bodyPr/>
                    <a:lstStyle/>
                    <a:p>
                      <a:pPr marL="0" marR="0" lvl="0" indent="0" algn="l" rtl="0">
                        <a:lnSpc>
                          <a:spcPct val="100000"/>
                        </a:lnSpc>
                        <a:spcBef>
                          <a:spcPts val="0"/>
                        </a:spcBef>
                        <a:spcAft>
                          <a:spcPts val="0"/>
                        </a:spcAft>
                        <a:buClr>
                          <a:srgbClr val="000000"/>
                        </a:buClr>
                        <a:buSzPts val="700"/>
                        <a:buFont typeface="Arial"/>
                        <a:buNone/>
                      </a:pPr>
                      <a:r>
                        <a:rPr lang="en-US" sz="900" b="0" i="0" u="none" strike="noStrike" cap="none">
                          <a:solidFill>
                            <a:srgbClr val="000000"/>
                          </a:solidFill>
                          <a:latin typeface="Times New Roman"/>
                          <a:ea typeface="Times New Roman"/>
                          <a:cs typeface="Times New Roman"/>
                          <a:sym typeface="Times New Roman"/>
                        </a:rPr>
                        <a:t>Cornell University</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b="0" i="0" u="none" strike="noStrike" cap="none">
                          <a:solidFill>
                            <a:srgbClr val="000000"/>
                          </a:solidFill>
                          <a:latin typeface="Times New Roman"/>
                          <a:ea typeface="Times New Roman"/>
                          <a:cs typeface="Times New Roman"/>
                          <a:sym typeface="Times New Roman"/>
                        </a:rPr>
                        <a:t>Evaluates the performance of conventional, machine learning, and deep learning models for energy forecasting.</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b="0" i="0" u="none" strike="noStrike" cap="none">
                          <a:solidFill>
                            <a:srgbClr val="000000"/>
                          </a:solidFill>
                          <a:latin typeface="Times New Roman"/>
                          <a:ea typeface="Times New Roman"/>
                          <a:cs typeface="Times New Roman"/>
                          <a:sym typeface="Times New Roman"/>
                        </a:rPr>
                        <a:t>Analytical and empirical assessment using real-world datasets for energy consumption and natural gas.</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b="0" i="0" u="none" strike="noStrike" cap="none">
                          <a:solidFill>
                            <a:srgbClr val="000000"/>
                          </a:solidFill>
                          <a:latin typeface="Times New Roman"/>
                          <a:ea typeface="Times New Roman"/>
                          <a:cs typeface="Times New Roman"/>
                          <a:sym typeface="Times New Roman"/>
                        </a:rPr>
                        <a:t>Machine learning and deep learning methods outperform conventional models in energy forecasting.</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b="0" i="0" u="none" strike="noStrike" cap="none">
                          <a:solidFill>
                            <a:srgbClr val="000000"/>
                          </a:solidFill>
                          <a:latin typeface="Times New Roman"/>
                          <a:ea typeface="Times New Roman"/>
                          <a:cs typeface="Times New Roman"/>
                          <a:sym typeface="Times New Roman"/>
                        </a:rPr>
                        <a:t>Relevant for comparing machine learning methods like LLMs with conventional models in time-series energy forecasting.</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b="0" i="0" u="none" strike="noStrike" cap="none">
                          <a:solidFill>
                            <a:srgbClr val="000000"/>
                          </a:solidFill>
                          <a:latin typeface="Times New Roman"/>
                          <a:ea typeface="Times New Roman"/>
                          <a:cs typeface="Times New Roman"/>
                          <a:sym typeface="Times New Roman"/>
                        </a:rPr>
                        <a:t>Examines techniques like ARIMA, SVM, and deep learning for time series forecasting.</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b="0" i="0" u="none" strike="noStrike" cap="none">
                          <a:solidFill>
                            <a:srgbClr val="000000"/>
                          </a:solidFill>
                          <a:latin typeface="Times New Roman"/>
                          <a:ea typeface="Times New Roman"/>
                          <a:cs typeface="Times New Roman"/>
                          <a:sym typeface="Times New Roman"/>
                        </a:rPr>
                        <a:t>Performance measured using MAE, RMSE, and other standard metrics.</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b="0" i="0" u="none" strike="noStrike" cap="none">
                          <a:solidFill>
                            <a:srgbClr val="000000"/>
                          </a:solidFill>
                          <a:latin typeface="Times New Roman"/>
                          <a:ea typeface="Times New Roman"/>
                          <a:cs typeface="Times New Roman"/>
                          <a:sym typeface="Times New Roman"/>
                        </a:rPr>
                        <a:t>Machine learning models provide better accuracy and scalability for energy forecasting.</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b="0" i="0" u="none" strike="noStrike" cap="none">
                          <a:solidFill>
                            <a:srgbClr val="000000"/>
                          </a:solidFill>
                          <a:latin typeface="Times New Roman"/>
                          <a:ea typeface="Times New Roman"/>
                          <a:cs typeface="Times New Roman"/>
                          <a:sym typeface="Times New Roman"/>
                        </a:rPr>
                        <a:t>Conventional models can be less accurate, and machine learning models require large datasets and high computational power.</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extLst>
                  <a:ext uri="{0D108BD9-81ED-4DB2-BD59-A6C34878D82A}">
                    <a16:rowId xmlns:a16="http://schemas.microsoft.com/office/drawing/2014/main" val="10002"/>
                  </a:ext>
                </a:extLst>
              </a:tr>
              <a:tr h="1184825">
                <a:tc>
                  <a:txBody>
                    <a:bodyPr/>
                    <a:lstStyle/>
                    <a:p>
                      <a:pPr marL="0" marR="0" lvl="0" indent="0" algn="l" rtl="0">
                        <a:lnSpc>
                          <a:spcPct val="100000"/>
                        </a:lnSpc>
                        <a:spcBef>
                          <a:spcPts val="0"/>
                        </a:spcBef>
                        <a:spcAft>
                          <a:spcPts val="0"/>
                        </a:spcAft>
                        <a:buClr>
                          <a:srgbClr val="000000"/>
                        </a:buClr>
                        <a:buSzPts val="700"/>
                        <a:buFont typeface="Arial"/>
                        <a:buNone/>
                      </a:pPr>
                      <a:r>
                        <a:rPr lang="en-US" sz="900" b="0" i="0" u="none" strike="noStrike" cap="none">
                          <a:solidFill>
                            <a:srgbClr val="000000"/>
                          </a:solidFill>
                          <a:latin typeface="Times New Roman"/>
                          <a:ea typeface="Times New Roman"/>
                          <a:cs typeface="Times New Roman"/>
                          <a:sym typeface="Times New Roman"/>
                        </a:rPr>
                        <a:t>ResearchGate</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b="0" i="0" u="none" strike="noStrike" cap="none">
                          <a:solidFill>
                            <a:srgbClr val="000000"/>
                          </a:solidFill>
                          <a:latin typeface="Times New Roman"/>
                          <a:ea typeface="Times New Roman"/>
                          <a:cs typeface="Times New Roman"/>
                          <a:sym typeface="Times New Roman"/>
                        </a:rPr>
                        <a:t>Aims to predict energy consumption using deep learning algorithms, analyzing factors affecting high consumption.</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b="0" i="0" u="none" strike="noStrike" cap="none">
                          <a:solidFill>
                            <a:srgbClr val="000000"/>
                          </a:solidFill>
                          <a:latin typeface="Times New Roman"/>
                          <a:ea typeface="Times New Roman"/>
                          <a:cs typeface="Times New Roman"/>
                          <a:sym typeface="Times New Roman"/>
                        </a:rPr>
                        <a:t>Utilizes deep learning algorithms to predict energy usage in a university setting.</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b="0" i="0" u="none" strike="noStrike" cap="none">
                          <a:solidFill>
                            <a:srgbClr val="000000"/>
                          </a:solidFill>
                          <a:latin typeface="Times New Roman"/>
                          <a:ea typeface="Times New Roman"/>
                          <a:cs typeface="Times New Roman"/>
                          <a:sym typeface="Times New Roman"/>
                        </a:rPr>
                        <a:t>Deep learning models effectively predict energy consumption, considering factors like occupancy and weather.</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b="0" i="0" u="none" strike="noStrike" cap="none">
                          <a:solidFill>
                            <a:srgbClr val="000000"/>
                          </a:solidFill>
                          <a:latin typeface="Times New Roman"/>
                          <a:ea typeface="Times New Roman"/>
                          <a:cs typeface="Times New Roman"/>
                          <a:sym typeface="Times New Roman"/>
                        </a:rPr>
                        <a:t>Insights into deep learning for energy prediction can guide the application of LLMs for global energy forecasting.</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b="0" i="0" u="none" strike="noStrike" cap="none">
                          <a:solidFill>
                            <a:srgbClr val="000000"/>
                          </a:solidFill>
                          <a:latin typeface="Times New Roman"/>
                          <a:ea typeface="Times New Roman"/>
                          <a:cs typeface="Times New Roman"/>
                          <a:sym typeface="Times New Roman"/>
                        </a:rPr>
                        <a:t>Focuses on deep learning techniques for energy consumption prediction.</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b="0" i="0" u="none" strike="noStrike" cap="none">
                          <a:solidFill>
                            <a:srgbClr val="000000"/>
                          </a:solidFill>
                          <a:latin typeface="Times New Roman"/>
                          <a:ea typeface="Times New Roman"/>
                          <a:cs typeface="Times New Roman"/>
                          <a:sym typeface="Times New Roman"/>
                        </a:rPr>
                        <a:t>Evaluates accuracy using MAE, RMSE, and other relevant metrics.</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b="0" i="0" u="none" strike="noStrike" cap="none">
                          <a:solidFill>
                            <a:srgbClr val="000000"/>
                          </a:solidFill>
                          <a:latin typeface="Times New Roman"/>
                          <a:ea typeface="Times New Roman"/>
                          <a:cs typeface="Times New Roman"/>
                          <a:sym typeface="Times New Roman"/>
                        </a:rPr>
                        <a:t>Deep learning models offer high accuracy and adaptability to complex data.</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b="0" i="0" u="none" strike="noStrike" cap="none">
                          <a:solidFill>
                            <a:srgbClr val="000000"/>
                          </a:solidFill>
                          <a:latin typeface="Times New Roman"/>
                          <a:ea typeface="Times New Roman"/>
                          <a:cs typeface="Times New Roman"/>
                          <a:sym typeface="Times New Roman"/>
                        </a:rPr>
                        <a:t>Requires large datasets and significant computational resources for training.</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graphicFrame>
        <p:nvGraphicFramePr>
          <p:cNvPr id="73" name="Google Shape;73;p11"/>
          <p:cNvGraphicFramePr/>
          <p:nvPr/>
        </p:nvGraphicFramePr>
        <p:xfrm>
          <a:off x="154337" y="126512"/>
          <a:ext cx="8814250" cy="5026900"/>
        </p:xfrm>
        <a:graphic>
          <a:graphicData uri="http://schemas.openxmlformats.org/drawingml/2006/table">
            <a:tbl>
              <a:tblPr>
                <a:noFill/>
                <a:tableStyleId>{0EB5F669-19A5-4A0C-AAF8-9CA3CEDFA596}</a:tableStyleId>
              </a:tblPr>
              <a:tblGrid>
                <a:gridCol w="750875">
                  <a:extLst>
                    <a:ext uri="{9D8B030D-6E8A-4147-A177-3AD203B41FA5}">
                      <a16:colId xmlns:a16="http://schemas.microsoft.com/office/drawing/2014/main" val="20000"/>
                    </a:ext>
                  </a:extLst>
                </a:gridCol>
                <a:gridCol w="974050">
                  <a:extLst>
                    <a:ext uri="{9D8B030D-6E8A-4147-A177-3AD203B41FA5}">
                      <a16:colId xmlns:a16="http://schemas.microsoft.com/office/drawing/2014/main" val="20001"/>
                    </a:ext>
                  </a:extLst>
                </a:gridCol>
                <a:gridCol w="1065200">
                  <a:extLst>
                    <a:ext uri="{9D8B030D-6E8A-4147-A177-3AD203B41FA5}">
                      <a16:colId xmlns:a16="http://schemas.microsoft.com/office/drawing/2014/main" val="20002"/>
                    </a:ext>
                  </a:extLst>
                </a:gridCol>
                <a:gridCol w="1025325">
                  <a:extLst>
                    <a:ext uri="{9D8B030D-6E8A-4147-A177-3AD203B41FA5}">
                      <a16:colId xmlns:a16="http://schemas.microsoft.com/office/drawing/2014/main" val="20003"/>
                    </a:ext>
                  </a:extLst>
                </a:gridCol>
                <a:gridCol w="1186700">
                  <a:extLst>
                    <a:ext uri="{9D8B030D-6E8A-4147-A177-3AD203B41FA5}">
                      <a16:colId xmlns:a16="http://schemas.microsoft.com/office/drawing/2014/main" val="20004"/>
                    </a:ext>
                  </a:extLst>
                </a:gridCol>
                <a:gridCol w="855525">
                  <a:extLst>
                    <a:ext uri="{9D8B030D-6E8A-4147-A177-3AD203B41FA5}">
                      <a16:colId xmlns:a16="http://schemas.microsoft.com/office/drawing/2014/main" val="20005"/>
                    </a:ext>
                  </a:extLst>
                </a:gridCol>
                <a:gridCol w="938750">
                  <a:extLst>
                    <a:ext uri="{9D8B030D-6E8A-4147-A177-3AD203B41FA5}">
                      <a16:colId xmlns:a16="http://schemas.microsoft.com/office/drawing/2014/main" val="20006"/>
                    </a:ext>
                  </a:extLst>
                </a:gridCol>
                <a:gridCol w="1023575">
                  <a:extLst>
                    <a:ext uri="{9D8B030D-6E8A-4147-A177-3AD203B41FA5}">
                      <a16:colId xmlns:a16="http://schemas.microsoft.com/office/drawing/2014/main" val="20007"/>
                    </a:ext>
                  </a:extLst>
                </a:gridCol>
                <a:gridCol w="994250">
                  <a:extLst>
                    <a:ext uri="{9D8B030D-6E8A-4147-A177-3AD203B41FA5}">
                      <a16:colId xmlns:a16="http://schemas.microsoft.com/office/drawing/2014/main" val="20008"/>
                    </a:ext>
                  </a:extLst>
                </a:gridCol>
              </a:tblGrid>
              <a:tr h="735575">
                <a:tc>
                  <a:txBody>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Source</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Research Objective or Research Question</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Methodology</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Key Findings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Relevance to Project</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Techniques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Accuracy &amp; Performance Measures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Advantages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Disadvantages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1342825">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Published in Computational Intelligence and Neuroscience in 2024.</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Aims to enhance energy efficiency in smart buildings by predicting energy consumption using machine learning.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Machine learning algorithms are applied to energy data from smart buildings, including occupancy and environmental data.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Machine learning models can predict energy consumption effectively and optimize building energy use.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Insights into using machine learning for predicting energy consumption can guide LLM-based models for global energy forecasting.</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Machine learning algorithms like regression, SVM, and clustering are used for prediction.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Accuracy is evaluated using standard metrics such as MAE, RMSE, and R-squared.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Machine learning models offer adaptability and can handle complex data from smart buildings.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Requires high-quality data and computational resources; performance may vary with building type.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extLst>
                  <a:ext uri="{0D108BD9-81ED-4DB2-BD59-A6C34878D82A}">
                    <a16:rowId xmlns:a16="http://schemas.microsoft.com/office/drawing/2014/main" val="10001"/>
                  </a:ext>
                </a:extLst>
              </a:tr>
              <a:tr h="1365225">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Published in Applied Intelligence in 2024.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Focuses on using deep learning techniques for time series analysis to predict building energy consumption.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Deep learning models are applied to real-world time series data for building energy consumption prediction.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Deep learning models show high accuracy for energy prediction compared to traditional methods.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Shows the effectiveness of deep learning for energy prediction, which can be applied in your project using LLMs.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Deep learning models are applied, focusing on architectures suited for time-series data.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Evaluates performance with MAE, RMSE, and R-squared for deep learning models.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Deep learning improves accuracy in predicting energy consumption compared to conventional models.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Deep learning models require extensive data and computational power for training.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extLst>
                  <a:ext uri="{0D108BD9-81ED-4DB2-BD59-A6C34878D82A}">
                    <a16:rowId xmlns:a16="http://schemas.microsoft.com/office/drawing/2014/main" val="10002"/>
                  </a:ext>
                </a:extLst>
              </a:tr>
              <a:tr h="1184825">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Available on arXiv in September 2023.</a:t>
                      </a:r>
                      <a:endParaRPr sz="9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700"/>
                        <a:buFont typeface="Arial"/>
                        <a:buNone/>
                      </a:pP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Proposes an LSTM model for forecasting building energy consumption using historical and environmental data.</a:t>
                      </a:r>
                      <a:endParaRPr sz="9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700"/>
                        <a:buFont typeface="Arial"/>
                        <a:buNone/>
                      </a:pP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LSTM model is used to forecast energy consumption based on historical data, occupancy, and weather factors.</a:t>
                      </a:r>
                      <a:endParaRPr sz="9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700"/>
                        <a:buFont typeface="Arial"/>
                        <a:buNone/>
                      </a:pP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LSTM models outperform traditional approaches in predicting energy consumption with historical and environmental data.</a:t>
                      </a:r>
                      <a:endParaRPr sz="9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700"/>
                        <a:buFont typeface="Arial"/>
                        <a:buNone/>
                      </a:pP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Provides a data-driven approach using LSTM for energy forecasting, applicable for fine-tuned LLM models in global consumption trends.</a:t>
                      </a:r>
                      <a:endParaRPr sz="9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700"/>
                        <a:buFont typeface="Arial"/>
                        <a:buNone/>
                      </a:pP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Long Short-Term Memory (LSTM) networks for time-series prediction.</a:t>
                      </a:r>
                      <a:endParaRPr sz="9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700"/>
                        <a:buFont typeface="Arial"/>
                        <a:buNone/>
                      </a:pP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LSTM model's performance is assessed using accuracy metrics like MAE and RMSE.</a:t>
                      </a:r>
                      <a:endParaRPr sz="9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700"/>
                        <a:buFont typeface="Arial"/>
                        <a:buNone/>
                      </a:pP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LSTM models are particularly effective at handling sequential data and predicting trends in energy consumption.</a:t>
                      </a:r>
                      <a:endParaRPr sz="9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700"/>
                        <a:buFont typeface="Arial"/>
                        <a:buNone/>
                      </a:pP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LSTM models require large amounts of data and can be computationally intensive.</a:t>
                      </a:r>
                      <a:endParaRPr sz="9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700"/>
                        <a:buFont typeface="Arial"/>
                        <a:buNone/>
                      </a:pP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extLst>
                  <a:ext uri="{0D108BD9-81ED-4DB2-BD59-A6C34878D82A}">
                    <a16:rowId xmlns:a16="http://schemas.microsoft.com/office/drawing/2014/main" val="10003"/>
                  </a:ext>
                </a:extLst>
              </a:tr>
            </a:tbl>
          </a:graphicData>
        </a:graphic>
      </p:graphicFrame>
      <p:sp>
        <p:nvSpPr>
          <p:cNvPr id="74" name="Google Shape;74;p11"/>
          <p:cNvSpPr txBox="1">
            <a:spLocks noGrp="1"/>
          </p:cNvSpPr>
          <p:nvPr>
            <p:ph type="sldNum" idx="12"/>
          </p:nvPr>
        </p:nvSpPr>
        <p:spPr>
          <a:xfrm>
            <a:off x="8472487" y="4662487"/>
            <a:ext cx="5493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graphicFrame>
        <p:nvGraphicFramePr>
          <p:cNvPr id="79" name="Google Shape;79;p12"/>
          <p:cNvGraphicFramePr/>
          <p:nvPr/>
        </p:nvGraphicFramePr>
        <p:xfrm>
          <a:off x="154337" y="126512"/>
          <a:ext cx="8814250" cy="4950115"/>
        </p:xfrm>
        <a:graphic>
          <a:graphicData uri="http://schemas.openxmlformats.org/drawingml/2006/table">
            <a:tbl>
              <a:tblPr>
                <a:noFill/>
                <a:tableStyleId>{0EB5F669-19A5-4A0C-AAF8-9CA3CEDFA596}</a:tableStyleId>
              </a:tblPr>
              <a:tblGrid>
                <a:gridCol w="750875">
                  <a:extLst>
                    <a:ext uri="{9D8B030D-6E8A-4147-A177-3AD203B41FA5}">
                      <a16:colId xmlns:a16="http://schemas.microsoft.com/office/drawing/2014/main" val="20000"/>
                    </a:ext>
                  </a:extLst>
                </a:gridCol>
                <a:gridCol w="974050">
                  <a:extLst>
                    <a:ext uri="{9D8B030D-6E8A-4147-A177-3AD203B41FA5}">
                      <a16:colId xmlns:a16="http://schemas.microsoft.com/office/drawing/2014/main" val="20001"/>
                    </a:ext>
                  </a:extLst>
                </a:gridCol>
                <a:gridCol w="1065200">
                  <a:extLst>
                    <a:ext uri="{9D8B030D-6E8A-4147-A177-3AD203B41FA5}">
                      <a16:colId xmlns:a16="http://schemas.microsoft.com/office/drawing/2014/main" val="20002"/>
                    </a:ext>
                  </a:extLst>
                </a:gridCol>
                <a:gridCol w="1025325">
                  <a:extLst>
                    <a:ext uri="{9D8B030D-6E8A-4147-A177-3AD203B41FA5}">
                      <a16:colId xmlns:a16="http://schemas.microsoft.com/office/drawing/2014/main" val="20003"/>
                    </a:ext>
                  </a:extLst>
                </a:gridCol>
                <a:gridCol w="1186700">
                  <a:extLst>
                    <a:ext uri="{9D8B030D-6E8A-4147-A177-3AD203B41FA5}">
                      <a16:colId xmlns:a16="http://schemas.microsoft.com/office/drawing/2014/main" val="20004"/>
                    </a:ext>
                  </a:extLst>
                </a:gridCol>
                <a:gridCol w="855525">
                  <a:extLst>
                    <a:ext uri="{9D8B030D-6E8A-4147-A177-3AD203B41FA5}">
                      <a16:colId xmlns:a16="http://schemas.microsoft.com/office/drawing/2014/main" val="20005"/>
                    </a:ext>
                  </a:extLst>
                </a:gridCol>
                <a:gridCol w="938750">
                  <a:extLst>
                    <a:ext uri="{9D8B030D-6E8A-4147-A177-3AD203B41FA5}">
                      <a16:colId xmlns:a16="http://schemas.microsoft.com/office/drawing/2014/main" val="20006"/>
                    </a:ext>
                  </a:extLst>
                </a:gridCol>
                <a:gridCol w="1023575">
                  <a:extLst>
                    <a:ext uri="{9D8B030D-6E8A-4147-A177-3AD203B41FA5}">
                      <a16:colId xmlns:a16="http://schemas.microsoft.com/office/drawing/2014/main" val="20007"/>
                    </a:ext>
                  </a:extLst>
                </a:gridCol>
                <a:gridCol w="994250">
                  <a:extLst>
                    <a:ext uri="{9D8B030D-6E8A-4147-A177-3AD203B41FA5}">
                      <a16:colId xmlns:a16="http://schemas.microsoft.com/office/drawing/2014/main" val="20008"/>
                    </a:ext>
                  </a:extLst>
                </a:gridCol>
              </a:tblGrid>
              <a:tr h="698125">
                <a:tc>
                  <a:txBody>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Source</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Research Objective or Research Question</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Methodology</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Key Findings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Relevance to Project</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Techniques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Accuracy &amp; Performance Measures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Advantages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Disadvantages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1287550">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Published in Electronics in 2024.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Aims to predict climate change impacts on building cooling energy consumption using machine learning and explainable AI.</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Uses machine learning and explainable AI to analyze climate change scenarios and their impact on energy consumption.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Machine learning and explainable AI techniques effectively predict energy consumption under climate change scenarios.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Insights into explainable AI can help in improving LLM-based predictive models for energy forecasting.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Machine learning models with explainable AI, including regression and classification techniques.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Evaluates model performance using MAE, RMSE, and accuracy scores.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Machine learning with explainable AI enhances model interpretability and accuracy for climate-based predictions.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Requires large datasets and can be computationally intensive, particularly for climate scenarios.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extLst>
                  <a:ext uri="{0D108BD9-81ED-4DB2-BD59-A6C34878D82A}">
                    <a16:rowId xmlns:a16="http://schemas.microsoft.com/office/drawing/2014/main" val="10001"/>
                  </a:ext>
                </a:extLst>
              </a:tr>
              <a:tr h="1295725">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Available on arXiv in December 2022.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Focuses on short-term prediction of household electricity consumption using LSTM and GRU models.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Customizes LSTM and GRU models for short-term electricity consumption forecasting.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Customized LSTM and GRU models offer improved short-term prediction accuracy for electricity consumption.</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Provides practical examples of using LSTM models, which can be adapted for time-series forecasting of global energy trends with LLMs.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LSTM and GRU models tailored for short-term electricity consumption prediction.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Assesses model accuracy using MAE, RMSE, and other relevant metrics for electricity consumption.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LSTM and GRU models improve short-term prediction accuracy in household energy usage.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LSTM and GRU models need extensive data and high computational resources for training.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extLst>
                  <a:ext uri="{0D108BD9-81ED-4DB2-BD59-A6C34878D82A}">
                    <a16:rowId xmlns:a16="http://schemas.microsoft.com/office/drawing/2014/main" val="10002"/>
                  </a:ext>
                </a:extLst>
              </a:tr>
              <a:tr h="1553925">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Available on arXiv in July 2022.</a:t>
                      </a:r>
                      <a:endParaRPr sz="9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700"/>
                        <a:buFont typeface="Arial"/>
                        <a:buNone/>
                      </a:pPr>
                      <a:endParaRPr sz="9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700"/>
                        <a:buFont typeface="Arial"/>
                        <a:buNone/>
                      </a:pP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Compares different machine learning models for forecasting household electricity consumption.</a:t>
                      </a:r>
                      <a:endParaRPr sz="9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700"/>
                        <a:buFont typeface="Arial"/>
                        <a:buNone/>
                      </a:pPr>
                      <a:endParaRPr sz="9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700"/>
                        <a:buFont typeface="Arial"/>
                        <a:buNone/>
                      </a:pP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Compares various time-series forecasting techniques, such as SVR and MLP, for predicting household electricity consumption.</a:t>
                      </a: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SVR and MLP models provide competitive performance for forecasting household electricity consumption.</a:t>
                      </a:r>
                      <a:endParaRPr sz="9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700"/>
                        <a:buFont typeface="Arial"/>
                        <a:buNone/>
                      </a:pPr>
                      <a:endParaRPr sz="9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700"/>
                        <a:buFont typeface="Arial"/>
                        <a:buNone/>
                      </a:pP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Offers comparative analysis that can help refine forecasting models using LLMs for global energy prediction.</a:t>
                      </a:r>
                      <a:endParaRPr sz="9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700"/>
                        <a:buFont typeface="Arial"/>
                        <a:buNone/>
                      </a:pPr>
                      <a:endParaRPr sz="9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700"/>
                        <a:buFont typeface="Arial"/>
                        <a:buNone/>
                      </a:pP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Support Vector Regression (SVR), Multilayer Perceptron (MLP), and other machine learning models.</a:t>
                      </a: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Uses MAE, RMSE, and other error metrics for model evaluation.</a:t>
                      </a:r>
                      <a:endParaRPr sz="9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700"/>
                        <a:buFont typeface="Arial"/>
                        <a:buNone/>
                      </a:pPr>
                      <a:endParaRPr sz="9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700"/>
                        <a:buFont typeface="Arial"/>
                        <a:buNone/>
                      </a:pP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Provides a thorough comparison of multiple forecasting models, highlighting their strengths and weaknesses.</a:t>
                      </a:r>
                      <a:endParaRPr sz="9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700"/>
                        <a:buFont typeface="Arial"/>
                        <a:buNone/>
                      </a:pPr>
                      <a:endParaRPr sz="9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700"/>
                        <a:buFont typeface="Arial"/>
                        <a:buNone/>
                      </a:pP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Traditional models like SVR and MLP might not perform as well as more modern deep learning models for complex predictions.</a:t>
                      </a:r>
                      <a:endParaRPr sz="9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700"/>
                        <a:buFont typeface="Arial"/>
                        <a:buNone/>
                      </a:pPr>
                      <a:endParaRPr sz="9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700"/>
                        <a:buFont typeface="Arial"/>
                        <a:buNone/>
                      </a:pP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extLst>
                  <a:ext uri="{0D108BD9-81ED-4DB2-BD59-A6C34878D82A}">
                    <a16:rowId xmlns:a16="http://schemas.microsoft.com/office/drawing/2014/main" val="10003"/>
                  </a:ext>
                </a:extLst>
              </a:tr>
            </a:tbl>
          </a:graphicData>
        </a:graphic>
      </p:graphicFrame>
      <p:sp>
        <p:nvSpPr>
          <p:cNvPr id="80" name="Google Shape;80;p12"/>
          <p:cNvSpPr txBox="1">
            <a:spLocks noGrp="1"/>
          </p:cNvSpPr>
          <p:nvPr>
            <p:ph type="sldNum" idx="12"/>
          </p:nvPr>
        </p:nvSpPr>
        <p:spPr>
          <a:xfrm>
            <a:off x="8472487" y="4662487"/>
            <a:ext cx="5493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graphicFrame>
        <p:nvGraphicFramePr>
          <p:cNvPr id="85" name="Google Shape;85;p13"/>
          <p:cNvGraphicFramePr/>
          <p:nvPr/>
        </p:nvGraphicFramePr>
        <p:xfrm>
          <a:off x="154337" y="126512"/>
          <a:ext cx="8814250" cy="5218291"/>
        </p:xfrm>
        <a:graphic>
          <a:graphicData uri="http://schemas.openxmlformats.org/drawingml/2006/table">
            <a:tbl>
              <a:tblPr>
                <a:noFill/>
                <a:tableStyleId>{0EB5F669-19A5-4A0C-AAF8-9CA3CEDFA596}</a:tableStyleId>
              </a:tblPr>
              <a:tblGrid>
                <a:gridCol w="750875">
                  <a:extLst>
                    <a:ext uri="{9D8B030D-6E8A-4147-A177-3AD203B41FA5}">
                      <a16:colId xmlns:a16="http://schemas.microsoft.com/office/drawing/2014/main" val="20000"/>
                    </a:ext>
                  </a:extLst>
                </a:gridCol>
                <a:gridCol w="974050">
                  <a:extLst>
                    <a:ext uri="{9D8B030D-6E8A-4147-A177-3AD203B41FA5}">
                      <a16:colId xmlns:a16="http://schemas.microsoft.com/office/drawing/2014/main" val="20001"/>
                    </a:ext>
                  </a:extLst>
                </a:gridCol>
                <a:gridCol w="1065200">
                  <a:extLst>
                    <a:ext uri="{9D8B030D-6E8A-4147-A177-3AD203B41FA5}">
                      <a16:colId xmlns:a16="http://schemas.microsoft.com/office/drawing/2014/main" val="20002"/>
                    </a:ext>
                  </a:extLst>
                </a:gridCol>
                <a:gridCol w="1025325">
                  <a:extLst>
                    <a:ext uri="{9D8B030D-6E8A-4147-A177-3AD203B41FA5}">
                      <a16:colId xmlns:a16="http://schemas.microsoft.com/office/drawing/2014/main" val="20003"/>
                    </a:ext>
                  </a:extLst>
                </a:gridCol>
                <a:gridCol w="1186700">
                  <a:extLst>
                    <a:ext uri="{9D8B030D-6E8A-4147-A177-3AD203B41FA5}">
                      <a16:colId xmlns:a16="http://schemas.microsoft.com/office/drawing/2014/main" val="20004"/>
                    </a:ext>
                  </a:extLst>
                </a:gridCol>
                <a:gridCol w="855525">
                  <a:extLst>
                    <a:ext uri="{9D8B030D-6E8A-4147-A177-3AD203B41FA5}">
                      <a16:colId xmlns:a16="http://schemas.microsoft.com/office/drawing/2014/main" val="20005"/>
                    </a:ext>
                  </a:extLst>
                </a:gridCol>
                <a:gridCol w="938750">
                  <a:extLst>
                    <a:ext uri="{9D8B030D-6E8A-4147-A177-3AD203B41FA5}">
                      <a16:colId xmlns:a16="http://schemas.microsoft.com/office/drawing/2014/main" val="20006"/>
                    </a:ext>
                  </a:extLst>
                </a:gridCol>
                <a:gridCol w="1023575">
                  <a:extLst>
                    <a:ext uri="{9D8B030D-6E8A-4147-A177-3AD203B41FA5}">
                      <a16:colId xmlns:a16="http://schemas.microsoft.com/office/drawing/2014/main" val="20007"/>
                    </a:ext>
                  </a:extLst>
                </a:gridCol>
                <a:gridCol w="994250">
                  <a:extLst>
                    <a:ext uri="{9D8B030D-6E8A-4147-A177-3AD203B41FA5}">
                      <a16:colId xmlns:a16="http://schemas.microsoft.com/office/drawing/2014/main" val="20008"/>
                    </a:ext>
                  </a:extLst>
                </a:gridCol>
              </a:tblGrid>
              <a:tr h="622400">
                <a:tc>
                  <a:txBody>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Source</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Research Objective or Research Question</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Methodology</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Key Findings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Relevance to Project</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Techniques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Accuracy &amp; Performance Measures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Advantages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Disadvantages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1507550">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Published in SN Applied Sciences in 2020.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Aims to predict and schedule energy consumption in smart buildings using machine learning algorithms combined with genetic algorithms.</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Machine learning models (ANN) and genetic algorithms are used for energy prediction and scheduling in smart buildings.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ANN combined with genetic algorithms significantly improves energy consumption predictions and scheduling efficiency.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Relevant for incorporating machine learning algorithms in building energy forecasting, applicable to global energy prediction using LLMs.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Artificial Neural Networks (ANN) combined with Genetic Algorithms for scheduling and prediction.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Evaluates performance using standard metrics like MAE, RMSE, and energy savings measures.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Improves prediction accuracy and scheduling efficiency for energy consumption in smart buildings.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Requires high-quality data and computational power for model training.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extLst>
                  <a:ext uri="{0D108BD9-81ED-4DB2-BD59-A6C34878D82A}">
                    <a16:rowId xmlns:a16="http://schemas.microsoft.com/office/drawing/2014/main" val="10001"/>
                  </a:ext>
                </a:extLst>
              </a:tr>
              <a:tr h="1378350">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Available on arXiv in April 2023.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Presents a hybrid approach combining statistical and machine learning methods for forecasting national electricity demand.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Hybrid model combining statistical methods and machine learning for electricity demand forecasting in Ukraine.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The hybrid approach outperforms traditional methods, providing accurate short-term electricity demand forecasts.</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Insights into hybrid forecasting models can be adapted to LLMs for global energy consumption prediction.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Hybrid statistical methods combined with machine learning techniques.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Assesses model accuracy using MAE, RMSE, and error metrics specific to demand forecasting.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Hybrid model provides accurate and reliable electricity demand forecasts.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Hybrid model can be computationally expensive and requires large amounts of data.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extLst>
                  <a:ext uri="{0D108BD9-81ED-4DB2-BD59-A6C34878D82A}">
                    <a16:rowId xmlns:a16="http://schemas.microsoft.com/office/drawing/2014/main" val="10002"/>
                  </a:ext>
                </a:extLst>
              </a:tr>
              <a:tr h="1357725">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Published in Time magazine in December 2024.</a:t>
                      </a: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Discusses how AI technologies are integrated into building systems to improve energy efficiency.</a:t>
                      </a: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AI-based systems are analyzed for their role in improving energy efficiency in buildings.</a:t>
                      </a: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AI systems enhance building energy efficiency, potentially reducing global energy consumption and carbon emissions</a:t>
                      </a: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The application of AI in energy-efficient buildings aligns with using LLMs for energy consumption forecasting.</a:t>
                      </a: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AI-based systems using machine learning techniques for energy management.</a:t>
                      </a: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Performance is assessed based on energy savings, system efficiency, and reduced carbon emissions.</a:t>
                      </a: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AI helps in real-time energy optimization, reducing operational costs and carbon footprint</a:t>
                      </a: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Implementing AI solutions in buildings can be expensive and requires initial investment in smart technologies.</a:t>
                      </a: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extLst>
                  <a:ext uri="{0D108BD9-81ED-4DB2-BD59-A6C34878D82A}">
                    <a16:rowId xmlns:a16="http://schemas.microsoft.com/office/drawing/2014/main" val="10003"/>
                  </a:ext>
                </a:extLst>
              </a:tr>
            </a:tbl>
          </a:graphicData>
        </a:graphic>
      </p:graphicFrame>
      <p:sp>
        <p:nvSpPr>
          <p:cNvPr id="86" name="Google Shape;86;p13"/>
          <p:cNvSpPr txBox="1">
            <a:spLocks noGrp="1"/>
          </p:cNvSpPr>
          <p:nvPr>
            <p:ph type="sldNum" idx="12"/>
          </p:nvPr>
        </p:nvSpPr>
        <p:spPr>
          <a:xfrm>
            <a:off x="8472487" y="4662487"/>
            <a:ext cx="5493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graphicFrame>
        <p:nvGraphicFramePr>
          <p:cNvPr id="91" name="Google Shape;91;p14"/>
          <p:cNvGraphicFramePr/>
          <p:nvPr/>
        </p:nvGraphicFramePr>
        <p:xfrm>
          <a:off x="154337" y="126512"/>
          <a:ext cx="8814250" cy="5093796"/>
        </p:xfrm>
        <a:graphic>
          <a:graphicData uri="http://schemas.openxmlformats.org/drawingml/2006/table">
            <a:tbl>
              <a:tblPr>
                <a:noFill/>
                <a:tableStyleId>{0EB5F669-19A5-4A0C-AAF8-9CA3CEDFA596}</a:tableStyleId>
              </a:tblPr>
              <a:tblGrid>
                <a:gridCol w="750875">
                  <a:extLst>
                    <a:ext uri="{9D8B030D-6E8A-4147-A177-3AD203B41FA5}">
                      <a16:colId xmlns:a16="http://schemas.microsoft.com/office/drawing/2014/main" val="20000"/>
                    </a:ext>
                  </a:extLst>
                </a:gridCol>
                <a:gridCol w="1029425">
                  <a:extLst>
                    <a:ext uri="{9D8B030D-6E8A-4147-A177-3AD203B41FA5}">
                      <a16:colId xmlns:a16="http://schemas.microsoft.com/office/drawing/2014/main" val="20001"/>
                    </a:ext>
                  </a:extLst>
                </a:gridCol>
                <a:gridCol w="1098425">
                  <a:extLst>
                    <a:ext uri="{9D8B030D-6E8A-4147-A177-3AD203B41FA5}">
                      <a16:colId xmlns:a16="http://schemas.microsoft.com/office/drawing/2014/main" val="20002"/>
                    </a:ext>
                  </a:extLst>
                </a:gridCol>
                <a:gridCol w="1047475">
                  <a:extLst>
                    <a:ext uri="{9D8B030D-6E8A-4147-A177-3AD203B41FA5}">
                      <a16:colId xmlns:a16="http://schemas.microsoft.com/office/drawing/2014/main" val="20003"/>
                    </a:ext>
                  </a:extLst>
                </a:gridCol>
                <a:gridCol w="1131350">
                  <a:extLst>
                    <a:ext uri="{9D8B030D-6E8A-4147-A177-3AD203B41FA5}">
                      <a16:colId xmlns:a16="http://schemas.microsoft.com/office/drawing/2014/main" val="20004"/>
                    </a:ext>
                  </a:extLst>
                </a:gridCol>
                <a:gridCol w="999475">
                  <a:extLst>
                    <a:ext uri="{9D8B030D-6E8A-4147-A177-3AD203B41FA5}">
                      <a16:colId xmlns:a16="http://schemas.microsoft.com/office/drawing/2014/main" val="20005"/>
                    </a:ext>
                  </a:extLst>
                </a:gridCol>
                <a:gridCol w="850150">
                  <a:extLst>
                    <a:ext uri="{9D8B030D-6E8A-4147-A177-3AD203B41FA5}">
                      <a16:colId xmlns:a16="http://schemas.microsoft.com/office/drawing/2014/main" val="20006"/>
                    </a:ext>
                  </a:extLst>
                </a:gridCol>
                <a:gridCol w="912825">
                  <a:extLst>
                    <a:ext uri="{9D8B030D-6E8A-4147-A177-3AD203B41FA5}">
                      <a16:colId xmlns:a16="http://schemas.microsoft.com/office/drawing/2014/main" val="20007"/>
                    </a:ext>
                  </a:extLst>
                </a:gridCol>
                <a:gridCol w="994250">
                  <a:extLst>
                    <a:ext uri="{9D8B030D-6E8A-4147-A177-3AD203B41FA5}">
                      <a16:colId xmlns:a16="http://schemas.microsoft.com/office/drawing/2014/main" val="20008"/>
                    </a:ext>
                  </a:extLst>
                </a:gridCol>
              </a:tblGrid>
              <a:tr h="622400">
                <a:tc>
                  <a:txBody>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Source</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Research Objective or Research Question</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Methodology</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Key Findings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Relevance to Project</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Techniques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Accuracy &amp; Performance Measures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Advantages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Disadvantages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1507550">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Published in IEEE Conference Publication in 2023.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Aims to predict energy consumption in urban buildings using machine learning and deep learning techniques, considering multiple factors.</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Combines machine learning and deep learning models with environmental and occupancy data for urban energy prediction.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Machine learning and deep learning provide accurate energy consumption predictions in urban areas.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Offers a novel approach integrating deep learning and environmental data for energy prediction, which can inspire LLM-based global energy forecasting.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Machine learning and deep learning (e.g., ANN, CNN) for energy prediction.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Evaluates prediction accuracy using standard metrics like MAE, RMSE, and R-squared.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Combines multiple data types to enhance prediction accuracy for urban energy systems.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Requires large amounts of data and computational resources, particularly for urban scenarios.</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extLst>
                  <a:ext uri="{0D108BD9-81ED-4DB2-BD59-A6C34878D82A}">
                    <a16:rowId xmlns:a16="http://schemas.microsoft.com/office/drawing/2014/main" val="10001"/>
                  </a:ext>
                </a:extLst>
              </a:tr>
              <a:tr h="1278675">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Published in IET Conference Publication in 2024.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Focuses on using LSTM networks for energy consumption prediction based on time series data and AI-driven models.</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Utilizes time series data analysis with LSTM models to predict energy consumption, employing normalization and missing value techniques.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LSTM networks enhance energy prediction accuracy by capturing temporal dependencies in time series data.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Deep learning models like LSTM can be adapted for time-series energy consumption forecasting in your project.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Long Short-Term Memory (LSTM) models for time series data analysis and prediction.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Accuracy is evaluated through MAE, RMSE, and error metrics for time-series prediction.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LSTM networks are highly effective for capturing temporal dependencies, leading to better accuracy.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LSTM models require extensive data for training and can be computationally intensive.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extLst>
                  <a:ext uri="{0D108BD9-81ED-4DB2-BD59-A6C34878D82A}">
                    <a16:rowId xmlns:a16="http://schemas.microsoft.com/office/drawing/2014/main" val="10002"/>
                  </a:ext>
                </a:extLst>
              </a:tr>
              <a:tr h="1357725">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Available on arXiv in July 2024.</a:t>
                      </a:r>
                      <a:endParaRPr sz="9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700"/>
                        <a:buFont typeface="Arial"/>
                        <a:buNone/>
                      </a:pP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Proposes a CNN-BiGRU model for cloud computing energy consumption prediction, optimized using the Horned Lizard Algorithm.</a:t>
                      </a: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Uses a regression algorithm optimized by the Horned Lizard Algorithm to train a CNN-BiGRU model for energy consumption forecasting in cloud computing.</a:t>
                      </a: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The CNN-BiGRU model optimized by the Horned Lizard Algorithm outperforms traditional models in cloud energy consumption prediction.</a:t>
                      </a: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The hybrid CNN-BiGRU model provides insights for using advanced deep learning techniques for energy prediction, relevant to fine-tuning LLM models.</a:t>
                      </a: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Convolutional Neural Network (CNN) combined with Bi-directional Gated Recurrent Unit (BiGRU) for energy prediction in cloud computing.</a:t>
                      </a: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Performance is evaluated with metrics like RMSE and MAE for energy consumption prediction in cloud computing.</a:t>
                      </a:r>
                      <a:endParaRPr sz="9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700"/>
                        <a:buFont typeface="Arial"/>
                        <a:buNone/>
                      </a:pP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The hybrid CNN-BiGRU model provides enhanced accuracy in cloud energy consumption prediction.</a:t>
                      </a:r>
                      <a:endParaRPr sz="9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700"/>
                        <a:buFont typeface="Arial"/>
                        <a:buNone/>
                      </a:pP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The model requires complex optimization techniques and significant computational resources for training.</a:t>
                      </a: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extLst>
                  <a:ext uri="{0D108BD9-81ED-4DB2-BD59-A6C34878D82A}">
                    <a16:rowId xmlns:a16="http://schemas.microsoft.com/office/drawing/2014/main" val="10003"/>
                  </a:ext>
                </a:extLst>
              </a:tr>
            </a:tbl>
          </a:graphicData>
        </a:graphic>
      </p:graphicFrame>
      <p:sp>
        <p:nvSpPr>
          <p:cNvPr id="92" name="Google Shape;92;p14"/>
          <p:cNvSpPr txBox="1">
            <a:spLocks noGrp="1"/>
          </p:cNvSpPr>
          <p:nvPr>
            <p:ph type="sldNum" idx="12"/>
          </p:nvPr>
        </p:nvSpPr>
        <p:spPr>
          <a:xfrm>
            <a:off x="8472487" y="4662487"/>
            <a:ext cx="5493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5"/>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5200"/>
              <a:buNone/>
            </a:pPr>
            <a:r>
              <a:rPr lang="en-US" sz="2900" b="1" i="0" u="none">
                <a:solidFill>
                  <a:srgbClr val="000000"/>
                </a:solidFill>
                <a:latin typeface="Times New Roman"/>
                <a:ea typeface="Times New Roman"/>
                <a:cs typeface="Times New Roman"/>
                <a:sym typeface="Times New Roman"/>
              </a:rPr>
              <a:t>Research Gaps</a:t>
            </a:r>
            <a:endParaRPr/>
          </a:p>
        </p:txBody>
      </p:sp>
      <p:sp>
        <p:nvSpPr>
          <p:cNvPr id="98" name="Google Shape;98;p15"/>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a:solidFill>
                  <a:srgbClr val="595959"/>
                </a:solidFill>
                <a:latin typeface="Arial"/>
                <a:ea typeface="Arial"/>
                <a:cs typeface="Arial"/>
                <a:sym typeface="Arial"/>
              </a:rPr>
              <a:t>11</a:t>
            </a:fld>
            <a:endParaRPr/>
          </a:p>
        </p:txBody>
      </p:sp>
      <p:sp>
        <p:nvSpPr>
          <p:cNvPr id="99" name="Google Shape;99;p15"/>
          <p:cNvSpPr txBox="1"/>
          <p:nvPr/>
        </p:nvSpPr>
        <p:spPr>
          <a:xfrm>
            <a:off x="237200" y="685800"/>
            <a:ext cx="8666400" cy="39768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n-US" sz="1900" b="1">
                <a:latin typeface="Times New Roman"/>
                <a:ea typeface="Times New Roman"/>
                <a:cs typeface="Times New Roman"/>
                <a:sym typeface="Times New Roman"/>
              </a:rPr>
              <a:t>Data Quality and Availability:</a:t>
            </a:r>
            <a:r>
              <a:rPr lang="en-US" sz="1900">
                <a:latin typeface="Times New Roman"/>
                <a:ea typeface="Times New Roman"/>
                <a:cs typeface="Times New Roman"/>
                <a:sym typeface="Times New Roman"/>
              </a:rPr>
              <a:t> Many studies rely on limited or incomplete datasets, which may not capture the full range of factors affecting energy consumption.</a:t>
            </a:r>
            <a:endParaRPr sz="1900">
              <a:latin typeface="Times New Roman"/>
              <a:ea typeface="Times New Roman"/>
              <a:cs typeface="Times New Roman"/>
              <a:sym typeface="Times New Roman"/>
            </a:endParaRPr>
          </a:p>
          <a:p>
            <a:pPr marL="0" lvl="0" indent="0" algn="just" rtl="0">
              <a:spcBef>
                <a:spcPts val="0"/>
              </a:spcBef>
              <a:spcAft>
                <a:spcPts val="0"/>
              </a:spcAft>
              <a:buNone/>
            </a:pPr>
            <a:endParaRPr sz="1900">
              <a:latin typeface="Times New Roman"/>
              <a:ea typeface="Times New Roman"/>
              <a:cs typeface="Times New Roman"/>
              <a:sym typeface="Times New Roman"/>
            </a:endParaRPr>
          </a:p>
          <a:p>
            <a:pPr marL="0" lvl="0" indent="0" algn="just" rtl="0">
              <a:spcBef>
                <a:spcPts val="0"/>
              </a:spcBef>
              <a:spcAft>
                <a:spcPts val="0"/>
              </a:spcAft>
              <a:buNone/>
            </a:pPr>
            <a:r>
              <a:rPr lang="en-US" sz="1900" b="1">
                <a:latin typeface="Times New Roman"/>
                <a:ea typeface="Times New Roman"/>
                <a:cs typeface="Times New Roman"/>
                <a:sym typeface="Times New Roman"/>
              </a:rPr>
              <a:t>Complexity of Hybrid Models:</a:t>
            </a:r>
            <a:r>
              <a:rPr lang="en-US" sz="1900">
                <a:latin typeface="Times New Roman"/>
                <a:ea typeface="Times New Roman"/>
                <a:cs typeface="Times New Roman"/>
                <a:sym typeface="Times New Roman"/>
              </a:rPr>
              <a:t> Combining multiple forecasting models can lead to overly complex systems that are difficult to deploy and maintain in real-world scenarios.</a:t>
            </a:r>
            <a:endParaRPr sz="1900">
              <a:latin typeface="Times New Roman"/>
              <a:ea typeface="Times New Roman"/>
              <a:cs typeface="Times New Roman"/>
              <a:sym typeface="Times New Roman"/>
            </a:endParaRPr>
          </a:p>
          <a:p>
            <a:pPr marL="0" lvl="0" indent="0" algn="just" rtl="0">
              <a:spcBef>
                <a:spcPts val="0"/>
              </a:spcBef>
              <a:spcAft>
                <a:spcPts val="0"/>
              </a:spcAft>
              <a:buNone/>
            </a:pPr>
            <a:endParaRPr sz="1900">
              <a:latin typeface="Times New Roman"/>
              <a:ea typeface="Times New Roman"/>
              <a:cs typeface="Times New Roman"/>
              <a:sym typeface="Times New Roman"/>
            </a:endParaRPr>
          </a:p>
          <a:p>
            <a:pPr marL="0" lvl="0" indent="0" algn="just" rtl="0">
              <a:spcBef>
                <a:spcPts val="0"/>
              </a:spcBef>
              <a:spcAft>
                <a:spcPts val="0"/>
              </a:spcAft>
              <a:buNone/>
            </a:pPr>
            <a:r>
              <a:rPr lang="en-US" sz="1900" b="1">
                <a:latin typeface="Times New Roman"/>
                <a:ea typeface="Times New Roman"/>
                <a:cs typeface="Times New Roman"/>
                <a:sym typeface="Times New Roman"/>
              </a:rPr>
              <a:t>Data Dependency: </a:t>
            </a:r>
            <a:r>
              <a:rPr lang="en-US" sz="1900">
                <a:latin typeface="Times New Roman"/>
                <a:ea typeface="Times New Roman"/>
                <a:cs typeface="Times New Roman"/>
                <a:sym typeface="Times New Roman"/>
              </a:rPr>
              <a:t>Deep learning models require large amounts of high-quality data for training, which may not always be available in every setting.</a:t>
            </a:r>
            <a:endParaRPr sz="1900">
              <a:latin typeface="Times New Roman"/>
              <a:ea typeface="Times New Roman"/>
              <a:cs typeface="Times New Roman"/>
              <a:sym typeface="Times New Roman"/>
            </a:endParaRPr>
          </a:p>
          <a:p>
            <a:pPr marL="0" lvl="0" indent="0" algn="just" rtl="0">
              <a:spcBef>
                <a:spcPts val="0"/>
              </a:spcBef>
              <a:spcAft>
                <a:spcPts val="0"/>
              </a:spcAft>
              <a:buNone/>
            </a:pPr>
            <a:endParaRPr sz="1900">
              <a:latin typeface="Times New Roman"/>
              <a:ea typeface="Times New Roman"/>
              <a:cs typeface="Times New Roman"/>
              <a:sym typeface="Times New Roman"/>
            </a:endParaRPr>
          </a:p>
          <a:p>
            <a:pPr marL="0" lvl="0" indent="0" algn="just" rtl="0">
              <a:spcBef>
                <a:spcPts val="0"/>
              </a:spcBef>
              <a:spcAft>
                <a:spcPts val="0"/>
              </a:spcAft>
              <a:buNone/>
            </a:pPr>
            <a:r>
              <a:rPr lang="en-US" sz="1900" b="1">
                <a:latin typeface="Times New Roman"/>
                <a:ea typeface="Times New Roman"/>
                <a:cs typeface="Times New Roman"/>
                <a:sym typeface="Times New Roman"/>
              </a:rPr>
              <a:t>Data Consistency:</a:t>
            </a:r>
            <a:r>
              <a:rPr lang="en-US" sz="1900">
                <a:latin typeface="Times New Roman"/>
                <a:ea typeface="Times New Roman"/>
                <a:cs typeface="Times New Roman"/>
                <a:sym typeface="Times New Roman"/>
              </a:rPr>
              <a:t> Real-world data on energy consumption can be inconsistent, which affects the performance of machine learning models.</a:t>
            </a:r>
            <a:endParaRPr sz="1900">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6"/>
          <p:cNvSpPr txBox="1"/>
          <p:nvPr/>
        </p:nvSpPr>
        <p:spPr>
          <a:xfrm>
            <a:off x="237200" y="685800"/>
            <a:ext cx="8666400" cy="39768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n-US" sz="1900" b="1">
                <a:latin typeface="Times New Roman"/>
                <a:ea typeface="Times New Roman"/>
                <a:cs typeface="Times New Roman"/>
                <a:sym typeface="Times New Roman"/>
              </a:rPr>
              <a:t>Model Complexity:</a:t>
            </a:r>
            <a:r>
              <a:rPr lang="en-US" sz="1900">
                <a:latin typeface="Times New Roman"/>
                <a:ea typeface="Times New Roman"/>
                <a:cs typeface="Times New Roman"/>
                <a:sym typeface="Times New Roman"/>
              </a:rPr>
              <a:t> LSTM models, while powerful, are computationally expensive and require significant resources, making them challenging for real-time applications.</a:t>
            </a:r>
            <a:endParaRPr sz="1900">
              <a:latin typeface="Times New Roman"/>
              <a:ea typeface="Times New Roman"/>
              <a:cs typeface="Times New Roman"/>
              <a:sym typeface="Times New Roman"/>
            </a:endParaRPr>
          </a:p>
          <a:p>
            <a:pPr marL="0" lvl="0" indent="0" algn="just" rtl="0">
              <a:spcBef>
                <a:spcPts val="0"/>
              </a:spcBef>
              <a:spcAft>
                <a:spcPts val="0"/>
              </a:spcAft>
              <a:buNone/>
            </a:pPr>
            <a:endParaRPr sz="1900">
              <a:latin typeface="Times New Roman"/>
              <a:ea typeface="Times New Roman"/>
              <a:cs typeface="Times New Roman"/>
              <a:sym typeface="Times New Roman"/>
            </a:endParaRPr>
          </a:p>
          <a:p>
            <a:pPr marL="0" lvl="0" indent="0" algn="just" rtl="0">
              <a:spcBef>
                <a:spcPts val="0"/>
              </a:spcBef>
              <a:spcAft>
                <a:spcPts val="0"/>
              </a:spcAft>
              <a:buNone/>
            </a:pPr>
            <a:r>
              <a:rPr lang="en-US" sz="1900" b="1">
                <a:latin typeface="Times New Roman"/>
                <a:ea typeface="Times New Roman"/>
                <a:cs typeface="Times New Roman"/>
                <a:sym typeface="Times New Roman"/>
              </a:rPr>
              <a:t>Long-Term Prediction:</a:t>
            </a:r>
            <a:r>
              <a:rPr lang="en-US" sz="1900">
                <a:latin typeface="Times New Roman"/>
                <a:ea typeface="Times New Roman"/>
                <a:cs typeface="Times New Roman"/>
                <a:sym typeface="Times New Roman"/>
              </a:rPr>
              <a:t> The models used face uncertainty in projecting long-term energy consumption impacts due to the unpredictability of future climate scenarios.</a:t>
            </a:r>
            <a:endParaRPr sz="1900">
              <a:latin typeface="Times New Roman"/>
              <a:ea typeface="Times New Roman"/>
              <a:cs typeface="Times New Roman"/>
              <a:sym typeface="Times New Roman"/>
            </a:endParaRPr>
          </a:p>
          <a:p>
            <a:pPr marL="0" lvl="0" indent="0" algn="just" rtl="0">
              <a:spcBef>
                <a:spcPts val="0"/>
              </a:spcBef>
              <a:spcAft>
                <a:spcPts val="0"/>
              </a:spcAft>
              <a:buNone/>
            </a:pPr>
            <a:endParaRPr sz="1900">
              <a:latin typeface="Times New Roman"/>
              <a:ea typeface="Times New Roman"/>
              <a:cs typeface="Times New Roman"/>
              <a:sym typeface="Times New Roman"/>
            </a:endParaRPr>
          </a:p>
          <a:p>
            <a:pPr marL="0" lvl="0" indent="0" algn="just" rtl="0">
              <a:spcBef>
                <a:spcPts val="0"/>
              </a:spcBef>
              <a:spcAft>
                <a:spcPts val="0"/>
              </a:spcAft>
              <a:buNone/>
            </a:pPr>
            <a:r>
              <a:rPr lang="en-US" sz="1900" b="1">
                <a:latin typeface="Times New Roman"/>
                <a:ea typeface="Times New Roman"/>
                <a:cs typeface="Times New Roman"/>
                <a:sym typeface="Times New Roman"/>
              </a:rPr>
              <a:t>Overfitting:</a:t>
            </a:r>
            <a:r>
              <a:rPr lang="en-US" sz="1900">
                <a:latin typeface="Times New Roman"/>
                <a:ea typeface="Times New Roman"/>
                <a:cs typeface="Times New Roman"/>
                <a:sym typeface="Times New Roman"/>
              </a:rPr>
              <a:t> Short-term models, such as LSTM and GRU, are prone to overfitting when trained on limited data, reducing their generalizability to new or unseen scenarios.</a:t>
            </a:r>
            <a:endParaRPr sz="1900">
              <a:latin typeface="Times New Roman"/>
              <a:ea typeface="Times New Roman"/>
              <a:cs typeface="Times New Roman"/>
              <a:sym typeface="Times New Roman"/>
            </a:endParaRPr>
          </a:p>
          <a:p>
            <a:pPr marL="0" lvl="0" indent="0" algn="just" rtl="0">
              <a:spcBef>
                <a:spcPts val="0"/>
              </a:spcBef>
              <a:spcAft>
                <a:spcPts val="0"/>
              </a:spcAft>
              <a:buNone/>
            </a:pPr>
            <a:endParaRPr sz="1900">
              <a:latin typeface="Times New Roman"/>
              <a:ea typeface="Times New Roman"/>
              <a:cs typeface="Times New Roman"/>
              <a:sym typeface="Times New Roman"/>
            </a:endParaRPr>
          </a:p>
          <a:p>
            <a:pPr marL="0" lvl="0" indent="0" algn="just" rtl="0">
              <a:spcBef>
                <a:spcPts val="0"/>
              </a:spcBef>
              <a:spcAft>
                <a:spcPts val="0"/>
              </a:spcAft>
              <a:buNone/>
            </a:pPr>
            <a:r>
              <a:rPr lang="en-US" sz="1900" b="1">
                <a:latin typeface="Times New Roman"/>
                <a:ea typeface="Times New Roman"/>
                <a:cs typeface="Times New Roman"/>
                <a:sym typeface="Times New Roman"/>
              </a:rPr>
              <a:t>Integration with Real-World Systems:</a:t>
            </a:r>
            <a:r>
              <a:rPr lang="en-US" sz="1900">
                <a:latin typeface="Times New Roman"/>
                <a:ea typeface="Times New Roman"/>
                <a:cs typeface="Times New Roman"/>
                <a:sym typeface="Times New Roman"/>
              </a:rPr>
              <a:t> The proposed models may not integrate easily into existing building management systems, making practical implementation challenging.</a:t>
            </a:r>
            <a:endParaRPr sz="1900">
              <a:latin typeface="Times New Roman"/>
              <a:ea typeface="Times New Roman"/>
              <a:cs typeface="Times New Roman"/>
              <a:sym typeface="Times New Roman"/>
            </a:endParaRPr>
          </a:p>
        </p:txBody>
      </p:sp>
      <p:sp>
        <p:nvSpPr>
          <p:cNvPr id="105" name="Google Shape;105;p16"/>
          <p:cNvSpPr txBox="1">
            <a:spLocks noGrp="1"/>
          </p:cNvSpPr>
          <p:nvPr>
            <p:ph type="ctrTitle"/>
          </p:nvPr>
        </p:nvSpPr>
        <p:spPr>
          <a:xfrm>
            <a:off x="0" y="0"/>
            <a:ext cx="9144000" cy="6492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5200"/>
              <a:buNone/>
            </a:pPr>
            <a:r>
              <a:rPr lang="en-US" sz="2900" b="1" i="0" u="none">
                <a:solidFill>
                  <a:srgbClr val="000000"/>
                </a:solidFill>
                <a:latin typeface="Times New Roman"/>
                <a:ea typeface="Times New Roman"/>
                <a:cs typeface="Times New Roman"/>
                <a:sym typeface="Times New Roman"/>
              </a:rPr>
              <a:t>Research Gaps</a:t>
            </a:r>
            <a:endParaRPr/>
          </a:p>
        </p:txBody>
      </p:sp>
      <p:sp>
        <p:nvSpPr>
          <p:cNvPr id="106" name="Google Shape;106;p16"/>
          <p:cNvSpPr txBox="1"/>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a:solidFill>
                  <a:srgbClr val="595959"/>
                </a:solidFill>
                <a:latin typeface="Arial"/>
                <a:ea typeface="Arial"/>
                <a:cs typeface="Arial"/>
                <a:sym typeface="Arial"/>
              </a:rPr>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7"/>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5200"/>
              <a:buNone/>
            </a:pPr>
            <a:r>
              <a:rPr lang="en-US" sz="2900" b="1" i="0" u="none">
                <a:solidFill>
                  <a:srgbClr val="000000"/>
                </a:solidFill>
                <a:latin typeface="Times New Roman"/>
                <a:ea typeface="Times New Roman"/>
                <a:cs typeface="Times New Roman"/>
                <a:sym typeface="Times New Roman"/>
              </a:rPr>
              <a:t>Problem Statement</a:t>
            </a:r>
            <a:endParaRPr/>
          </a:p>
        </p:txBody>
      </p:sp>
      <p:sp>
        <p:nvSpPr>
          <p:cNvPr id="112" name="Google Shape;112;p17"/>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a:solidFill>
                  <a:srgbClr val="595959"/>
                </a:solidFill>
                <a:latin typeface="Arial"/>
                <a:ea typeface="Arial"/>
                <a:cs typeface="Arial"/>
                <a:sym typeface="Arial"/>
              </a:rPr>
              <a:t>13</a:t>
            </a:fld>
            <a:endParaRPr/>
          </a:p>
        </p:txBody>
      </p:sp>
      <p:sp>
        <p:nvSpPr>
          <p:cNvPr id="113" name="Google Shape;113;p17"/>
          <p:cNvSpPr txBox="1"/>
          <p:nvPr/>
        </p:nvSpPr>
        <p:spPr>
          <a:xfrm>
            <a:off x="331150" y="803225"/>
            <a:ext cx="8454900" cy="39105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n-US" sz="1900">
                <a:latin typeface="Times New Roman"/>
                <a:ea typeface="Times New Roman"/>
                <a:cs typeface="Times New Roman"/>
                <a:sym typeface="Times New Roman"/>
              </a:rPr>
              <a:t>For efficient energy management and policy making, it is essential to accurately forecast changes in global energy use. The complex, non-linear patterns of energy use are frequently difficult for traditional forecasting techniques to capture. By integrating historical data and several contributing factors, this research seeks to improve energy consumption projections through the use of time series analysis and refined Large Language Models (LLMs). The objective is to create a more accurate and dependable model that will help policymakers and energy providers around the world make well-informed decisions.</a:t>
            </a:r>
            <a:endParaRPr sz="1900">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8"/>
          <p:cNvSpPr txBox="1">
            <a:spLocks noGrp="1"/>
          </p:cNvSpPr>
          <p:nvPr>
            <p:ph type="ctrTitle"/>
          </p:nvPr>
        </p:nvSpPr>
        <p:spPr>
          <a:xfrm>
            <a:off x="0" y="0"/>
            <a:ext cx="9144000" cy="6492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5200"/>
              <a:buNone/>
            </a:pPr>
            <a:r>
              <a:rPr lang="en-US" sz="2900" b="1" i="0" u="none">
                <a:solidFill>
                  <a:srgbClr val="000000"/>
                </a:solidFill>
                <a:latin typeface="Times New Roman"/>
                <a:ea typeface="Times New Roman"/>
                <a:cs typeface="Times New Roman"/>
                <a:sym typeface="Times New Roman"/>
              </a:rPr>
              <a:t>Objectives</a:t>
            </a:r>
            <a:endParaRPr/>
          </a:p>
        </p:txBody>
      </p:sp>
      <p:sp>
        <p:nvSpPr>
          <p:cNvPr id="119" name="Google Shape;119;p18"/>
          <p:cNvSpPr txBox="1"/>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a:solidFill>
                  <a:srgbClr val="595959"/>
                </a:solidFill>
                <a:latin typeface="Arial"/>
                <a:ea typeface="Arial"/>
                <a:cs typeface="Arial"/>
                <a:sym typeface="Arial"/>
              </a:rPr>
              <a:t>14</a:t>
            </a:fld>
            <a:endParaRPr/>
          </a:p>
        </p:txBody>
      </p:sp>
      <p:sp>
        <p:nvSpPr>
          <p:cNvPr id="120" name="Google Shape;120;p18"/>
          <p:cNvSpPr txBox="1"/>
          <p:nvPr/>
        </p:nvSpPr>
        <p:spPr>
          <a:xfrm>
            <a:off x="385500" y="544875"/>
            <a:ext cx="8373000" cy="423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900" b="1">
                <a:latin typeface="Times New Roman"/>
                <a:ea typeface="Times New Roman"/>
                <a:cs typeface="Times New Roman"/>
                <a:sym typeface="Times New Roman"/>
              </a:rPr>
              <a:t>To Develop a predictive model</a:t>
            </a:r>
            <a:r>
              <a:rPr lang="en-US" sz="1900">
                <a:latin typeface="Times New Roman"/>
                <a:ea typeface="Times New Roman"/>
                <a:cs typeface="Times New Roman"/>
                <a:sym typeface="Times New Roman"/>
              </a:rPr>
              <a:t> for global energy consumption trends using time series analysis and fine-tuned Large Language Models (LLMs).</a:t>
            </a:r>
            <a:endParaRPr sz="1900">
              <a:latin typeface="Times New Roman"/>
              <a:ea typeface="Times New Roman"/>
              <a:cs typeface="Times New Roman"/>
              <a:sym typeface="Times New Roman"/>
            </a:endParaRPr>
          </a:p>
          <a:p>
            <a:pPr marL="0" lvl="0" indent="0" algn="l" rtl="0">
              <a:spcBef>
                <a:spcPts val="0"/>
              </a:spcBef>
              <a:spcAft>
                <a:spcPts val="0"/>
              </a:spcAft>
              <a:buNone/>
            </a:pPr>
            <a:endParaRPr sz="1900">
              <a:latin typeface="Times New Roman"/>
              <a:ea typeface="Times New Roman"/>
              <a:cs typeface="Times New Roman"/>
              <a:sym typeface="Times New Roman"/>
            </a:endParaRPr>
          </a:p>
          <a:p>
            <a:pPr marL="0" lvl="0" indent="0" algn="l" rtl="0">
              <a:spcBef>
                <a:spcPts val="0"/>
              </a:spcBef>
              <a:spcAft>
                <a:spcPts val="0"/>
              </a:spcAft>
              <a:buNone/>
            </a:pPr>
            <a:r>
              <a:rPr lang="en-US" sz="1900" b="1">
                <a:solidFill>
                  <a:schemeClr val="dk1"/>
                </a:solidFill>
                <a:latin typeface="Times New Roman"/>
                <a:ea typeface="Times New Roman"/>
                <a:cs typeface="Times New Roman"/>
                <a:sym typeface="Times New Roman"/>
              </a:rPr>
              <a:t>To </a:t>
            </a:r>
            <a:r>
              <a:rPr lang="en-US" sz="1900" b="1">
                <a:latin typeface="Times New Roman"/>
                <a:ea typeface="Times New Roman"/>
                <a:cs typeface="Times New Roman"/>
                <a:sym typeface="Times New Roman"/>
              </a:rPr>
              <a:t>Integrate multiple data sources</a:t>
            </a:r>
            <a:r>
              <a:rPr lang="en-US" sz="1900">
                <a:latin typeface="Times New Roman"/>
                <a:ea typeface="Times New Roman"/>
                <a:cs typeface="Times New Roman"/>
                <a:sym typeface="Times New Roman"/>
              </a:rPr>
              <a:t> including historical energy consumption data, socio-economic factors, and environmental variables to improve model accuracy.</a:t>
            </a:r>
            <a:endParaRPr sz="1900">
              <a:latin typeface="Times New Roman"/>
              <a:ea typeface="Times New Roman"/>
              <a:cs typeface="Times New Roman"/>
              <a:sym typeface="Times New Roman"/>
            </a:endParaRPr>
          </a:p>
          <a:p>
            <a:pPr marL="0" lvl="0" indent="0" algn="l" rtl="0">
              <a:spcBef>
                <a:spcPts val="0"/>
              </a:spcBef>
              <a:spcAft>
                <a:spcPts val="0"/>
              </a:spcAft>
              <a:buNone/>
            </a:pPr>
            <a:endParaRPr sz="1900">
              <a:latin typeface="Times New Roman"/>
              <a:ea typeface="Times New Roman"/>
              <a:cs typeface="Times New Roman"/>
              <a:sym typeface="Times New Roman"/>
            </a:endParaRPr>
          </a:p>
          <a:p>
            <a:pPr marL="0" lvl="0" indent="0" algn="l" rtl="0">
              <a:spcBef>
                <a:spcPts val="0"/>
              </a:spcBef>
              <a:spcAft>
                <a:spcPts val="0"/>
              </a:spcAft>
              <a:buNone/>
            </a:pPr>
            <a:r>
              <a:rPr lang="en-US" sz="1900" b="1">
                <a:solidFill>
                  <a:schemeClr val="dk1"/>
                </a:solidFill>
                <a:latin typeface="Times New Roman"/>
                <a:ea typeface="Times New Roman"/>
                <a:cs typeface="Times New Roman"/>
                <a:sym typeface="Times New Roman"/>
              </a:rPr>
              <a:t>To </a:t>
            </a:r>
            <a:r>
              <a:rPr lang="en-US" sz="1900" b="1">
                <a:latin typeface="Times New Roman"/>
                <a:ea typeface="Times New Roman"/>
                <a:cs typeface="Times New Roman"/>
                <a:sym typeface="Times New Roman"/>
              </a:rPr>
              <a:t>Evaluate the performance</a:t>
            </a:r>
            <a:r>
              <a:rPr lang="en-US" sz="1900">
                <a:latin typeface="Times New Roman"/>
                <a:ea typeface="Times New Roman"/>
                <a:cs typeface="Times New Roman"/>
                <a:sym typeface="Times New Roman"/>
              </a:rPr>
              <a:t> of the proposed model by comparing it with traditional energy forecasting techniques in terms of accuracy and efficiency.</a:t>
            </a:r>
            <a:endParaRPr sz="1900">
              <a:latin typeface="Times New Roman"/>
              <a:ea typeface="Times New Roman"/>
              <a:cs typeface="Times New Roman"/>
              <a:sym typeface="Times New Roman"/>
            </a:endParaRPr>
          </a:p>
          <a:p>
            <a:pPr marL="0" lvl="0" indent="0" algn="l" rtl="0">
              <a:spcBef>
                <a:spcPts val="0"/>
              </a:spcBef>
              <a:spcAft>
                <a:spcPts val="0"/>
              </a:spcAft>
              <a:buNone/>
            </a:pPr>
            <a:endParaRPr sz="1900">
              <a:latin typeface="Times New Roman"/>
              <a:ea typeface="Times New Roman"/>
              <a:cs typeface="Times New Roman"/>
              <a:sym typeface="Times New Roman"/>
            </a:endParaRPr>
          </a:p>
          <a:p>
            <a:pPr marL="0" lvl="0" indent="0" algn="l" rtl="0">
              <a:spcBef>
                <a:spcPts val="0"/>
              </a:spcBef>
              <a:spcAft>
                <a:spcPts val="0"/>
              </a:spcAft>
              <a:buNone/>
            </a:pPr>
            <a:r>
              <a:rPr lang="en-US" sz="1900" b="1">
                <a:solidFill>
                  <a:schemeClr val="dk1"/>
                </a:solidFill>
                <a:latin typeface="Times New Roman"/>
                <a:ea typeface="Times New Roman"/>
                <a:cs typeface="Times New Roman"/>
                <a:sym typeface="Times New Roman"/>
              </a:rPr>
              <a:t>To </a:t>
            </a:r>
            <a:r>
              <a:rPr lang="en-US" sz="1900" b="1">
                <a:latin typeface="Times New Roman"/>
                <a:ea typeface="Times New Roman"/>
                <a:cs typeface="Times New Roman"/>
                <a:sym typeface="Times New Roman"/>
              </a:rPr>
              <a:t>Identify key factors</a:t>
            </a:r>
            <a:r>
              <a:rPr lang="en-US" sz="1900">
                <a:latin typeface="Times New Roman"/>
                <a:ea typeface="Times New Roman"/>
                <a:cs typeface="Times New Roman"/>
                <a:sym typeface="Times New Roman"/>
              </a:rPr>
              <a:t> influencing global energy consumption patterns and integrate them into the predictive framework.</a:t>
            </a:r>
            <a:endParaRPr sz="1900">
              <a:latin typeface="Times New Roman"/>
              <a:ea typeface="Times New Roman"/>
              <a:cs typeface="Times New Roman"/>
              <a:sym typeface="Times New Roman"/>
            </a:endParaRPr>
          </a:p>
          <a:p>
            <a:pPr marL="0" lvl="0" indent="0" algn="l" rtl="0">
              <a:spcBef>
                <a:spcPts val="0"/>
              </a:spcBef>
              <a:spcAft>
                <a:spcPts val="0"/>
              </a:spcAft>
              <a:buNone/>
            </a:pPr>
            <a:endParaRPr sz="1900">
              <a:latin typeface="Times New Roman"/>
              <a:ea typeface="Times New Roman"/>
              <a:cs typeface="Times New Roman"/>
              <a:sym typeface="Times New Roman"/>
            </a:endParaRPr>
          </a:p>
          <a:p>
            <a:pPr marL="0" lvl="0" indent="0" algn="l" rtl="0">
              <a:spcBef>
                <a:spcPts val="0"/>
              </a:spcBef>
              <a:spcAft>
                <a:spcPts val="0"/>
              </a:spcAft>
              <a:buNone/>
            </a:pPr>
            <a:r>
              <a:rPr lang="en-US" sz="1900" b="1">
                <a:solidFill>
                  <a:schemeClr val="dk1"/>
                </a:solidFill>
                <a:latin typeface="Times New Roman"/>
                <a:ea typeface="Times New Roman"/>
                <a:cs typeface="Times New Roman"/>
                <a:sym typeface="Times New Roman"/>
              </a:rPr>
              <a:t>To </a:t>
            </a:r>
            <a:r>
              <a:rPr lang="en-US" sz="1900" b="1">
                <a:latin typeface="Times New Roman"/>
                <a:ea typeface="Times New Roman"/>
                <a:cs typeface="Times New Roman"/>
                <a:sym typeface="Times New Roman"/>
              </a:rPr>
              <a:t>Provide actionable insights</a:t>
            </a:r>
            <a:r>
              <a:rPr lang="en-US" sz="1900">
                <a:latin typeface="Times New Roman"/>
                <a:ea typeface="Times New Roman"/>
                <a:cs typeface="Times New Roman"/>
                <a:sym typeface="Times New Roman"/>
              </a:rPr>
              <a:t> for energy policymakers and businesses to better manage energy resources and anticipate future demand.</a:t>
            </a:r>
            <a:endParaRPr sz="1900">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pic>
        <p:nvPicPr>
          <p:cNvPr id="4" name="Picture 3">
            <a:extLst>
              <a:ext uri="{FF2B5EF4-FFF2-40B4-BE49-F238E27FC236}">
                <a16:creationId xmlns:a16="http://schemas.microsoft.com/office/drawing/2014/main" id="{495C9AD8-C9DC-4061-9845-21B665B34C1F}"/>
              </a:ext>
            </a:extLst>
          </p:cNvPr>
          <p:cNvPicPr>
            <a:picLocks noChangeAspect="1"/>
          </p:cNvPicPr>
          <p:nvPr/>
        </p:nvPicPr>
        <p:blipFill>
          <a:blip r:embed="rId3"/>
          <a:stretch>
            <a:fillRect/>
          </a:stretch>
        </p:blipFill>
        <p:spPr>
          <a:xfrm>
            <a:off x="0" y="343"/>
            <a:ext cx="9144000" cy="5142814"/>
          </a:xfrm>
          <a:prstGeom prst="rect">
            <a:avLst/>
          </a:prstGeom>
        </p:spPr>
      </p:pic>
      <p:sp>
        <p:nvSpPr>
          <p:cNvPr id="126" name="Google Shape;126;p19"/>
          <p:cNvSpPr txBox="1"/>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a:solidFill>
                  <a:srgbClr val="595959"/>
                </a:solidFill>
                <a:latin typeface="Arial"/>
                <a:ea typeface="Arial"/>
                <a:cs typeface="Arial"/>
                <a:sym typeface="Arial"/>
              </a:rPr>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pic>
        <p:nvPicPr>
          <p:cNvPr id="131" name="Google Shape;131;p20"/>
          <p:cNvPicPr preferRelativeResize="0"/>
          <p:nvPr/>
        </p:nvPicPr>
        <p:blipFill>
          <a:blip r:embed="rId3">
            <a:alphaModFix/>
          </a:blip>
          <a:stretch>
            <a:fillRect/>
          </a:stretch>
        </p:blipFill>
        <p:spPr>
          <a:xfrm>
            <a:off x="-24800" y="-35050"/>
            <a:ext cx="9193575" cy="5205749"/>
          </a:xfrm>
          <a:prstGeom prst="rect">
            <a:avLst/>
          </a:prstGeom>
          <a:noFill/>
          <a:ln>
            <a:noFill/>
          </a:ln>
        </p:spPr>
      </p:pic>
      <p:sp>
        <p:nvSpPr>
          <p:cNvPr id="132" name="Google Shape;132;p20"/>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a:solidFill>
                  <a:srgbClr val="595959"/>
                </a:solidFill>
                <a:latin typeface="Arial"/>
                <a:ea typeface="Arial"/>
                <a:cs typeface="Arial"/>
                <a:sym typeface="Arial"/>
              </a:rPr>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pic>
        <p:nvPicPr>
          <p:cNvPr id="5" name="Picture 4">
            <a:extLst>
              <a:ext uri="{FF2B5EF4-FFF2-40B4-BE49-F238E27FC236}">
                <a16:creationId xmlns:a16="http://schemas.microsoft.com/office/drawing/2014/main" id="{C0C59DE2-342A-404F-6CA7-96383575D3E3}"/>
              </a:ext>
            </a:extLst>
          </p:cNvPr>
          <p:cNvPicPr>
            <a:picLocks noChangeAspect="1"/>
          </p:cNvPicPr>
          <p:nvPr/>
        </p:nvPicPr>
        <p:blipFill>
          <a:blip r:embed="rId3"/>
          <a:stretch>
            <a:fillRect/>
          </a:stretch>
        </p:blipFill>
        <p:spPr>
          <a:xfrm>
            <a:off x="83671" y="0"/>
            <a:ext cx="8976658" cy="5143500"/>
          </a:xfrm>
          <a:prstGeom prst="rect">
            <a:avLst/>
          </a:prstGeom>
        </p:spPr>
      </p:pic>
      <p:sp>
        <p:nvSpPr>
          <p:cNvPr id="138" name="Google Shape;138;p21"/>
          <p:cNvSpPr txBox="1"/>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a:solidFill>
                  <a:srgbClr val="595959"/>
                </a:solidFill>
                <a:latin typeface="Arial"/>
                <a:ea typeface="Arial"/>
                <a:cs typeface="Arial"/>
                <a:sym typeface="Arial"/>
              </a:rPr>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2"/>
          <p:cNvSpPr txBox="1">
            <a:spLocks noGrp="1"/>
          </p:cNvSpPr>
          <p:nvPr>
            <p:ph type="ctrTitle"/>
          </p:nvPr>
        </p:nvSpPr>
        <p:spPr>
          <a:xfrm>
            <a:off x="0" y="-68200"/>
            <a:ext cx="9144000" cy="6492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5200"/>
              <a:buNone/>
            </a:pPr>
            <a:r>
              <a:rPr lang="en-US" sz="2900" b="1" i="0" u="none">
                <a:solidFill>
                  <a:srgbClr val="000000"/>
                </a:solidFill>
                <a:latin typeface="Times New Roman"/>
                <a:ea typeface="Times New Roman"/>
                <a:cs typeface="Times New Roman"/>
                <a:sym typeface="Times New Roman"/>
              </a:rPr>
              <a:t>Software and Hardware Requirements</a:t>
            </a:r>
            <a:endParaRPr/>
          </a:p>
        </p:txBody>
      </p:sp>
      <p:sp>
        <p:nvSpPr>
          <p:cNvPr id="144" name="Google Shape;144;p22"/>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a:solidFill>
                  <a:srgbClr val="595959"/>
                </a:solidFill>
                <a:latin typeface="Arial"/>
                <a:ea typeface="Arial"/>
                <a:cs typeface="Arial"/>
                <a:sym typeface="Arial"/>
              </a:rPr>
              <a:t>18</a:t>
            </a:fld>
            <a:endParaRPr/>
          </a:p>
        </p:txBody>
      </p:sp>
      <p:graphicFrame>
        <p:nvGraphicFramePr>
          <p:cNvPr id="145" name="Google Shape;145;p22"/>
          <p:cNvGraphicFramePr/>
          <p:nvPr>
            <p:extLst>
              <p:ext uri="{D42A27DB-BD31-4B8C-83A1-F6EECF244321}">
                <p14:modId xmlns:p14="http://schemas.microsoft.com/office/powerpoint/2010/main" val="1949943787"/>
              </p:ext>
            </p:extLst>
          </p:nvPr>
        </p:nvGraphicFramePr>
        <p:xfrm>
          <a:off x="358325" y="581012"/>
          <a:ext cx="8427350" cy="4349610"/>
        </p:xfrm>
        <a:graphic>
          <a:graphicData uri="http://schemas.openxmlformats.org/drawingml/2006/table">
            <a:tbl>
              <a:tblPr>
                <a:noFill/>
                <a:tableStyleId>{0EB5F669-19A5-4A0C-AAF8-9CA3CEDFA596}</a:tableStyleId>
              </a:tblPr>
              <a:tblGrid>
                <a:gridCol w="4298075">
                  <a:extLst>
                    <a:ext uri="{9D8B030D-6E8A-4147-A177-3AD203B41FA5}">
                      <a16:colId xmlns:a16="http://schemas.microsoft.com/office/drawing/2014/main" val="20000"/>
                    </a:ext>
                  </a:extLst>
                </a:gridCol>
                <a:gridCol w="4129275">
                  <a:extLst>
                    <a:ext uri="{9D8B030D-6E8A-4147-A177-3AD203B41FA5}">
                      <a16:colId xmlns:a16="http://schemas.microsoft.com/office/drawing/2014/main" val="20001"/>
                    </a:ext>
                  </a:extLst>
                </a:gridCol>
              </a:tblGrid>
              <a:tr h="364775">
                <a:tc>
                  <a:txBody>
                    <a:bodyPr/>
                    <a:lstStyle/>
                    <a:p>
                      <a:pPr marL="0" marR="0" lvl="0" indent="0" algn="ctr" rtl="0">
                        <a:lnSpc>
                          <a:spcPct val="100000"/>
                        </a:lnSpc>
                        <a:spcBef>
                          <a:spcPts val="0"/>
                        </a:spcBef>
                        <a:spcAft>
                          <a:spcPts val="0"/>
                        </a:spcAft>
                        <a:buClr>
                          <a:srgbClr val="000000"/>
                        </a:buClr>
                        <a:buSzPts val="1400"/>
                        <a:buFont typeface="Arial"/>
                        <a:buNone/>
                      </a:pPr>
                      <a:r>
                        <a:rPr lang="en-US" sz="1900" b="1" i="0" u="none" strike="noStrike" cap="none">
                          <a:solidFill>
                            <a:schemeClr val="lt1"/>
                          </a:solidFill>
                          <a:latin typeface="Times New Roman"/>
                          <a:ea typeface="Times New Roman"/>
                          <a:cs typeface="Times New Roman"/>
                          <a:sym typeface="Times New Roman"/>
                        </a:rPr>
                        <a:t>SOFTWARE</a:t>
                      </a:r>
                      <a:endParaRPr sz="1900">
                        <a:solidFill>
                          <a:schemeClr val="lt1"/>
                        </a:solidFil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900" b="1" i="0" u="none" strike="noStrike" cap="none">
                          <a:solidFill>
                            <a:schemeClr val="lt1"/>
                          </a:solidFill>
                          <a:latin typeface="Times New Roman"/>
                          <a:ea typeface="Times New Roman"/>
                          <a:cs typeface="Times New Roman"/>
                          <a:sym typeface="Times New Roman"/>
                        </a:rPr>
                        <a:t>HARDWARE</a:t>
                      </a:r>
                      <a:endParaRPr sz="1900">
                        <a:solidFill>
                          <a:schemeClr val="lt1"/>
                        </a:solidFil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3968600">
                <a:tc>
                  <a:txBody>
                    <a:bodyPr/>
                    <a:lstStyle/>
                    <a:p>
                      <a:pPr marL="0" lvl="0" indent="0" algn="l" rtl="0">
                        <a:spcBef>
                          <a:spcPts val="0"/>
                        </a:spcBef>
                        <a:spcAft>
                          <a:spcPts val="0"/>
                        </a:spcAft>
                        <a:buClr>
                          <a:schemeClr val="dk1"/>
                        </a:buClr>
                        <a:buSzPts val="1100"/>
                        <a:buFont typeface="Arial"/>
                        <a:buNone/>
                      </a:pPr>
                      <a:r>
                        <a:rPr lang="en-US" sz="1900" b="1" dirty="0">
                          <a:solidFill>
                            <a:schemeClr val="dk1"/>
                          </a:solidFill>
                          <a:latin typeface="Times New Roman"/>
                          <a:ea typeface="Times New Roman"/>
                          <a:cs typeface="Times New Roman"/>
                          <a:sym typeface="Times New Roman"/>
                        </a:rPr>
                        <a:t>Operating System</a:t>
                      </a:r>
                      <a:r>
                        <a:rPr lang="en-US" sz="1900" dirty="0">
                          <a:solidFill>
                            <a:schemeClr val="dk1"/>
                          </a:solidFill>
                          <a:latin typeface="Times New Roman"/>
                          <a:ea typeface="Times New Roman"/>
                          <a:cs typeface="Times New Roman"/>
                          <a:sym typeface="Times New Roman"/>
                        </a:rPr>
                        <a:t>: Windows 10/11, macOS, or Linux (Ubuntu preferred)</a:t>
                      </a:r>
                      <a:endParaRPr sz="19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1900" b="1" dirty="0">
                          <a:solidFill>
                            <a:schemeClr val="dk1"/>
                          </a:solidFill>
                          <a:latin typeface="Times New Roman"/>
                          <a:ea typeface="Times New Roman"/>
                          <a:cs typeface="Times New Roman"/>
                          <a:sym typeface="Times New Roman"/>
                        </a:rPr>
                        <a:t>Programming Languages</a:t>
                      </a:r>
                      <a:r>
                        <a:rPr lang="en-US" sz="1900" dirty="0">
                          <a:solidFill>
                            <a:schemeClr val="dk1"/>
                          </a:solidFill>
                          <a:latin typeface="Times New Roman"/>
                          <a:ea typeface="Times New Roman"/>
                          <a:cs typeface="Times New Roman"/>
                          <a:sym typeface="Times New Roman"/>
                        </a:rPr>
                        <a:t>: Python (preferred), R (optional for statistical modeling)</a:t>
                      </a:r>
                      <a:endParaRPr sz="19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SzPts val="1100"/>
                        <a:buNone/>
                      </a:pPr>
                      <a:r>
                        <a:rPr lang="en-US" sz="1900" b="1" dirty="0">
                          <a:solidFill>
                            <a:schemeClr val="dk1"/>
                          </a:solidFill>
                          <a:latin typeface="Times New Roman"/>
                          <a:ea typeface="Times New Roman"/>
                          <a:cs typeface="Times New Roman"/>
                          <a:sym typeface="Times New Roman"/>
                        </a:rPr>
                        <a:t>Libraries &amp; Frameworks</a:t>
                      </a:r>
                      <a:r>
                        <a:rPr lang="en-US" sz="1900" dirty="0">
                          <a:solidFill>
                            <a:schemeClr val="dk1"/>
                          </a:solidFill>
                          <a:latin typeface="Times New Roman"/>
                          <a:ea typeface="Times New Roman"/>
                          <a:cs typeface="Times New Roman"/>
                          <a:sym typeface="Times New Roman"/>
                        </a:rPr>
                        <a:t>:</a:t>
                      </a:r>
                      <a:endParaRPr sz="19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SzPts val="1100"/>
                        <a:buNone/>
                      </a:pPr>
                      <a:r>
                        <a:rPr lang="en-US" sz="1900" dirty="0">
                          <a:solidFill>
                            <a:schemeClr val="dk1"/>
                          </a:solidFill>
                          <a:latin typeface="Times New Roman"/>
                          <a:ea typeface="Times New Roman"/>
                          <a:cs typeface="Times New Roman"/>
                          <a:sym typeface="Times New Roman"/>
                        </a:rPr>
                        <a:t>Time Series Analysis: </a:t>
                      </a:r>
                      <a:r>
                        <a:rPr lang="en-US" sz="1900" dirty="0" err="1">
                          <a:solidFill>
                            <a:schemeClr val="dk1"/>
                          </a:solidFill>
                          <a:latin typeface="Times New Roman"/>
                          <a:ea typeface="Times New Roman"/>
                          <a:cs typeface="Times New Roman"/>
                          <a:sym typeface="Times New Roman"/>
                        </a:rPr>
                        <a:t>statsmodels</a:t>
                      </a:r>
                      <a:r>
                        <a:rPr lang="en-US" sz="1900" dirty="0">
                          <a:solidFill>
                            <a:schemeClr val="dk1"/>
                          </a:solidFill>
                          <a:latin typeface="Times New Roman"/>
                          <a:ea typeface="Times New Roman"/>
                          <a:cs typeface="Times New Roman"/>
                          <a:sym typeface="Times New Roman"/>
                        </a:rPr>
                        <a:t>, prophet (LSTM)</a:t>
                      </a:r>
                      <a:endParaRPr sz="19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SzPts val="1100"/>
                        <a:buNone/>
                      </a:pPr>
                      <a:r>
                        <a:rPr lang="en-US" sz="1900" dirty="0">
                          <a:solidFill>
                            <a:schemeClr val="dk1"/>
                          </a:solidFill>
                          <a:latin typeface="Times New Roman"/>
                          <a:ea typeface="Times New Roman"/>
                          <a:cs typeface="Times New Roman"/>
                          <a:sym typeface="Times New Roman"/>
                        </a:rPr>
                        <a:t>Machine Learning: </a:t>
                      </a:r>
                      <a:r>
                        <a:rPr lang="en-US" sz="1900" dirty="0" err="1">
                          <a:solidFill>
                            <a:schemeClr val="dk1"/>
                          </a:solidFill>
                          <a:latin typeface="Times New Roman"/>
                          <a:ea typeface="Times New Roman"/>
                          <a:cs typeface="Times New Roman"/>
                          <a:sym typeface="Times New Roman"/>
                        </a:rPr>
                        <a:t>tensorflow</a:t>
                      </a:r>
                      <a:r>
                        <a:rPr lang="en-US" sz="1900" dirty="0">
                          <a:solidFill>
                            <a:schemeClr val="dk1"/>
                          </a:solidFill>
                          <a:latin typeface="Times New Roman"/>
                          <a:ea typeface="Times New Roman"/>
                          <a:cs typeface="Times New Roman"/>
                          <a:sym typeface="Times New Roman"/>
                        </a:rPr>
                        <a:t>, torch</a:t>
                      </a:r>
                      <a:endParaRPr sz="19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SzPts val="1100"/>
                        <a:buNone/>
                      </a:pPr>
                      <a:r>
                        <a:rPr lang="en-US" sz="1900" dirty="0">
                          <a:solidFill>
                            <a:schemeClr val="dk1"/>
                          </a:solidFill>
                          <a:latin typeface="Times New Roman"/>
                          <a:ea typeface="Times New Roman"/>
                          <a:cs typeface="Times New Roman"/>
                          <a:sym typeface="Times New Roman"/>
                        </a:rPr>
                        <a:t>Data Processing: pandas, </a:t>
                      </a:r>
                      <a:r>
                        <a:rPr lang="en-US" sz="1900" dirty="0" err="1">
                          <a:solidFill>
                            <a:schemeClr val="dk1"/>
                          </a:solidFill>
                          <a:latin typeface="Times New Roman"/>
                          <a:ea typeface="Times New Roman"/>
                          <a:cs typeface="Times New Roman"/>
                          <a:sym typeface="Times New Roman"/>
                        </a:rPr>
                        <a:t>numpy</a:t>
                      </a:r>
                      <a:r>
                        <a:rPr lang="en-US" sz="1900" dirty="0">
                          <a:solidFill>
                            <a:schemeClr val="dk1"/>
                          </a:solidFill>
                          <a:latin typeface="Times New Roman"/>
                          <a:ea typeface="Times New Roman"/>
                          <a:cs typeface="Times New Roman"/>
                          <a:sym typeface="Times New Roman"/>
                        </a:rPr>
                        <a:t>, matplotlib</a:t>
                      </a:r>
                      <a:endParaRPr sz="19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SzPts val="1100"/>
                        <a:buNone/>
                      </a:pPr>
                      <a:r>
                        <a:rPr lang="en-US" sz="1900" dirty="0">
                          <a:solidFill>
                            <a:schemeClr val="dk1"/>
                          </a:solidFill>
                          <a:latin typeface="Times New Roman"/>
                          <a:ea typeface="Times New Roman"/>
                          <a:cs typeface="Times New Roman"/>
                          <a:sym typeface="Times New Roman"/>
                        </a:rPr>
                        <a:t>LLM Fine-Tuning &amp; Inference: transformers, </a:t>
                      </a:r>
                      <a:r>
                        <a:rPr lang="en-US" sz="1900" dirty="0" err="1">
                          <a:solidFill>
                            <a:schemeClr val="dk1"/>
                          </a:solidFill>
                          <a:latin typeface="Times New Roman"/>
                          <a:ea typeface="Times New Roman"/>
                          <a:cs typeface="Times New Roman"/>
                          <a:sym typeface="Times New Roman"/>
                        </a:rPr>
                        <a:t>bitsAndBytes</a:t>
                      </a:r>
                      <a:r>
                        <a:rPr lang="en-US" sz="1900" dirty="0">
                          <a:solidFill>
                            <a:schemeClr val="dk1"/>
                          </a:solidFill>
                          <a:latin typeface="Times New Roman"/>
                          <a:ea typeface="Times New Roman"/>
                          <a:cs typeface="Times New Roman"/>
                          <a:sym typeface="Times New Roman"/>
                        </a:rPr>
                        <a:t>, accelerate</a:t>
                      </a:r>
                      <a:endParaRPr sz="1900" dirty="0">
                        <a:solidFill>
                          <a:schemeClr val="dk1"/>
                        </a:solidFill>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lvl="0" indent="0" algn="l" rtl="0">
                        <a:spcBef>
                          <a:spcPts val="0"/>
                        </a:spcBef>
                        <a:spcAft>
                          <a:spcPts val="0"/>
                        </a:spcAft>
                        <a:buClr>
                          <a:schemeClr val="dk1"/>
                        </a:buClr>
                        <a:buSzPts val="1100"/>
                        <a:buFont typeface="Arial"/>
                        <a:buNone/>
                      </a:pPr>
                      <a:r>
                        <a:rPr lang="en-US" sz="1900" b="1" dirty="0">
                          <a:solidFill>
                            <a:schemeClr val="dk1"/>
                          </a:solidFill>
                          <a:latin typeface="Times New Roman"/>
                          <a:ea typeface="Times New Roman"/>
                          <a:cs typeface="Times New Roman"/>
                          <a:sym typeface="Times New Roman"/>
                        </a:rPr>
                        <a:t>CPU</a:t>
                      </a:r>
                      <a:r>
                        <a:rPr lang="en-US" sz="1900" dirty="0">
                          <a:solidFill>
                            <a:schemeClr val="dk1"/>
                          </a:solidFill>
                          <a:latin typeface="Times New Roman"/>
                          <a:ea typeface="Times New Roman"/>
                          <a:cs typeface="Times New Roman"/>
                          <a:sym typeface="Times New Roman"/>
                        </a:rPr>
                        <a:t>: Intel Core i7/i9 (12th Gen or later) or AMD Ryzen 7/9 (5000 series or later)</a:t>
                      </a:r>
                      <a:endParaRPr sz="19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1900" b="1" dirty="0">
                          <a:solidFill>
                            <a:schemeClr val="dk1"/>
                          </a:solidFill>
                          <a:latin typeface="Times New Roman"/>
                          <a:ea typeface="Times New Roman"/>
                          <a:cs typeface="Times New Roman"/>
                          <a:sym typeface="Times New Roman"/>
                        </a:rPr>
                        <a:t>RAM</a:t>
                      </a:r>
                      <a:r>
                        <a:rPr lang="en-US" sz="1900" dirty="0">
                          <a:solidFill>
                            <a:schemeClr val="dk1"/>
                          </a:solidFill>
                          <a:latin typeface="Times New Roman"/>
                          <a:ea typeface="Times New Roman"/>
                          <a:cs typeface="Times New Roman"/>
                          <a:sym typeface="Times New Roman"/>
                        </a:rPr>
                        <a:t>: Minimum 16GB</a:t>
                      </a:r>
                      <a:endParaRPr sz="19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SzPts val="1100"/>
                        <a:buNone/>
                      </a:pPr>
                      <a:r>
                        <a:rPr lang="en-US" sz="1900" b="1" dirty="0">
                          <a:solidFill>
                            <a:schemeClr val="dk1"/>
                          </a:solidFill>
                          <a:latin typeface="Times New Roman"/>
                          <a:ea typeface="Times New Roman"/>
                          <a:cs typeface="Times New Roman"/>
                          <a:sym typeface="Times New Roman"/>
                        </a:rPr>
                        <a:t>GPU</a:t>
                      </a:r>
                      <a:r>
                        <a:rPr lang="en-US" sz="1900" dirty="0">
                          <a:solidFill>
                            <a:schemeClr val="dk1"/>
                          </a:solidFill>
                          <a:latin typeface="Times New Roman"/>
                          <a:ea typeface="Times New Roman"/>
                          <a:cs typeface="Times New Roman"/>
                          <a:sym typeface="Times New Roman"/>
                        </a:rPr>
                        <a:t>: NVIDIA RTX 3090/4090, T4 GPU (for fine-tuning LLMs)</a:t>
                      </a:r>
                      <a:endParaRPr sz="19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1900" b="1" dirty="0">
                          <a:solidFill>
                            <a:schemeClr val="dk1"/>
                          </a:solidFill>
                          <a:latin typeface="Times New Roman"/>
                          <a:ea typeface="Times New Roman"/>
                          <a:cs typeface="Times New Roman"/>
                          <a:sym typeface="Times New Roman"/>
                        </a:rPr>
                        <a:t>Cloud GPU Access</a:t>
                      </a:r>
                      <a:r>
                        <a:rPr lang="en-US" sz="1900" dirty="0">
                          <a:solidFill>
                            <a:schemeClr val="dk1"/>
                          </a:solidFill>
                          <a:latin typeface="Times New Roman"/>
                          <a:ea typeface="Times New Roman"/>
                          <a:cs typeface="Times New Roman"/>
                          <a:sym typeface="Times New Roman"/>
                        </a:rPr>
                        <a:t>: Google </a:t>
                      </a:r>
                      <a:r>
                        <a:rPr lang="en-US" sz="1900" dirty="0" err="1">
                          <a:solidFill>
                            <a:schemeClr val="dk1"/>
                          </a:solidFill>
                          <a:latin typeface="Times New Roman"/>
                          <a:ea typeface="Times New Roman"/>
                          <a:cs typeface="Times New Roman"/>
                          <a:sym typeface="Times New Roman"/>
                        </a:rPr>
                        <a:t>Colab</a:t>
                      </a:r>
                      <a:r>
                        <a:rPr lang="en-US" sz="1900" dirty="0">
                          <a:solidFill>
                            <a:schemeClr val="dk1"/>
                          </a:solidFill>
                          <a:latin typeface="Times New Roman"/>
                          <a:ea typeface="Times New Roman"/>
                          <a:cs typeface="Times New Roman"/>
                          <a:sym typeface="Times New Roman"/>
                        </a:rPr>
                        <a:t>, Kaggle</a:t>
                      </a:r>
                      <a:endParaRPr sz="19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1900" b="1" dirty="0">
                          <a:solidFill>
                            <a:schemeClr val="dk1"/>
                          </a:solidFill>
                          <a:latin typeface="Times New Roman"/>
                          <a:ea typeface="Times New Roman"/>
                          <a:cs typeface="Times New Roman"/>
                          <a:sym typeface="Times New Roman"/>
                        </a:rPr>
                        <a:t>Storage</a:t>
                      </a:r>
                      <a:r>
                        <a:rPr lang="en-US" sz="1900" dirty="0">
                          <a:solidFill>
                            <a:schemeClr val="dk1"/>
                          </a:solidFill>
                          <a:latin typeface="Times New Roman"/>
                          <a:ea typeface="Times New Roman"/>
                          <a:cs typeface="Times New Roman"/>
                          <a:sym typeface="Times New Roman"/>
                        </a:rPr>
                        <a:t>: SSD (Minimum 1TB)</a:t>
                      </a:r>
                      <a:endParaRPr sz="19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1900" b="1" dirty="0">
                          <a:solidFill>
                            <a:schemeClr val="dk1"/>
                          </a:solidFill>
                          <a:latin typeface="Times New Roman"/>
                          <a:ea typeface="Times New Roman"/>
                          <a:cs typeface="Times New Roman"/>
                          <a:sym typeface="Times New Roman"/>
                        </a:rPr>
                        <a:t>Network</a:t>
                      </a:r>
                      <a:r>
                        <a:rPr lang="en-US" sz="1900" dirty="0">
                          <a:solidFill>
                            <a:schemeClr val="dk1"/>
                          </a:solidFill>
                          <a:latin typeface="Times New Roman"/>
                          <a:ea typeface="Times New Roman"/>
                          <a:cs typeface="Times New Roman"/>
                          <a:sym typeface="Times New Roman"/>
                        </a:rPr>
                        <a:t>: High-speed internet (for cloud-based LLM training &amp; data fetching)</a:t>
                      </a:r>
                      <a:endParaRPr sz="1900"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1900" dirty="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3"/>
          <p:cNvSpPr txBox="1">
            <a:spLocks noGrp="1"/>
          </p:cNvSpPr>
          <p:nvPr>
            <p:ph type="body" idx="1"/>
          </p:nvPr>
        </p:nvSpPr>
        <p:spPr>
          <a:xfrm>
            <a:off x="230175" y="559600"/>
            <a:ext cx="8697900" cy="4322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US" sz="1900"/>
              <a:t>1. Coal Consumption Dataset</a:t>
            </a:r>
            <a:endParaRPr sz="1900"/>
          </a:p>
          <a:p>
            <a:pPr marL="0" lvl="0" indent="0" algn="l" rtl="0">
              <a:lnSpc>
                <a:spcPct val="100000"/>
              </a:lnSpc>
              <a:spcBef>
                <a:spcPts val="0"/>
              </a:spcBef>
              <a:spcAft>
                <a:spcPts val="0"/>
              </a:spcAft>
              <a:buNone/>
            </a:pPr>
            <a:r>
              <a:rPr lang="en-US" sz="1900"/>
              <a:t>   </a:t>
            </a:r>
            <a:r>
              <a:rPr lang="en-US" sz="1900" u="sng">
                <a:solidFill>
                  <a:srgbClr val="00B0F0"/>
                </a:solidFill>
                <a:hlinkClick r:id="rId3">
                  <a:extLst>
                    <a:ext uri="{A12FA001-AC4F-418D-AE19-62706E023703}">
                      <ahyp:hlinkClr xmlns:ahyp="http://schemas.microsoft.com/office/drawing/2018/hyperlinkcolor" val="tx"/>
                    </a:ext>
                  </a:extLst>
                </a:hlinkClick>
              </a:rPr>
              <a:t>https://ourworldindata.org/grapher/coal-consumption-by-country-terawatt-hours-twh</a:t>
            </a:r>
            <a:endParaRPr sz="1900">
              <a:solidFill>
                <a:srgbClr val="00B0F0"/>
              </a:solidFill>
            </a:endParaRPr>
          </a:p>
          <a:p>
            <a:pPr marL="0" lvl="0" indent="0" algn="l" rtl="0">
              <a:lnSpc>
                <a:spcPct val="100000"/>
              </a:lnSpc>
              <a:spcBef>
                <a:spcPts val="0"/>
              </a:spcBef>
              <a:spcAft>
                <a:spcPts val="0"/>
              </a:spcAft>
              <a:buNone/>
            </a:pPr>
            <a:r>
              <a:rPr lang="en-US" sz="1900">
                <a:solidFill>
                  <a:schemeClr val="dk1"/>
                </a:solidFill>
              </a:rPr>
              <a:t>2. Natural Gas Consumption Dataset</a:t>
            </a:r>
            <a:r>
              <a:rPr lang="en-US" sz="1900">
                <a:solidFill>
                  <a:srgbClr val="00B0F0"/>
                </a:solidFill>
              </a:rPr>
              <a:t>	</a:t>
            </a:r>
            <a:endParaRPr sz="1900">
              <a:solidFill>
                <a:srgbClr val="00B0F0"/>
              </a:solidFill>
            </a:endParaRPr>
          </a:p>
          <a:p>
            <a:pPr marL="0" lvl="0" indent="0" algn="l" rtl="0">
              <a:lnSpc>
                <a:spcPct val="100000"/>
              </a:lnSpc>
              <a:spcBef>
                <a:spcPts val="0"/>
              </a:spcBef>
              <a:spcAft>
                <a:spcPts val="0"/>
              </a:spcAft>
              <a:buNone/>
            </a:pPr>
            <a:r>
              <a:rPr lang="en-US" sz="1900">
                <a:solidFill>
                  <a:srgbClr val="00B0F0"/>
                </a:solidFill>
              </a:rPr>
              <a:t>   </a:t>
            </a:r>
            <a:r>
              <a:rPr lang="en-US" sz="1900" u="sng">
                <a:solidFill>
                  <a:srgbClr val="00B0F0"/>
                </a:solidFill>
                <a:hlinkClick r:id="rId4">
                  <a:extLst>
                    <a:ext uri="{A12FA001-AC4F-418D-AE19-62706E023703}">
                      <ahyp:hlinkClr xmlns:ahyp="http://schemas.microsoft.com/office/drawing/2018/hyperlinkcolor" val="tx"/>
                    </a:ext>
                  </a:extLst>
                </a:hlinkClick>
              </a:rPr>
              <a:t>https://ourworldindata.org/grapher/natural-gas-consumption-by-region</a:t>
            </a:r>
            <a:endParaRPr sz="1900">
              <a:solidFill>
                <a:srgbClr val="00B0F0"/>
              </a:solidFill>
            </a:endParaRPr>
          </a:p>
          <a:p>
            <a:pPr marL="0" lvl="0" indent="0" algn="l" rtl="0">
              <a:lnSpc>
                <a:spcPct val="100000"/>
              </a:lnSpc>
              <a:spcBef>
                <a:spcPts val="0"/>
              </a:spcBef>
              <a:spcAft>
                <a:spcPts val="0"/>
              </a:spcAft>
              <a:buNone/>
            </a:pPr>
            <a:r>
              <a:rPr lang="en-US" sz="1900">
                <a:solidFill>
                  <a:schemeClr val="dk1"/>
                </a:solidFill>
              </a:rPr>
              <a:t>3. Oil Consumption Dataset</a:t>
            </a:r>
            <a:endParaRPr sz="1900">
              <a:solidFill>
                <a:schemeClr val="dk1"/>
              </a:solidFill>
            </a:endParaRPr>
          </a:p>
          <a:p>
            <a:pPr marL="0" lvl="0" indent="0" algn="l" rtl="0">
              <a:lnSpc>
                <a:spcPct val="100000"/>
              </a:lnSpc>
              <a:spcBef>
                <a:spcPts val="0"/>
              </a:spcBef>
              <a:spcAft>
                <a:spcPts val="0"/>
              </a:spcAft>
              <a:buNone/>
            </a:pPr>
            <a:r>
              <a:rPr lang="en-US" sz="1900">
                <a:solidFill>
                  <a:srgbClr val="00B0F0"/>
                </a:solidFill>
              </a:rPr>
              <a:t>   </a:t>
            </a:r>
            <a:r>
              <a:rPr lang="en-US" sz="1900" u="sng">
                <a:solidFill>
                  <a:srgbClr val="00B0F0"/>
                </a:solidFill>
                <a:hlinkClick r:id="rId5">
                  <a:extLst>
                    <a:ext uri="{A12FA001-AC4F-418D-AE19-62706E023703}">
                      <ahyp:hlinkClr xmlns:ahyp="http://schemas.microsoft.com/office/drawing/2018/hyperlinkcolor" val="tx"/>
                    </a:ext>
                  </a:extLst>
                </a:hlinkClick>
              </a:rPr>
              <a:t>https://ourworldindata.org/grapher/oil-consumption-by-country</a:t>
            </a:r>
            <a:endParaRPr sz="1900">
              <a:solidFill>
                <a:srgbClr val="00B0F0"/>
              </a:solidFill>
            </a:endParaRPr>
          </a:p>
          <a:p>
            <a:pPr marL="0" lvl="0" indent="0" algn="l" rtl="0">
              <a:lnSpc>
                <a:spcPct val="100000"/>
              </a:lnSpc>
              <a:spcBef>
                <a:spcPts val="0"/>
              </a:spcBef>
              <a:spcAft>
                <a:spcPts val="0"/>
              </a:spcAft>
              <a:buNone/>
            </a:pPr>
            <a:endParaRPr sz="1900">
              <a:solidFill>
                <a:srgbClr val="00B0F0"/>
              </a:solidFill>
            </a:endParaRPr>
          </a:p>
          <a:p>
            <a:pPr marL="0" lvl="0" indent="0" algn="l" rtl="0">
              <a:lnSpc>
                <a:spcPct val="100000"/>
              </a:lnSpc>
              <a:spcBef>
                <a:spcPts val="0"/>
              </a:spcBef>
              <a:spcAft>
                <a:spcPts val="0"/>
              </a:spcAft>
              <a:buNone/>
            </a:pPr>
            <a:r>
              <a:rPr lang="en-US" sz="1900" b="1">
                <a:solidFill>
                  <a:schemeClr val="dk1"/>
                </a:solidFill>
              </a:rPr>
              <a:t>Size of the Datasets</a:t>
            </a:r>
            <a:r>
              <a:rPr lang="en-US" sz="1900">
                <a:solidFill>
                  <a:schemeClr val="dk1"/>
                </a:solidFill>
              </a:rPr>
              <a:t>: 5522 rows Each including 73 Countries and 31 Regions.</a:t>
            </a:r>
            <a:endParaRPr sz="1900">
              <a:solidFill>
                <a:schemeClr val="dk1"/>
              </a:solidFill>
            </a:endParaRPr>
          </a:p>
          <a:p>
            <a:pPr marL="0" lvl="0" indent="0" algn="l" rtl="0">
              <a:lnSpc>
                <a:spcPct val="100000"/>
              </a:lnSpc>
              <a:spcBef>
                <a:spcPts val="0"/>
              </a:spcBef>
              <a:spcAft>
                <a:spcPts val="0"/>
              </a:spcAft>
              <a:buNone/>
            </a:pPr>
            <a:r>
              <a:rPr lang="en-US" sz="1900" b="1">
                <a:solidFill>
                  <a:schemeClr val="dk1"/>
                </a:solidFill>
              </a:rPr>
              <a:t>Attributes</a:t>
            </a:r>
            <a:r>
              <a:rPr lang="en-US" sz="1900">
                <a:solidFill>
                  <a:schemeClr val="dk1"/>
                </a:solidFill>
              </a:rPr>
              <a:t>:</a:t>
            </a:r>
            <a:endParaRPr sz="1900">
              <a:solidFill>
                <a:schemeClr val="dk1"/>
              </a:solidFill>
            </a:endParaRPr>
          </a:p>
          <a:p>
            <a:pPr marL="0" lvl="0" indent="457200" algn="l" rtl="0">
              <a:lnSpc>
                <a:spcPct val="100000"/>
              </a:lnSpc>
              <a:spcBef>
                <a:spcPts val="0"/>
              </a:spcBef>
              <a:spcAft>
                <a:spcPts val="0"/>
              </a:spcAft>
              <a:buNone/>
            </a:pPr>
            <a:r>
              <a:rPr lang="en-US" sz="1900" b="1">
                <a:solidFill>
                  <a:schemeClr val="dk1"/>
                </a:solidFill>
              </a:rPr>
              <a:t>Entity</a:t>
            </a:r>
            <a:r>
              <a:rPr lang="en-US" sz="1900">
                <a:solidFill>
                  <a:schemeClr val="dk1"/>
                </a:solidFill>
              </a:rPr>
              <a:t>: Categorical attribute (Country or Region).</a:t>
            </a:r>
            <a:endParaRPr sz="1900">
              <a:solidFill>
                <a:schemeClr val="dk1"/>
              </a:solidFill>
            </a:endParaRPr>
          </a:p>
          <a:p>
            <a:pPr marL="0" lvl="0" indent="457200" algn="l" rtl="0">
              <a:spcBef>
                <a:spcPts val="0"/>
              </a:spcBef>
              <a:spcAft>
                <a:spcPts val="0"/>
              </a:spcAft>
              <a:buClr>
                <a:schemeClr val="dk1"/>
              </a:buClr>
              <a:buSzPts val="1100"/>
              <a:buFont typeface="Arial"/>
              <a:buNone/>
            </a:pPr>
            <a:r>
              <a:rPr lang="en-US" sz="1900" b="1">
                <a:solidFill>
                  <a:schemeClr val="dk1"/>
                </a:solidFill>
              </a:rPr>
              <a:t>Year</a:t>
            </a:r>
            <a:r>
              <a:rPr lang="en-US" sz="1900">
                <a:solidFill>
                  <a:schemeClr val="dk1"/>
                </a:solidFill>
              </a:rPr>
              <a:t>: Numerical attribute (Integer, representing the year).</a:t>
            </a:r>
            <a:endParaRPr sz="1900">
              <a:solidFill>
                <a:schemeClr val="dk1"/>
              </a:solidFill>
            </a:endParaRPr>
          </a:p>
          <a:p>
            <a:pPr marL="457200" lvl="0" indent="0" algn="l" rtl="0">
              <a:spcBef>
                <a:spcPts val="0"/>
              </a:spcBef>
              <a:spcAft>
                <a:spcPts val="0"/>
              </a:spcAft>
              <a:buNone/>
            </a:pPr>
            <a:r>
              <a:rPr lang="en-US" sz="1900" b="1">
                <a:solidFill>
                  <a:schemeClr val="dk1"/>
                </a:solidFill>
              </a:rPr>
              <a:t>Consumption (TWh)</a:t>
            </a:r>
            <a:r>
              <a:rPr lang="en-US" sz="1900">
                <a:solidFill>
                  <a:schemeClr val="dk1"/>
                </a:solidFill>
              </a:rPr>
              <a:t>: Numerical attribute (Floating point, representing energy consumption in TWh).</a:t>
            </a:r>
            <a:endParaRPr sz="1900">
              <a:solidFill>
                <a:schemeClr val="dk1"/>
              </a:solidFill>
            </a:endParaRPr>
          </a:p>
          <a:p>
            <a:pPr marL="0" lvl="0" indent="0" algn="l" rtl="0">
              <a:spcBef>
                <a:spcPts val="0"/>
              </a:spcBef>
              <a:spcAft>
                <a:spcPts val="0"/>
              </a:spcAft>
              <a:buNone/>
            </a:pPr>
            <a:r>
              <a:rPr lang="en-US" sz="1900" b="1">
                <a:solidFill>
                  <a:schemeClr val="dk1"/>
                </a:solidFill>
              </a:rPr>
              <a:t>Sources</a:t>
            </a:r>
            <a:r>
              <a:rPr lang="en-US" sz="1900">
                <a:solidFill>
                  <a:schemeClr val="dk1"/>
                </a:solidFill>
              </a:rPr>
              <a:t>: Statistical Review of World Energy, Our World in Data.</a:t>
            </a:r>
            <a:endParaRPr sz="1900">
              <a:solidFill>
                <a:schemeClr val="dk1"/>
              </a:solidFill>
            </a:endParaRPr>
          </a:p>
          <a:p>
            <a:pPr marL="342900" lvl="0" indent="0" algn="l" rtl="0">
              <a:lnSpc>
                <a:spcPct val="100000"/>
              </a:lnSpc>
              <a:spcBef>
                <a:spcPts val="0"/>
              </a:spcBef>
              <a:spcAft>
                <a:spcPts val="0"/>
              </a:spcAft>
              <a:buNone/>
            </a:pPr>
            <a:endParaRPr sz="1900"/>
          </a:p>
        </p:txBody>
      </p:sp>
      <p:sp>
        <p:nvSpPr>
          <p:cNvPr id="151" name="Google Shape;151;p23"/>
          <p:cNvSpPr txBox="1">
            <a:spLocks noGrp="1"/>
          </p:cNvSpPr>
          <p:nvPr>
            <p:ph type="ctrTitle"/>
          </p:nvPr>
        </p:nvSpPr>
        <p:spPr>
          <a:xfrm>
            <a:off x="7125" y="0"/>
            <a:ext cx="9144000" cy="6492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5200"/>
              <a:buNone/>
            </a:pPr>
            <a:r>
              <a:rPr lang="en-US" sz="2900" b="1" i="0" u="none">
                <a:solidFill>
                  <a:srgbClr val="000000"/>
                </a:solidFill>
                <a:latin typeface="Times New Roman"/>
                <a:ea typeface="Times New Roman"/>
                <a:cs typeface="Times New Roman"/>
                <a:sym typeface="Times New Roman"/>
              </a:rPr>
              <a:t>Datasets Details</a:t>
            </a:r>
            <a:endParaRPr/>
          </a:p>
        </p:txBody>
      </p:sp>
      <p:sp>
        <p:nvSpPr>
          <p:cNvPr id="152" name="Google Shape;152;p23"/>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a:solidFill>
                  <a:srgbClr val="595959"/>
                </a:solidFill>
                <a:latin typeface="Arial"/>
                <a:ea typeface="Arial"/>
                <a:cs typeface="Arial"/>
                <a:sym typeface="Arial"/>
              </a:rPr>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pic>
        <p:nvPicPr>
          <p:cNvPr id="3" name="Picture 2">
            <a:extLst>
              <a:ext uri="{FF2B5EF4-FFF2-40B4-BE49-F238E27FC236}">
                <a16:creationId xmlns:a16="http://schemas.microsoft.com/office/drawing/2014/main" id="{8E753D4E-6628-980D-1902-DFD9C4916080}"/>
              </a:ext>
            </a:extLst>
          </p:cNvPr>
          <p:cNvPicPr>
            <a:picLocks noChangeAspect="1"/>
          </p:cNvPicPr>
          <p:nvPr/>
        </p:nvPicPr>
        <p:blipFill>
          <a:blip r:embed="rId3"/>
          <a:stretch>
            <a:fillRect/>
          </a:stretch>
        </p:blipFill>
        <p:spPr>
          <a:xfrm>
            <a:off x="0" y="343"/>
            <a:ext cx="9144000" cy="5142814"/>
          </a:xfrm>
          <a:prstGeom prst="rect">
            <a:avLst/>
          </a:prstGeom>
        </p:spPr>
      </p:pic>
      <p:sp>
        <p:nvSpPr>
          <p:cNvPr id="206" name="Google Shape;206;p30"/>
          <p:cNvSpPr txBox="1">
            <a:spLocks noGrp="1"/>
          </p:cNvSpPr>
          <p:nvPr>
            <p:ph type="sldNum" idx="12"/>
          </p:nvPr>
        </p:nvSpPr>
        <p:spPr>
          <a:xfrm>
            <a:off x="8472488" y="4662488"/>
            <a:ext cx="5493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US"/>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pic>
        <p:nvPicPr>
          <p:cNvPr id="9" name="Picture 8">
            <a:extLst>
              <a:ext uri="{FF2B5EF4-FFF2-40B4-BE49-F238E27FC236}">
                <a16:creationId xmlns:a16="http://schemas.microsoft.com/office/drawing/2014/main" id="{87451DD9-817F-E27F-6651-4BF89AC75C49}"/>
              </a:ext>
            </a:extLst>
          </p:cNvPr>
          <p:cNvPicPr>
            <a:picLocks noChangeAspect="1"/>
          </p:cNvPicPr>
          <p:nvPr/>
        </p:nvPicPr>
        <p:blipFill>
          <a:blip r:embed="rId3"/>
          <a:stretch>
            <a:fillRect/>
          </a:stretch>
        </p:blipFill>
        <p:spPr>
          <a:xfrm>
            <a:off x="0" y="343"/>
            <a:ext cx="9144000" cy="5142814"/>
          </a:xfrm>
          <a:prstGeom prst="rect">
            <a:avLst/>
          </a:prstGeom>
        </p:spPr>
      </p:pic>
      <p:sp>
        <p:nvSpPr>
          <p:cNvPr id="213" name="Google Shape;213;p31"/>
          <p:cNvSpPr txBox="1">
            <a:spLocks noGrp="1"/>
          </p:cNvSpPr>
          <p:nvPr>
            <p:ph type="sldNum" idx="12"/>
          </p:nvPr>
        </p:nvSpPr>
        <p:spPr>
          <a:xfrm>
            <a:off x="8472488" y="4662488"/>
            <a:ext cx="5493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US"/>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pic>
        <p:nvPicPr>
          <p:cNvPr id="3" name="Picture 2">
            <a:extLst>
              <a:ext uri="{FF2B5EF4-FFF2-40B4-BE49-F238E27FC236}">
                <a16:creationId xmlns:a16="http://schemas.microsoft.com/office/drawing/2014/main" id="{1801F6A0-4001-4CE2-1544-EFE26C8127BE}"/>
              </a:ext>
            </a:extLst>
          </p:cNvPr>
          <p:cNvPicPr>
            <a:picLocks noChangeAspect="1"/>
          </p:cNvPicPr>
          <p:nvPr/>
        </p:nvPicPr>
        <p:blipFill>
          <a:blip r:embed="rId3"/>
          <a:stretch>
            <a:fillRect/>
          </a:stretch>
        </p:blipFill>
        <p:spPr>
          <a:xfrm>
            <a:off x="0" y="343"/>
            <a:ext cx="9144000" cy="5142814"/>
          </a:xfrm>
          <a:prstGeom prst="rect">
            <a:avLst/>
          </a:prstGeom>
        </p:spPr>
      </p:pic>
      <p:sp>
        <p:nvSpPr>
          <p:cNvPr id="221" name="Google Shape;221;p32"/>
          <p:cNvSpPr txBox="1">
            <a:spLocks noGrp="1"/>
          </p:cNvSpPr>
          <p:nvPr>
            <p:ph type="sldNum" idx="12"/>
          </p:nvPr>
        </p:nvSpPr>
        <p:spPr>
          <a:xfrm>
            <a:off x="8472488" y="4662488"/>
            <a:ext cx="5493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US"/>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Google Shape;353;p10">
            <a:extLst>
              <a:ext uri="{FF2B5EF4-FFF2-40B4-BE49-F238E27FC236}">
                <a16:creationId xmlns:a16="http://schemas.microsoft.com/office/drawing/2014/main" id="{37FD1DCD-BD88-ED57-41C5-5CA1A5467341}"/>
              </a:ext>
            </a:extLst>
          </p:cNvPr>
          <p:cNvSpPr txBox="1">
            <a:spLocks noChangeArrowheads="1"/>
          </p:cNvSpPr>
          <p:nvPr/>
        </p:nvSpPr>
        <p:spPr bwMode="auto">
          <a:xfrm>
            <a:off x="0" y="0"/>
            <a:ext cx="914400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a:lnSpc>
                <a:spcPct val="120000"/>
              </a:lnSpc>
            </a:pPr>
            <a:r>
              <a:rPr lang="en-US" altLang="en-US" sz="3200" b="1" dirty="0">
                <a:latin typeface="Times New Roman" panose="02020603050405020304" pitchFamily="18" charset="0"/>
                <a:cs typeface="Times New Roman" panose="02020603050405020304" pitchFamily="18" charset="0"/>
                <a:sym typeface="Times New Roman" panose="02020603050405020304" pitchFamily="18" charset="0"/>
              </a:rPr>
              <a:t>Implementation Details</a:t>
            </a:r>
            <a:endParaRPr lang="en-US" altLang="en-US" sz="700" dirty="0">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TextBox 1">
            <a:extLst>
              <a:ext uri="{FF2B5EF4-FFF2-40B4-BE49-F238E27FC236}">
                <a16:creationId xmlns:a16="http://schemas.microsoft.com/office/drawing/2014/main" id="{83EB185B-0ACC-BBEF-2572-359E7A9B537A}"/>
              </a:ext>
            </a:extLst>
          </p:cNvPr>
          <p:cNvSpPr txBox="1"/>
          <p:nvPr/>
        </p:nvSpPr>
        <p:spPr>
          <a:xfrm>
            <a:off x="234950" y="571500"/>
            <a:ext cx="8674100" cy="4801314"/>
          </a:xfrm>
          <a:prstGeom prst="rect">
            <a:avLst/>
          </a:prstGeom>
          <a:noFill/>
        </p:spPr>
        <p:txBody>
          <a:bodyPr>
            <a:spAutoFit/>
          </a:bodyPr>
          <a:lstStyle/>
          <a:p>
            <a:pPr algn="just" rtl="0">
              <a:buNone/>
            </a:pPr>
            <a:r>
              <a:rPr lang="en-US" sz="1800" b="1" dirty="0">
                <a:solidFill>
                  <a:srgbClr val="000000"/>
                </a:solidFill>
                <a:effectLst/>
                <a:latin typeface="Times New Roman" panose="02020603050405020304" pitchFamily="18" charset="0"/>
                <a:cs typeface="Times New Roman" panose="02020603050405020304" pitchFamily="18" charset="0"/>
              </a:rPr>
              <a:t>1. Code Style: Adhere to PEP 8</a:t>
            </a:r>
          </a:p>
          <a:p>
            <a:pPr algn="just" rtl="0">
              <a:buFont typeface="Arial" panose="020B0604020202020204" pitchFamily="34" charset="0"/>
              <a:buChar char="•"/>
            </a:pPr>
            <a:r>
              <a:rPr lang="en-US" sz="1800" dirty="0">
                <a:solidFill>
                  <a:srgbClr val="000000"/>
                </a:solidFill>
                <a:effectLst/>
                <a:latin typeface="Times New Roman" panose="02020603050405020304" pitchFamily="18" charset="0"/>
                <a:cs typeface="Times New Roman" panose="02020603050405020304" pitchFamily="18" charset="0"/>
              </a:rPr>
              <a:t>Follow PEP 8 guidelines: use 4 spaces for indentation, limit lines to 79 characters (or 120 if agreed), use </a:t>
            </a:r>
            <a:r>
              <a:rPr lang="en-US" sz="1800" dirty="0" err="1">
                <a:solidFill>
                  <a:srgbClr val="000000"/>
                </a:solidFill>
                <a:effectLst/>
                <a:latin typeface="Times New Roman" panose="02020603050405020304" pitchFamily="18" charset="0"/>
                <a:cs typeface="Times New Roman" panose="02020603050405020304" pitchFamily="18" charset="0"/>
              </a:rPr>
              <a:t>snake_case</a:t>
            </a:r>
            <a:r>
              <a:rPr lang="en-US" sz="1800" dirty="0">
                <a:solidFill>
                  <a:srgbClr val="000000"/>
                </a:solidFill>
                <a:effectLst/>
                <a:latin typeface="Times New Roman" panose="02020603050405020304" pitchFamily="18" charset="0"/>
                <a:cs typeface="Times New Roman" panose="02020603050405020304" pitchFamily="18" charset="0"/>
              </a:rPr>
              <a:t> for variables/functions, and add spaces around operators.</a:t>
            </a:r>
          </a:p>
          <a:p>
            <a:pPr algn="just" rtl="0">
              <a:buFont typeface="Arial" panose="020B0604020202020204" pitchFamily="34" charset="0"/>
              <a:buChar char="•"/>
            </a:pPr>
            <a:r>
              <a:rPr lang="en-US" sz="1800" dirty="0">
                <a:solidFill>
                  <a:srgbClr val="000000"/>
                </a:solidFill>
                <a:effectLst/>
                <a:latin typeface="Times New Roman" panose="02020603050405020304" pitchFamily="18" charset="0"/>
                <a:cs typeface="Times New Roman" panose="02020603050405020304" pitchFamily="18" charset="0"/>
              </a:rPr>
              <a:t>Use formatters like black and linters like flake8 to enforce consistent style.</a:t>
            </a:r>
          </a:p>
          <a:p>
            <a:pPr algn="just" rtl="0">
              <a:buFont typeface="Arial" panose="020B0604020202020204" pitchFamily="34" charset="0"/>
              <a:buChar char="•"/>
            </a:pPr>
            <a:endParaRPr lang="en-US" sz="1800" dirty="0">
              <a:solidFill>
                <a:srgbClr val="000000"/>
              </a:solidFill>
              <a:effectLst/>
              <a:latin typeface="Times New Roman" panose="02020603050405020304" pitchFamily="18" charset="0"/>
              <a:cs typeface="Times New Roman" panose="02020603050405020304" pitchFamily="18" charset="0"/>
            </a:endParaRPr>
          </a:p>
          <a:p>
            <a:pPr algn="just" rtl="0">
              <a:buNone/>
            </a:pPr>
            <a:r>
              <a:rPr lang="en-US" sz="1800" b="1" dirty="0">
                <a:solidFill>
                  <a:srgbClr val="000000"/>
                </a:solidFill>
                <a:effectLst/>
                <a:latin typeface="Times New Roman" panose="02020603050405020304" pitchFamily="18" charset="0"/>
                <a:cs typeface="Times New Roman" panose="02020603050405020304" pitchFamily="18" charset="0"/>
              </a:rPr>
              <a:t>2. </a:t>
            </a:r>
            <a:r>
              <a:rPr lang="en-US" sz="1800" b="1" dirty="0" err="1">
                <a:solidFill>
                  <a:srgbClr val="000000"/>
                </a:solidFill>
                <a:effectLst/>
                <a:latin typeface="Times New Roman" panose="02020603050405020304" pitchFamily="18" charset="0"/>
                <a:cs typeface="Times New Roman" panose="02020603050405020304" pitchFamily="18" charset="0"/>
              </a:rPr>
              <a:t>Jupyter</a:t>
            </a:r>
            <a:r>
              <a:rPr lang="en-US" sz="1800" b="1" dirty="0">
                <a:solidFill>
                  <a:srgbClr val="000000"/>
                </a:solidFill>
                <a:effectLst/>
                <a:latin typeface="Times New Roman" panose="02020603050405020304" pitchFamily="18" charset="0"/>
                <a:cs typeface="Times New Roman" panose="02020603050405020304" pitchFamily="18" charset="0"/>
              </a:rPr>
              <a:t> Notebook Best Practices</a:t>
            </a:r>
          </a:p>
          <a:p>
            <a:pPr algn="just" rtl="0">
              <a:buFont typeface="Arial" panose="020B0604020202020204" pitchFamily="34" charset="0"/>
              <a:buChar char="•"/>
            </a:pPr>
            <a:r>
              <a:rPr lang="en-US" sz="1800" dirty="0">
                <a:solidFill>
                  <a:srgbClr val="000000"/>
                </a:solidFill>
                <a:effectLst/>
                <a:latin typeface="Times New Roman" panose="02020603050405020304" pitchFamily="18" charset="0"/>
                <a:cs typeface="Times New Roman" panose="02020603050405020304" pitchFamily="18" charset="0"/>
              </a:rPr>
              <a:t>Start notebooks with a markdown cell explaining their purpose.</a:t>
            </a:r>
          </a:p>
          <a:p>
            <a:pPr algn="just" rtl="0">
              <a:buFont typeface="Arial" panose="020B0604020202020204" pitchFamily="34" charset="0"/>
              <a:buChar char="•"/>
            </a:pPr>
            <a:r>
              <a:rPr lang="en-US" sz="1800" dirty="0">
                <a:solidFill>
                  <a:srgbClr val="000000"/>
                </a:solidFill>
                <a:effectLst/>
                <a:latin typeface="Times New Roman" panose="02020603050405020304" pitchFamily="18" charset="0"/>
                <a:cs typeface="Times New Roman" panose="02020603050405020304" pitchFamily="18" charset="0"/>
              </a:rPr>
              <a:t>Use markdown headings to organize sections like data loading, model training, and evaluation.</a:t>
            </a:r>
          </a:p>
          <a:p>
            <a:pPr algn="just" rtl="0">
              <a:buFont typeface="Arial" panose="020B0604020202020204" pitchFamily="34" charset="0"/>
              <a:buChar char="•"/>
            </a:pPr>
            <a:r>
              <a:rPr lang="en-US" sz="1800" dirty="0">
                <a:solidFill>
                  <a:srgbClr val="000000"/>
                </a:solidFill>
                <a:effectLst/>
                <a:latin typeface="Times New Roman" panose="02020603050405020304" pitchFamily="18" charset="0"/>
                <a:cs typeface="Times New Roman" panose="02020603050405020304" pitchFamily="18" charset="0"/>
              </a:rPr>
              <a:t>Keep code cells short, focusing on one task per cell.</a:t>
            </a:r>
          </a:p>
          <a:p>
            <a:pPr algn="just" rtl="0">
              <a:buFont typeface="Arial" panose="020B0604020202020204" pitchFamily="34" charset="0"/>
              <a:buChar char="•"/>
            </a:pPr>
            <a:r>
              <a:rPr lang="en-US" sz="1800" dirty="0">
                <a:solidFill>
                  <a:srgbClr val="000000"/>
                </a:solidFill>
                <a:effectLst/>
                <a:latin typeface="Times New Roman" panose="02020603050405020304" pitchFamily="18" charset="0"/>
                <a:cs typeface="Times New Roman" panose="02020603050405020304" pitchFamily="18" charset="0"/>
              </a:rPr>
              <a:t>List all dependencies at the top in a dedicated cell for imports and installations.</a:t>
            </a:r>
          </a:p>
          <a:p>
            <a:pPr algn="just" rtl="0">
              <a:buFont typeface="Arial" panose="020B0604020202020204" pitchFamily="34" charset="0"/>
              <a:buChar char="•"/>
            </a:pPr>
            <a:r>
              <a:rPr lang="en-US" sz="1800" dirty="0">
                <a:solidFill>
                  <a:srgbClr val="000000"/>
                </a:solidFill>
                <a:effectLst/>
                <a:latin typeface="Times New Roman" panose="02020603050405020304" pitchFamily="18" charset="0"/>
                <a:cs typeface="Times New Roman" panose="02020603050405020304" pitchFamily="18" charset="0"/>
              </a:rPr>
              <a:t>Name notebooks descriptively to reflect their purpose.</a:t>
            </a:r>
          </a:p>
          <a:p>
            <a:pPr algn="just" rtl="0"/>
            <a:endParaRPr lang="en-US" sz="1800" dirty="0">
              <a:solidFill>
                <a:srgbClr val="000000"/>
              </a:solidFill>
              <a:effectLst/>
              <a:latin typeface="Times New Roman" panose="02020603050405020304" pitchFamily="18" charset="0"/>
              <a:cs typeface="Times New Roman" panose="02020603050405020304" pitchFamily="18" charset="0"/>
            </a:endParaRPr>
          </a:p>
          <a:p>
            <a:pPr algn="just" rtl="0">
              <a:buNone/>
            </a:pPr>
            <a:r>
              <a:rPr lang="en-US" sz="1800" b="1" dirty="0">
                <a:solidFill>
                  <a:srgbClr val="000000"/>
                </a:solidFill>
                <a:effectLst/>
                <a:latin typeface="Times New Roman" panose="02020603050405020304" pitchFamily="18" charset="0"/>
                <a:cs typeface="Times New Roman" panose="02020603050405020304" pitchFamily="18" charset="0"/>
              </a:rPr>
              <a:t>3. Version Control: Git Best Practices</a:t>
            </a:r>
          </a:p>
          <a:p>
            <a:pPr algn="just" rtl="0">
              <a:buFont typeface="Arial" panose="020B0604020202020204" pitchFamily="34" charset="0"/>
              <a:buChar char="•"/>
            </a:pPr>
            <a:r>
              <a:rPr lang="en-US" sz="1800" dirty="0">
                <a:solidFill>
                  <a:srgbClr val="000000"/>
                </a:solidFill>
                <a:effectLst/>
                <a:latin typeface="Times New Roman" panose="02020603050405020304" pitchFamily="18" charset="0"/>
                <a:cs typeface="Times New Roman" panose="02020603050405020304" pitchFamily="18" charset="0"/>
              </a:rPr>
              <a:t>Write clear, descriptive commit messages detailing changes made.</a:t>
            </a:r>
          </a:p>
          <a:p>
            <a:pPr algn="just" rtl="0">
              <a:buFont typeface="Arial" panose="020B0604020202020204" pitchFamily="34" charset="0"/>
              <a:buChar char="•"/>
            </a:pPr>
            <a:r>
              <a:rPr lang="en-US" sz="1800" dirty="0">
                <a:solidFill>
                  <a:srgbClr val="000000"/>
                </a:solidFill>
                <a:effectLst/>
                <a:latin typeface="Times New Roman" panose="02020603050405020304" pitchFamily="18" charset="0"/>
                <a:cs typeface="Times New Roman" panose="02020603050405020304" pitchFamily="18" charset="0"/>
              </a:rPr>
              <a:t>Work on feature branches instead of directly on master, merging via pull requests.</a:t>
            </a:r>
          </a:p>
          <a:p>
            <a:pPr algn="just">
              <a:defRPr/>
            </a:pPr>
            <a:endParaRPr 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6FA840F-9136-0589-2CA2-8738AFDCE7C1}"/>
              </a:ext>
            </a:extLst>
          </p:cNvPr>
          <p:cNvSpPr>
            <a:spLocks noGrp="1"/>
          </p:cNvSpPr>
          <p:nvPr>
            <p:ph type="sldNum" idx="12"/>
          </p:nvPr>
        </p:nvSpPr>
        <p:spPr/>
        <p:txBody>
          <a:bodyPr/>
          <a:lstStyle/>
          <a:p>
            <a:pPr>
              <a:defRPr/>
            </a:pPr>
            <a:fld id="{C47352ED-CA36-4D3E-BDAD-C75263ED03EB}" type="slidenum">
              <a:rPr lang="en-US" smtClean="0"/>
              <a:pPr>
                <a:defRPr/>
              </a:pPr>
              <a:t>24</a:t>
            </a:fld>
            <a:endParaRPr lang="en-US"/>
          </a:p>
        </p:txBody>
      </p:sp>
      <p:sp>
        <p:nvSpPr>
          <p:cNvPr id="4" name="TextBox 3">
            <a:extLst>
              <a:ext uri="{FF2B5EF4-FFF2-40B4-BE49-F238E27FC236}">
                <a16:creationId xmlns:a16="http://schemas.microsoft.com/office/drawing/2014/main" id="{15E21770-1E62-7C02-DE93-22EA9EA271BB}"/>
              </a:ext>
            </a:extLst>
          </p:cNvPr>
          <p:cNvSpPr txBox="1"/>
          <p:nvPr/>
        </p:nvSpPr>
        <p:spPr>
          <a:xfrm>
            <a:off x="346472" y="500519"/>
            <a:ext cx="8451056" cy="3970318"/>
          </a:xfrm>
          <a:prstGeom prst="rect">
            <a:avLst/>
          </a:prstGeom>
          <a:noFill/>
        </p:spPr>
        <p:txBody>
          <a:bodyPr wrap="square">
            <a:spAutoFit/>
          </a:bodyPr>
          <a:lstStyle/>
          <a:p>
            <a:pPr algn="just" rtl="0">
              <a:buFont typeface="Arial" panose="020B0604020202020204" pitchFamily="34" charset="0"/>
              <a:buChar char="•"/>
            </a:pPr>
            <a:r>
              <a:rPr lang="en-US" sz="1400" dirty="0">
                <a:solidFill>
                  <a:srgbClr val="000000"/>
                </a:solidFill>
                <a:effectLst/>
                <a:latin typeface="Times New Roman" panose="02020603050405020304" pitchFamily="18" charset="0"/>
                <a:cs typeface="Times New Roman" panose="02020603050405020304" pitchFamily="18" charset="0"/>
              </a:rPr>
              <a:t>Add sensitive or large files (e.g., .env, datasets) to .</a:t>
            </a:r>
            <a:r>
              <a:rPr lang="en-US" sz="1400" dirty="0" err="1">
                <a:solidFill>
                  <a:srgbClr val="000000"/>
                </a:solidFill>
                <a:effectLst/>
                <a:latin typeface="Times New Roman" panose="02020603050405020304" pitchFamily="18" charset="0"/>
                <a:cs typeface="Times New Roman" panose="02020603050405020304" pitchFamily="18" charset="0"/>
              </a:rPr>
              <a:t>gitignore</a:t>
            </a:r>
            <a:r>
              <a:rPr lang="en-US" sz="1400" dirty="0">
                <a:solidFill>
                  <a:srgbClr val="000000"/>
                </a:solidFill>
                <a:effectLst/>
                <a:latin typeface="Times New Roman" panose="02020603050405020304" pitchFamily="18" charset="0"/>
                <a:cs typeface="Times New Roman" panose="02020603050405020304" pitchFamily="18" charset="0"/>
              </a:rPr>
              <a:t>.</a:t>
            </a:r>
          </a:p>
          <a:p>
            <a:pPr algn="just" rtl="0">
              <a:buFont typeface="Arial" panose="020B0604020202020204" pitchFamily="34" charset="0"/>
              <a:buChar char="•"/>
            </a:pPr>
            <a:r>
              <a:rPr lang="en-US" sz="1400" dirty="0">
                <a:solidFill>
                  <a:srgbClr val="000000"/>
                </a:solidFill>
                <a:effectLst/>
                <a:latin typeface="Times New Roman" panose="02020603050405020304" pitchFamily="18" charset="0"/>
                <a:cs typeface="Times New Roman" panose="02020603050405020304" pitchFamily="18" charset="0"/>
              </a:rPr>
              <a:t>Set up pre-commit hooks to catch issues like secrets or notebook outputs before committing.</a:t>
            </a:r>
          </a:p>
          <a:p>
            <a:pPr algn="just" rtl="0">
              <a:buNone/>
            </a:pPr>
            <a:endParaRPr lang="en-US" sz="1400" dirty="0">
              <a:solidFill>
                <a:srgbClr val="000000"/>
              </a:solidFill>
              <a:effectLst/>
              <a:latin typeface="Times New Roman" panose="02020603050405020304" pitchFamily="18" charset="0"/>
              <a:cs typeface="Times New Roman" panose="02020603050405020304" pitchFamily="18" charset="0"/>
            </a:endParaRPr>
          </a:p>
          <a:p>
            <a:pPr algn="just" rtl="0">
              <a:buNone/>
            </a:pPr>
            <a:endParaRPr lang="en-US" dirty="0">
              <a:latin typeface="Times New Roman" panose="02020603050405020304" pitchFamily="18" charset="0"/>
              <a:cs typeface="Times New Roman" panose="02020603050405020304" pitchFamily="18" charset="0"/>
            </a:endParaRPr>
          </a:p>
          <a:p>
            <a:pPr algn="just" rtl="0">
              <a:buNone/>
            </a:pPr>
            <a:r>
              <a:rPr lang="en-US" sz="1400" b="1" dirty="0">
                <a:solidFill>
                  <a:srgbClr val="000000"/>
                </a:solidFill>
                <a:effectLst/>
                <a:latin typeface="Times New Roman" panose="02020603050405020304" pitchFamily="18" charset="0"/>
                <a:cs typeface="Times New Roman" panose="02020603050405020304" pitchFamily="18" charset="0"/>
              </a:rPr>
              <a:t>4. Documentation: Comment and Explain</a:t>
            </a:r>
          </a:p>
          <a:p>
            <a:pPr algn="just" rtl="0">
              <a:buFont typeface="Arial" panose="020B0604020202020204" pitchFamily="34" charset="0"/>
              <a:buChar char="•"/>
            </a:pPr>
            <a:r>
              <a:rPr lang="en-US" sz="1400" dirty="0">
                <a:solidFill>
                  <a:srgbClr val="000000"/>
                </a:solidFill>
                <a:effectLst/>
                <a:latin typeface="Times New Roman" panose="02020603050405020304" pitchFamily="18" charset="0"/>
                <a:cs typeface="Times New Roman" panose="02020603050405020304" pitchFamily="18" charset="0"/>
              </a:rPr>
              <a:t>Add comments or markdown cells to explain complex logic, especially for model training and evaluation.</a:t>
            </a:r>
          </a:p>
          <a:p>
            <a:pPr algn="just" rtl="0">
              <a:buFont typeface="Arial" panose="020B0604020202020204" pitchFamily="34" charset="0"/>
              <a:buChar char="•"/>
            </a:pPr>
            <a:r>
              <a:rPr lang="en-US" sz="1400" dirty="0">
                <a:solidFill>
                  <a:srgbClr val="000000"/>
                </a:solidFill>
                <a:effectLst/>
                <a:latin typeface="Times New Roman" panose="02020603050405020304" pitchFamily="18" charset="0"/>
                <a:cs typeface="Times New Roman" panose="02020603050405020304" pitchFamily="18" charset="0"/>
              </a:rPr>
              <a:t>Document fine-tuning steps for LLMs and parameter choices for ARIMA/SARIMA.</a:t>
            </a:r>
          </a:p>
          <a:p>
            <a:pPr algn="just" rtl="0">
              <a:buFont typeface="Arial" panose="020B0604020202020204" pitchFamily="34" charset="0"/>
              <a:buChar char="•"/>
            </a:pPr>
            <a:r>
              <a:rPr lang="en-US" sz="1400" dirty="0">
                <a:solidFill>
                  <a:srgbClr val="000000"/>
                </a:solidFill>
                <a:effectLst/>
                <a:latin typeface="Times New Roman" panose="02020603050405020304" pitchFamily="18" charset="0"/>
                <a:cs typeface="Times New Roman" panose="02020603050405020304" pitchFamily="18" charset="0"/>
              </a:rPr>
              <a:t>Use markdown cells to describe the purpose of each notebook section.</a:t>
            </a:r>
          </a:p>
          <a:p>
            <a:pPr algn="just" rtl="0">
              <a:buFont typeface="Arial" panose="020B0604020202020204" pitchFamily="34" charset="0"/>
              <a:buChar char="•"/>
            </a:pPr>
            <a:endParaRPr lang="en-US" sz="1400" dirty="0">
              <a:solidFill>
                <a:srgbClr val="000000"/>
              </a:solidFill>
              <a:effectLst/>
              <a:latin typeface="Times New Roman" panose="02020603050405020304" pitchFamily="18" charset="0"/>
              <a:cs typeface="Times New Roman" panose="02020603050405020304" pitchFamily="18" charset="0"/>
            </a:endParaRPr>
          </a:p>
          <a:p>
            <a:pPr algn="just" rtl="0">
              <a:buNone/>
            </a:pPr>
            <a:r>
              <a:rPr lang="en-US" b="1" dirty="0">
                <a:latin typeface="Times New Roman" panose="02020603050405020304" pitchFamily="18" charset="0"/>
                <a:cs typeface="Times New Roman" panose="02020603050405020304" pitchFamily="18" charset="0"/>
              </a:rPr>
              <a:t>5</a:t>
            </a:r>
            <a:r>
              <a:rPr lang="en-US" sz="1400" b="1" dirty="0">
                <a:solidFill>
                  <a:srgbClr val="000000"/>
                </a:solidFill>
                <a:effectLst/>
                <a:latin typeface="Times New Roman" panose="02020603050405020304" pitchFamily="18" charset="0"/>
                <a:cs typeface="Times New Roman" panose="02020603050405020304" pitchFamily="18" charset="0"/>
              </a:rPr>
              <a:t>. Reproducibility: Ensure Code Runs Anywhere</a:t>
            </a:r>
          </a:p>
          <a:p>
            <a:pPr algn="just" rtl="0">
              <a:buFont typeface="Arial" panose="020B0604020202020204" pitchFamily="34" charset="0"/>
              <a:buChar char="•"/>
            </a:pPr>
            <a:r>
              <a:rPr lang="en-US" sz="1400" dirty="0">
                <a:solidFill>
                  <a:srgbClr val="000000"/>
                </a:solidFill>
                <a:effectLst/>
                <a:latin typeface="Times New Roman" panose="02020603050405020304" pitchFamily="18" charset="0"/>
                <a:cs typeface="Times New Roman" panose="02020603050405020304" pitchFamily="18" charset="0"/>
              </a:rPr>
              <a:t>Create a requirements.txt file to list all dependencies for easy setup.</a:t>
            </a:r>
          </a:p>
          <a:p>
            <a:pPr algn="just" rtl="0">
              <a:buFont typeface="Arial" panose="020B0604020202020204" pitchFamily="34" charset="0"/>
              <a:buChar char="•"/>
            </a:pPr>
            <a:r>
              <a:rPr lang="en-US" sz="1400" dirty="0">
                <a:solidFill>
                  <a:srgbClr val="000000"/>
                </a:solidFill>
                <a:effectLst/>
                <a:latin typeface="Times New Roman" panose="02020603050405020304" pitchFamily="18" charset="0"/>
                <a:cs typeface="Times New Roman" panose="02020603050405020304" pitchFamily="18" charset="0"/>
              </a:rPr>
              <a:t>Set random seeds for reproducibility in models like LLMs.</a:t>
            </a:r>
          </a:p>
          <a:p>
            <a:pPr algn="just" rtl="0">
              <a:buFont typeface="Arial" panose="020B0604020202020204" pitchFamily="34" charset="0"/>
              <a:buChar char="•"/>
            </a:pPr>
            <a:r>
              <a:rPr lang="en-US" sz="1400" dirty="0">
                <a:solidFill>
                  <a:srgbClr val="000000"/>
                </a:solidFill>
                <a:effectLst/>
                <a:latin typeface="Times New Roman" panose="02020603050405020304" pitchFamily="18" charset="0"/>
                <a:cs typeface="Times New Roman" panose="02020603050405020304" pitchFamily="18" charset="0"/>
              </a:rPr>
              <a:t>Provide instructions in a README.md for accessing external datasets, avoiding committing large data files to Git.</a:t>
            </a:r>
          </a:p>
          <a:p>
            <a:pPr algn="just" rtl="0">
              <a:buNone/>
            </a:pPr>
            <a:endParaRPr lang="en-US" sz="1400" dirty="0">
              <a:solidFill>
                <a:srgbClr val="000000"/>
              </a:solidFill>
              <a:effectLst/>
              <a:latin typeface="Times New Roman" panose="02020603050405020304" pitchFamily="18" charset="0"/>
              <a:cs typeface="Times New Roman" panose="02020603050405020304" pitchFamily="18" charset="0"/>
            </a:endParaRPr>
          </a:p>
          <a:p>
            <a:pPr algn="just" rtl="0">
              <a:buNone/>
            </a:pPr>
            <a:r>
              <a:rPr lang="en-US" sz="1400" b="1" dirty="0">
                <a:solidFill>
                  <a:srgbClr val="000000"/>
                </a:solidFill>
                <a:effectLst/>
                <a:latin typeface="Times New Roman" panose="02020603050405020304" pitchFamily="18" charset="0"/>
                <a:cs typeface="Times New Roman" panose="02020603050405020304" pitchFamily="18" charset="0"/>
              </a:rPr>
              <a:t>6. Error Handling and Logging</a:t>
            </a:r>
          </a:p>
          <a:p>
            <a:pPr algn="just" rtl="0">
              <a:buFont typeface="Arial" panose="020B0604020202020204" pitchFamily="34" charset="0"/>
              <a:buChar char="•"/>
            </a:pPr>
            <a:r>
              <a:rPr lang="en-US" sz="1400" dirty="0">
                <a:solidFill>
                  <a:srgbClr val="000000"/>
                </a:solidFill>
                <a:effectLst/>
                <a:latin typeface="Times New Roman" panose="02020603050405020304" pitchFamily="18" charset="0"/>
                <a:cs typeface="Times New Roman" panose="02020603050405020304" pitchFamily="18" charset="0"/>
              </a:rPr>
              <a:t>Implement error handling for API calls and model training to catch and manage failures.</a:t>
            </a:r>
          </a:p>
          <a:p>
            <a:pPr algn="just" rtl="0">
              <a:buFont typeface="Arial" panose="020B0604020202020204" pitchFamily="34" charset="0"/>
              <a:buChar char="•"/>
            </a:pPr>
            <a:r>
              <a:rPr lang="en-US" sz="1400" dirty="0">
                <a:solidFill>
                  <a:srgbClr val="000000"/>
                </a:solidFill>
                <a:effectLst/>
                <a:latin typeface="Times New Roman" panose="02020603050405020304" pitchFamily="18" charset="0"/>
                <a:cs typeface="Times New Roman" panose="02020603050405020304" pitchFamily="18" charset="0"/>
              </a:rPr>
              <a:t>Use the logging module instead of print statements for debugging and tracking execution.</a:t>
            </a:r>
          </a:p>
          <a:p>
            <a:pPr algn="just" rtl="0">
              <a:buFont typeface="Arial" panose="020B0604020202020204" pitchFamily="34" charset="0"/>
              <a:buChar char="•"/>
            </a:pPr>
            <a:r>
              <a:rPr lang="en-US" sz="1400" dirty="0">
                <a:solidFill>
                  <a:srgbClr val="000000"/>
                </a:solidFill>
                <a:effectLst/>
                <a:latin typeface="Times New Roman" panose="02020603050405020304" pitchFamily="18" charset="0"/>
                <a:cs typeface="Times New Roman" panose="02020603050405020304" pitchFamily="18" charset="0"/>
              </a:rPr>
              <a:t>Log key steps like data loading, model training, and evaluation to aid troubleshooting.</a:t>
            </a:r>
          </a:p>
        </p:txBody>
      </p:sp>
    </p:spTree>
    <p:extLst>
      <p:ext uri="{BB962C8B-B14F-4D97-AF65-F5344CB8AC3E}">
        <p14:creationId xmlns:p14="http://schemas.microsoft.com/office/powerpoint/2010/main" val="19562315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Google Shape;353;p10">
            <a:extLst>
              <a:ext uri="{FF2B5EF4-FFF2-40B4-BE49-F238E27FC236}">
                <a16:creationId xmlns:a16="http://schemas.microsoft.com/office/drawing/2014/main" id="{6B979406-72D4-3558-A072-15259EE37813}"/>
              </a:ext>
            </a:extLst>
          </p:cNvPr>
          <p:cNvSpPr txBox="1">
            <a:spLocks noChangeArrowheads="1"/>
          </p:cNvSpPr>
          <p:nvPr/>
        </p:nvSpPr>
        <p:spPr bwMode="auto">
          <a:xfrm>
            <a:off x="0" y="152400"/>
            <a:ext cx="914400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a:lnSpc>
                <a:spcPct val="120000"/>
              </a:lnSpc>
            </a:pPr>
            <a:r>
              <a:rPr lang="en-US" altLang="en-US" sz="3200" b="1">
                <a:latin typeface="Times New Roman" panose="02020603050405020304" pitchFamily="18" charset="0"/>
                <a:cs typeface="Times New Roman" panose="02020603050405020304" pitchFamily="18" charset="0"/>
                <a:sym typeface="Times New Roman" panose="02020603050405020304" pitchFamily="18" charset="0"/>
              </a:rPr>
              <a:t>Test Cases</a:t>
            </a:r>
            <a:endParaRPr lang="en-US" altLang="en-US" sz="700">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TextBox 1">
            <a:extLst>
              <a:ext uri="{FF2B5EF4-FFF2-40B4-BE49-F238E27FC236}">
                <a16:creationId xmlns:a16="http://schemas.microsoft.com/office/drawing/2014/main" id="{A12C9AC4-7ACC-2717-705A-6E5796894283}"/>
              </a:ext>
            </a:extLst>
          </p:cNvPr>
          <p:cNvSpPr txBox="1"/>
          <p:nvPr/>
        </p:nvSpPr>
        <p:spPr>
          <a:xfrm>
            <a:off x="450491" y="742950"/>
            <a:ext cx="7218643" cy="4016484"/>
          </a:xfrm>
          <a:prstGeom prst="rect">
            <a:avLst/>
          </a:prstGeom>
          <a:noFill/>
        </p:spPr>
        <p:txBody>
          <a:bodyPr wrap="none">
            <a:spAutoFit/>
          </a:bodyPr>
          <a:lstStyle/>
          <a:p>
            <a:pPr rtl="0">
              <a:buNone/>
            </a:pPr>
            <a:r>
              <a:rPr lang="en-IN" sz="1700" b="1" dirty="0">
                <a:solidFill>
                  <a:srgbClr val="000000"/>
                </a:solidFill>
                <a:effectLst/>
                <a:latin typeface="Times New Roman" panose="02020603050405020304" pitchFamily="18" charset="0"/>
                <a:cs typeface="Times New Roman" panose="02020603050405020304" pitchFamily="18" charset="0"/>
              </a:rPr>
              <a:t>1. Data Preprocessing</a:t>
            </a:r>
          </a:p>
          <a:p>
            <a:pPr rtl="0">
              <a:buFont typeface="Arial" panose="020B0604020202020204" pitchFamily="34" charset="0"/>
              <a:buChar char="•"/>
            </a:pPr>
            <a:r>
              <a:rPr lang="en-IN" sz="1700" dirty="0">
                <a:solidFill>
                  <a:srgbClr val="000000"/>
                </a:solidFill>
                <a:effectLst/>
                <a:latin typeface="Times New Roman" panose="02020603050405020304" pitchFamily="18" charset="0"/>
                <a:cs typeface="Times New Roman" panose="02020603050405020304" pitchFamily="18" charset="0"/>
              </a:rPr>
              <a:t>Load dataset and verify columns: Entity, Year, Coal consumption - TWh.</a:t>
            </a:r>
          </a:p>
          <a:p>
            <a:pPr rtl="0">
              <a:buFont typeface="Arial" panose="020B0604020202020204" pitchFamily="34" charset="0"/>
              <a:buChar char="•"/>
            </a:pPr>
            <a:r>
              <a:rPr lang="en-IN" sz="1700" dirty="0">
                <a:solidFill>
                  <a:srgbClr val="000000"/>
                </a:solidFill>
                <a:effectLst/>
                <a:latin typeface="Times New Roman" panose="02020603050405020304" pitchFamily="18" charset="0"/>
                <a:cs typeface="Times New Roman" panose="02020603050405020304" pitchFamily="18" charset="0"/>
              </a:rPr>
              <a:t>Check for missing/duplicate data (e.g., Africa vs Africa (EI)).</a:t>
            </a:r>
          </a:p>
          <a:p>
            <a:pPr rtl="0">
              <a:buFont typeface="Arial" panose="020B0604020202020204" pitchFamily="34" charset="0"/>
              <a:buChar char="•"/>
            </a:pPr>
            <a:r>
              <a:rPr lang="en-IN" sz="1700" dirty="0">
                <a:solidFill>
                  <a:srgbClr val="000000"/>
                </a:solidFill>
                <a:effectLst/>
                <a:latin typeface="Times New Roman" panose="02020603050405020304" pitchFamily="18" charset="0"/>
                <a:cs typeface="Times New Roman" panose="02020603050405020304" pitchFamily="18" charset="0"/>
              </a:rPr>
              <a:t>Filter data for China, ensure 1965–2023 range.</a:t>
            </a:r>
          </a:p>
          <a:p>
            <a:pPr rtl="0">
              <a:buFont typeface="Arial" panose="020B0604020202020204" pitchFamily="34" charset="0"/>
              <a:buChar char="•"/>
            </a:pPr>
            <a:r>
              <a:rPr lang="en-IN" sz="1700" dirty="0">
                <a:solidFill>
                  <a:srgbClr val="000000"/>
                </a:solidFill>
                <a:effectLst/>
                <a:latin typeface="Times New Roman" panose="02020603050405020304" pitchFamily="18" charset="0"/>
                <a:cs typeface="Times New Roman" panose="02020603050405020304" pitchFamily="18" charset="0"/>
              </a:rPr>
              <a:t>Validate data types: Year (int), Coal consumption - TWh (float), Entity (string).</a:t>
            </a:r>
          </a:p>
          <a:p>
            <a:pPr rtl="0">
              <a:buNone/>
            </a:pPr>
            <a:endParaRPr lang="en-IN" sz="1700" b="1" dirty="0">
              <a:solidFill>
                <a:srgbClr val="000000"/>
              </a:solidFill>
              <a:effectLst/>
              <a:latin typeface="Times New Roman" panose="02020603050405020304" pitchFamily="18" charset="0"/>
              <a:cs typeface="Times New Roman" panose="02020603050405020304" pitchFamily="18" charset="0"/>
            </a:endParaRPr>
          </a:p>
          <a:p>
            <a:pPr rtl="0">
              <a:buNone/>
            </a:pPr>
            <a:r>
              <a:rPr lang="en-IN" sz="1700" b="1" dirty="0">
                <a:solidFill>
                  <a:srgbClr val="000000"/>
                </a:solidFill>
                <a:effectLst/>
                <a:latin typeface="Times New Roman" panose="02020603050405020304" pitchFamily="18" charset="0"/>
                <a:cs typeface="Times New Roman" panose="02020603050405020304" pitchFamily="18" charset="0"/>
              </a:rPr>
              <a:t>2. Time Series Preparation</a:t>
            </a:r>
          </a:p>
          <a:p>
            <a:pPr rtl="0">
              <a:buFont typeface="Arial" panose="020B0604020202020204" pitchFamily="34" charset="0"/>
              <a:buChar char="•"/>
            </a:pPr>
            <a:r>
              <a:rPr lang="en-IN" sz="1700" dirty="0">
                <a:solidFill>
                  <a:srgbClr val="000000"/>
                </a:solidFill>
                <a:effectLst/>
                <a:latin typeface="Times New Roman" panose="02020603050405020304" pitchFamily="18" charset="0"/>
                <a:cs typeface="Times New Roman" panose="02020603050405020304" pitchFamily="18" charset="0"/>
              </a:rPr>
              <a:t>Convert World data to time series with Year as index.</a:t>
            </a:r>
          </a:p>
          <a:p>
            <a:pPr rtl="0">
              <a:buFont typeface="Arial" panose="020B0604020202020204" pitchFamily="34" charset="0"/>
              <a:buChar char="•"/>
            </a:pPr>
            <a:r>
              <a:rPr lang="en-IN" sz="1700" dirty="0">
                <a:solidFill>
                  <a:srgbClr val="000000"/>
                </a:solidFill>
                <a:effectLst/>
                <a:latin typeface="Times New Roman" panose="02020603050405020304" pitchFamily="18" charset="0"/>
                <a:cs typeface="Times New Roman" panose="02020603050405020304" pitchFamily="18" charset="0"/>
              </a:rPr>
              <a:t>Run stationarity test on World data, log results.</a:t>
            </a:r>
          </a:p>
          <a:p>
            <a:pPr rtl="0">
              <a:buFont typeface="Arial" panose="020B0604020202020204" pitchFamily="34" charset="0"/>
              <a:buChar char="•"/>
            </a:pPr>
            <a:r>
              <a:rPr lang="en-IN" sz="1700" dirty="0">
                <a:solidFill>
                  <a:srgbClr val="000000"/>
                </a:solidFill>
                <a:effectLst/>
                <a:latin typeface="Times New Roman" panose="02020603050405020304" pitchFamily="18" charset="0"/>
                <a:cs typeface="Times New Roman" panose="02020603050405020304" pitchFamily="18" charset="0"/>
              </a:rPr>
              <a:t>Perform seasonal decomposition on Africa data.</a:t>
            </a:r>
          </a:p>
          <a:p>
            <a:pPr rtl="0">
              <a:buNone/>
            </a:pPr>
            <a:endParaRPr lang="en-IN" sz="1700" dirty="0">
              <a:solidFill>
                <a:srgbClr val="000000"/>
              </a:solidFill>
              <a:effectLst/>
              <a:latin typeface="Times New Roman" panose="02020603050405020304" pitchFamily="18" charset="0"/>
              <a:cs typeface="Times New Roman" panose="02020603050405020304" pitchFamily="18" charset="0"/>
            </a:endParaRPr>
          </a:p>
          <a:p>
            <a:pPr rtl="0">
              <a:buNone/>
            </a:pPr>
            <a:r>
              <a:rPr lang="en-IN" sz="1700" b="1" dirty="0">
                <a:solidFill>
                  <a:srgbClr val="000000"/>
                </a:solidFill>
                <a:effectLst/>
                <a:latin typeface="Times New Roman" panose="02020603050405020304" pitchFamily="18" charset="0"/>
                <a:cs typeface="Times New Roman" panose="02020603050405020304" pitchFamily="18" charset="0"/>
              </a:rPr>
              <a:t>3. Model Training (ARIMA/SARIMA)</a:t>
            </a:r>
          </a:p>
          <a:p>
            <a:pPr rtl="0">
              <a:buFont typeface="Arial" panose="020B0604020202020204" pitchFamily="34" charset="0"/>
              <a:buChar char="•"/>
            </a:pPr>
            <a:r>
              <a:rPr lang="en-IN" sz="1700" dirty="0">
                <a:solidFill>
                  <a:srgbClr val="000000"/>
                </a:solidFill>
                <a:effectLst/>
                <a:latin typeface="Times New Roman" panose="02020603050405020304" pitchFamily="18" charset="0"/>
                <a:cs typeface="Times New Roman" panose="02020603050405020304" pitchFamily="18" charset="0"/>
              </a:rPr>
              <a:t>Train ARIMA on China data, log summary stats.</a:t>
            </a:r>
          </a:p>
          <a:p>
            <a:pPr rtl="0">
              <a:buFont typeface="Arial" panose="020B0604020202020204" pitchFamily="34" charset="0"/>
              <a:buChar char="•"/>
            </a:pPr>
            <a:r>
              <a:rPr lang="en-IN" sz="1700" dirty="0">
                <a:solidFill>
                  <a:srgbClr val="000000"/>
                </a:solidFill>
                <a:effectLst/>
                <a:latin typeface="Times New Roman" panose="02020603050405020304" pitchFamily="18" charset="0"/>
                <a:cs typeface="Times New Roman" panose="02020603050405020304" pitchFamily="18" charset="0"/>
              </a:rPr>
              <a:t>Train SARIMA on Africa data, confirm seasonal fit.</a:t>
            </a:r>
          </a:p>
          <a:p>
            <a:pPr rtl="0">
              <a:buFont typeface="Arial" panose="020B0604020202020204" pitchFamily="34" charset="0"/>
              <a:buChar char="•"/>
            </a:pPr>
            <a:r>
              <a:rPr lang="en-IN" sz="1700" dirty="0">
                <a:solidFill>
                  <a:srgbClr val="000000"/>
                </a:solidFill>
                <a:effectLst/>
                <a:latin typeface="Times New Roman" panose="02020603050405020304" pitchFamily="18" charset="0"/>
                <a:cs typeface="Times New Roman" panose="02020603050405020304" pitchFamily="18" charset="0"/>
              </a:rPr>
              <a:t>Test ARIMA/SARIMA with invalid parameters, verify error handling.</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AF51AA2-1E69-FB45-A104-DA2278D434FF}"/>
              </a:ext>
            </a:extLst>
          </p:cNvPr>
          <p:cNvSpPr txBox="1"/>
          <p:nvPr/>
        </p:nvSpPr>
        <p:spPr>
          <a:xfrm>
            <a:off x="467769" y="275768"/>
            <a:ext cx="9202993" cy="5062924"/>
          </a:xfrm>
          <a:prstGeom prst="rect">
            <a:avLst/>
          </a:prstGeom>
          <a:noFill/>
        </p:spPr>
        <p:txBody>
          <a:bodyPr wrap="square">
            <a:spAutoFit/>
          </a:bodyPr>
          <a:lstStyle/>
          <a:p>
            <a:pPr lvl="1"/>
            <a:r>
              <a:rPr lang="en-IN" sz="1700" b="1" dirty="0">
                <a:solidFill>
                  <a:srgbClr val="000000"/>
                </a:solidFill>
                <a:effectLst/>
                <a:latin typeface="Times New Roman" panose="02020603050405020304" pitchFamily="18" charset="0"/>
                <a:cs typeface="Times New Roman" panose="02020603050405020304" pitchFamily="18" charset="0"/>
              </a:rPr>
              <a:t>4. Model Training (LLMs)</a:t>
            </a:r>
          </a:p>
          <a:p>
            <a:pPr lvl="1">
              <a:buFont typeface="Arial" panose="020B0604020202020204" pitchFamily="34" charset="0"/>
              <a:buChar char="•"/>
            </a:pPr>
            <a:r>
              <a:rPr lang="en-IN" sz="1700" dirty="0">
                <a:solidFill>
                  <a:srgbClr val="000000"/>
                </a:solidFill>
                <a:effectLst/>
                <a:latin typeface="Times New Roman" panose="02020603050405020304" pitchFamily="18" charset="0"/>
                <a:cs typeface="Times New Roman" panose="02020603050405020304" pitchFamily="18" charset="0"/>
              </a:rPr>
              <a:t>Prepare United States data for LLM input (text sequence).</a:t>
            </a:r>
          </a:p>
          <a:p>
            <a:pPr lvl="1">
              <a:buFont typeface="Arial" panose="020B0604020202020204" pitchFamily="34" charset="0"/>
              <a:buChar char="•"/>
            </a:pPr>
            <a:r>
              <a:rPr lang="en-IN" sz="1700" dirty="0">
                <a:solidFill>
                  <a:srgbClr val="000000"/>
                </a:solidFill>
                <a:effectLst/>
                <a:latin typeface="Times New Roman" panose="02020603050405020304" pitchFamily="18" charset="0"/>
                <a:cs typeface="Times New Roman" panose="02020603050405020304" pitchFamily="18" charset="0"/>
              </a:rPr>
              <a:t>Fine-tune Tiny </a:t>
            </a:r>
            <a:r>
              <a:rPr lang="en-IN" sz="1700" dirty="0" err="1">
                <a:solidFill>
                  <a:srgbClr val="000000"/>
                </a:solidFill>
                <a:effectLst/>
                <a:latin typeface="Times New Roman" panose="02020603050405020304" pitchFamily="18" charset="0"/>
                <a:cs typeface="Times New Roman" panose="02020603050405020304" pitchFamily="18" charset="0"/>
              </a:rPr>
              <a:t>LLaMa</a:t>
            </a:r>
            <a:r>
              <a:rPr lang="en-IN" sz="1700" dirty="0">
                <a:solidFill>
                  <a:srgbClr val="000000"/>
                </a:solidFill>
                <a:effectLst/>
                <a:latin typeface="Times New Roman" panose="02020603050405020304" pitchFamily="18" charset="0"/>
                <a:cs typeface="Times New Roman" panose="02020603050405020304" pitchFamily="18" charset="0"/>
              </a:rPr>
              <a:t> 1.1B on Brazil data, log loss.</a:t>
            </a:r>
          </a:p>
          <a:p>
            <a:pPr lvl="1">
              <a:buFont typeface="Arial" panose="020B0604020202020204" pitchFamily="34" charset="0"/>
              <a:buChar char="•"/>
            </a:pPr>
            <a:r>
              <a:rPr lang="en-IN" sz="1700" dirty="0">
                <a:solidFill>
                  <a:srgbClr val="000000"/>
                </a:solidFill>
                <a:effectLst/>
                <a:latin typeface="Times New Roman" panose="02020603050405020304" pitchFamily="18" charset="0"/>
                <a:cs typeface="Times New Roman" panose="02020603050405020304" pitchFamily="18" charset="0"/>
              </a:rPr>
              <a:t>Use GPT-2 to predict Canada 2024 consumption, verify output.</a:t>
            </a:r>
          </a:p>
          <a:p>
            <a:pPr lvl="1"/>
            <a:endParaRPr lang="en-IN" sz="1700" b="1" dirty="0">
              <a:solidFill>
                <a:srgbClr val="000000"/>
              </a:solidFill>
              <a:effectLst/>
              <a:latin typeface="Times New Roman" panose="02020603050405020304" pitchFamily="18" charset="0"/>
              <a:cs typeface="Times New Roman" panose="02020603050405020304" pitchFamily="18" charset="0"/>
            </a:endParaRPr>
          </a:p>
          <a:p>
            <a:pPr lvl="1"/>
            <a:r>
              <a:rPr lang="en-IN" sz="1700" b="1" dirty="0">
                <a:solidFill>
                  <a:srgbClr val="000000"/>
                </a:solidFill>
                <a:effectLst/>
                <a:latin typeface="Times New Roman" panose="02020603050405020304" pitchFamily="18" charset="0"/>
                <a:cs typeface="Times New Roman" panose="02020603050405020304" pitchFamily="18" charset="0"/>
              </a:rPr>
              <a:t>5. Forecasting</a:t>
            </a:r>
          </a:p>
          <a:p>
            <a:pPr lvl="1">
              <a:buFont typeface="Arial" panose="020B0604020202020204" pitchFamily="34" charset="0"/>
              <a:buChar char="•"/>
            </a:pPr>
            <a:r>
              <a:rPr lang="en-IN" sz="1700" dirty="0">
                <a:solidFill>
                  <a:srgbClr val="000000"/>
                </a:solidFill>
                <a:effectLst/>
                <a:latin typeface="Times New Roman" panose="02020603050405020304" pitchFamily="18" charset="0"/>
                <a:cs typeface="Times New Roman" panose="02020603050405020304" pitchFamily="18" charset="0"/>
              </a:rPr>
              <a:t>Forecast China 2024–2028 with ARIMA, ensure positive values.</a:t>
            </a:r>
          </a:p>
          <a:p>
            <a:pPr lvl="1">
              <a:buFont typeface="Arial" panose="020B0604020202020204" pitchFamily="34" charset="0"/>
              <a:buChar char="•"/>
            </a:pPr>
            <a:r>
              <a:rPr lang="en-IN" sz="1700" dirty="0">
                <a:solidFill>
                  <a:srgbClr val="000000"/>
                </a:solidFill>
                <a:effectLst/>
                <a:latin typeface="Times New Roman" panose="02020603050405020304" pitchFamily="18" charset="0"/>
                <a:cs typeface="Times New Roman" panose="02020603050405020304" pitchFamily="18" charset="0"/>
              </a:rPr>
              <a:t>Forecast Africa 2024–2028 with SARIMA, check seasonal patterns.</a:t>
            </a:r>
          </a:p>
          <a:p>
            <a:pPr lvl="1">
              <a:buFont typeface="Arial" panose="020B0604020202020204" pitchFamily="34" charset="0"/>
              <a:buChar char="•"/>
            </a:pPr>
            <a:r>
              <a:rPr lang="en-IN" sz="1700" dirty="0">
                <a:solidFill>
                  <a:srgbClr val="000000"/>
                </a:solidFill>
                <a:effectLst/>
                <a:latin typeface="Times New Roman" panose="02020603050405020304" pitchFamily="18" charset="0"/>
                <a:cs typeface="Times New Roman" panose="02020603050405020304" pitchFamily="18" charset="0"/>
              </a:rPr>
              <a:t>Forecast India 2024 with Mistral 7B, ensure reasonable output.</a:t>
            </a:r>
          </a:p>
          <a:p>
            <a:pPr lvl="1"/>
            <a:endParaRPr lang="en-IN" sz="1700" b="1" dirty="0">
              <a:solidFill>
                <a:srgbClr val="000000"/>
              </a:solidFill>
              <a:effectLst/>
              <a:latin typeface="Times New Roman" panose="02020603050405020304" pitchFamily="18" charset="0"/>
              <a:cs typeface="Times New Roman" panose="02020603050405020304" pitchFamily="18" charset="0"/>
            </a:endParaRPr>
          </a:p>
          <a:p>
            <a:pPr lvl="1"/>
            <a:r>
              <a:rPr lang="en-IN" sz="1700" b="1" dirty="0">
                <a:solidFill>
                  <a:srgbClr val="000000"/>
                </a:solidFill>
                <a:effectLst/>
                <a:latin typeface="Times New Roman" panose="02020603050405020304" pitchFamily="18" charset="0"/>
                <a:cs typeface="Times New Roman" panose="02020603050405020304" pitchFamily="18" charset="0"/>
              </a:rPr>
              <a:t>6. Model Evaluation</a:t>
            </a:r>
          </a:p>
          <a:p>
            <a:pPr lvl="1">
              <a:buFont typeface="Arial" panose="020B0604020202020204" pitchFamily="34" charset="0"/>
              <a:buChar char="•"/>
            </a:pPr>
            <a:r>
              <a:rPr lang="en-IN" sz="1700" dirty="0">
                <a:solidFill>
                  <a:srgbClr val="000000"/>
                </a:solidFill>
                <a:effectLst/>
                <a:latin typeface="Times New Roman" panose="02020603050405020304" pitchFamily="18" charset="0"/>
                <a:cs typeface="Times New Roman" panose="02020603050405020304" pitchFamily="18" charset="0"/>
              </a:rPr>
              <a:t>Split World data: train (1965–2018), test (2019–2023).</a:t>
            </a:r>
          </a:p>
          <a:p>
            <a:pPr lvl="1">
              <a:buFont typeface="Arial" panose="020B0604020202020204" pitchFamily="34" charset="0"/>
              <a:buChar char="•"/>
            </a:pPr>
            <a:r>
              <a:rPr lang="en-IN" sz="1700" dirty="0">
                <a:solidFill>
                  <a:srgbClr val="000000"/>
                </a:solidFill>
                <a:effectLst/>
                <a:latin typeface="Times New Roman" panose="02020603050405020304" pitchFamily="18" charset="0"/>
                <a:cs typeface="Times New Roman" panose="02020603050405020304" pitchFamily="18" charset="0"/>
              </a:rPr>
              <a:t>Evaluate ARIMA on United States test data, log MSE/RMSE/MAPE.</a:t>
            </a:r>
          </a:p>
          <a:p>
            <a:pPr lvl="1">
              <a:buFont typeface="Arial" panose="020B0604020202020204" pitchFamily="34" charset="0"/>
              <a:buChar char="•"/>
            </a:pPr>
            <a:r>
              <a:rPr lang="en-IN" sz="1700" dirty="0">
                <a:solidFill>
                  <a:srgbClr val="000000"/>
                </a:solidFill>
                <a:effectLst/>
                <a:latin typeface="Times New Roman" panose="02020603050405020304" pitchFamily="18" charset="0"/>
                <a:cs typeface="Times New Roman" panose="02020603050405020304" pitchFamily="18" charset="0"/>
              </a:rPr>
              <a:t>Evaluate GPT-2 on Australia test data, compare with baseline.</a:t>
            </a:r>
          </a:p>
          <a:p>
            <a:pPr lvl="1">
              <a:buFont typeface="Arial" panose="020B0604020202020204" pitchFamily="34" charset="0"/>
              <a:buChar char="•"/>
            </a:pPr>
            <a:endParaRPr lang="en-IN" sz="1700" dirty="0">
              <a:latin typeface="Times New Roman" panose="02020603050405020304" pitchFamily="18" charset="0"/>
              <a:cs typeface="Times New Roman" panose="02020603050405020304" pitchFamily="18" charset="0"/>
            </a:endParaRPr>
          </a:p>
          <a:p>
            <a:pPr rtl="0">
              <a:buNone/>
            </a:pPr>
            <a:r>
              <a:rPr lang="en-US" sz="1700" b="1" dirty="0">
                <a:solidFill>
                  <a:srgbClr val="000000"/>
                </a:solidFill>
                <a:effectLst/>
                <a:latin typeface="Times New Roman" panose="02020603050405020304" pitchFamily="18" charset="0"/>
                <a:cs typeface="Times New Roman" panose="02020603050405020304" pitchFamily="18" charset="0"/>
              </a:rPr>
              <a:t>7. Performance</a:t>
            </a:r>
          </a:p>
          <a:p>
            <a:pPr rtl="0">
              <a:buFont typeface="Arial" panose="020B0604020202020204" pitchFamily="34" charset="0"/>
              <a:buChar char="•"/>
            </a:pPr>
            <a:r>
              <a:rPr lang="en-US" sz="1700" dirty="0">
                <a:solidFill>
                  <a:srgbClr val="000000"/>
                </a:solidFill>
                <a:effectLst/>
                <a:latin typeface="Times New Roman" panose="02020603050405020304" pitchFamily="18" charset="0"/>
                <a:cs typeface="Times New Roman" panose="02020603050405020304" pitchFamily="18" charset="0"/>
              </a:rPr>
              <a:t>Train ARIMA on World data, ensure completion &lt; 10 seconds.</a:t>
            </a:r>
          </a:p>
          <a:p>
            <a:pPr rtl="0">
              <a:buFont typeface="Arial" panose="020B0604020202020204" pitchFamily="34" charset="0"/>
              <a:buChar char="•"/>
            </a:pPr>
            <a:r>
              <a:rPr lang="en-US" sz="1700" dirty="0">
                <a:solidFill>
                  <a:srgbClr val="000000"/>
                </a:solidFill>
                <a:effectLst/>
                <a:latin typeface="Times New Roman" panose="02020603050405020304" pitchFamily="18" charset="0"/>
                <a:cs typeface="Times New Roman" panose="02020603050405020304" pitchFamily="18" charset="0"/>
              </a:rPr>
              <a:t>Train SARIMA on 5 entities (China, India, United States, Africa, World), verify success.</a:t>
            </a:r>
          </a:p>
          <a:p>
            <a:pPr lvl="1">
              <a:buFont typeface="Arial" panose="020B0604020202020204" pitchFamily="34" charset="0"/>
              <a:buChar char="•"/>
            </a:pPr>
            <a:endParaRPr lang="en-IN" sz="170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43985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Google Shape;353;p10">
            <a:extLst>
              <a:ext uri="{FF2B5EF4-FFF2-40B4-BE49-F238E27FC236}">
                <a16:creationId xmlns:a16="http://schemas.microsoft.com/office/drawing/2014/main" id="{DFD85C85-9FD8-D2C6-B34F-9460D8D791B1}"/>
              </a:ext>
            </a:extLst>
          </p:cNvPr>
          <p:cNvSpPr txBox="1">
            <a:spLocks noChangeArrowheads="1"/>
          </p:cNvSpPr>
          <p:nvPr/>
        </p:nvSpPr>
        <p:spPr bwMode="auto">
          <a:xfrm>
            <a:off x="0" y="152400"/>
            <a:ext cx="914400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a:lnSpc>
                <a:spcPct val="120000"/>
              </a:lnSpc>
            </a:pPr>
            <a:r>
              <a:rPr lang="en-US" altLang="en-US" sz="3200" b="1">
                <a:latin typeface="Times New Roman" panose="02020603050405020304" pitchFamily="18" charset="0"/>
                <a:cs typeface="Times New Roman" panose="02020603050405020304" pitchFamily="18" charset="0"/>
                <a:sym typeface="Times New Roman" panose="02020603050405020304" pitchFamily="18" charset="0"/>
              </a:rPr>
              <a:t>Screenshots of Results</a:t>
            </a:r>
            <a:endParaRPr lang="en-US" altLang="en-US" sz="700">
              <a:latin typeface="Times New Roman" panose="02020603050405020304" pitchFamily="18" charset="0"/>
              <a:cs typeface="Times New Roman" panose="02020603050405020304" pitchFamily="18" charset="0"/>
              <a:sym typeface="Times New Roman" panose="02020603050405020304" pitchFamily="18" charset="0"/>
            </a:endParaRPr>
          </a:p>
        </p:txBody>
      </p:sp>
      <p:pic>
        <p:nvPicPr>
          <p:cNvPr id="5" name="Picture 4">
            <a:extLst>
              <a:ext uri="{FF2B5EF4-FFF2-40B4-BE49-F238E27FC236}">
                <a16:creationId xmlns:a16="http://schemas.microsoft.com/office/drawing/2014/main" id="{23111BCE-DA1C-5085-C52B-12C362C295A3}"/>
              </a:ext>
            </a:extLst>
          </p:cNvPr>
          <p:cNvPicPr>
            <a:picLocks noChangeAspect="1"/>
          </p:cNvPicPr>
          <p:nvPr/>
        </p:nvPicPr>
        <p:blipFill>
          <a:blip r:embed="rId3"/>
          <a:stretch>
            <a:fillRect/>
          </a:stretch>
        </p:blipFill>
        <p:spPr>
          <a:xfrm>
            <a:off x="-86493" y="1004938"/>
            <a:ext cx="4244156" cy="3288458"/>
          </a:xfrm>
          <a:prstGeom prst="rect">
            <a:avLst/>
          </a:prstGeom>
        </p:spPr>
      </p:pic>
      <p:pic>
        <p:nvPicPr>
          <p:cNvPr id="7" name="Picture 6">
            <a:extLst>
              <a:ext uri="{FF2B5EF4-FFF2-40B4-BE49-F238E27FC236}">
                <a16:creationId xmlns:a16="http://schemas.microsoft.com/office/drawing/2014/main" id="{9DC74CF5-B20B-E9D0-A39D-B4E94002B0B8}"/>
              </a:ext>
            </a:extLst>
          </p:cNvPr>
          <p:cNvPicPr>
            <a:picLocks noChangeAspect="1"/>
          </p:cNvPicPr>
          <p:nvPr/>
        </p:nvPicPr>
        <p:blipFill>
          <a:blip r:embed="rId4"/>
          <a:stretch>
            <a:fillRect/>
          </a:stretch>
        </p:blipFill>
        <p:spPr>
          <a:xfrm>
            <a:off x="4483733" y="992678"/>
            <a:ext cx="4162747" cy="3158144"/>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B8E3484-BF38-20FC-C26D-EC7B74253CCA}"/>
              </a:ext>
            </a:extLst>
          </p:cNvPr>
          <p:cNvPicPr>
            <a:picLocks noChangeAspect="1"/>
          </p:cNvPicPr>
          <p:nvPr/>
        </p:nvPicPr>
        <p:blipFill>
          <a:blip r:embed="rId2"/>
          <a:stretch>
            <a:fillRect/>
          </a:stretch>
        </p:blipFill>
        <p:spPr>
          <a:xfrm>
            <a:off x="0" y="623889"/>
            <a:ext cx="9144000" cy="3538534"/>
          </a:xfrm>
          <a:prstGeom prst="rect">
            <a:avLst/>
          </a:prstGeom>
        </p:spPr>
      </p:pic>
    </p:spTree>
    <p:extLst>
      <p:ext uri="{BB962C8B-B14F-4D97-AF65-F5344CB8AC3E}">
        <p14:creationId xmlns:p14="http://schemas.microsoft.com/office/powerpoint/2010/main" val="38852393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DDB892F-653E-DA3F-A53A-2397810DD9A7}"/>
              </a:ext>
            </a:extLst>
          </p:cNvPr>
          <p:cNvPicPr>
            <a:picLocks noChangeAspect="1"/>
          </p:cNvPicPr>
          <p:nvPr/>
        </p:nvPicPr>
        <p:blipFill>
          <a:blip r:embed="rId2"/>
          <a:stretch>
            <a:fillRect/>
          </a:stretch>
        </p:blipFill>
        <p:spPr>
          <a:xfrm>
            <a:off x="86837" y="0"/>
            <a:ext cx="8970326" cy="5143500"/>
          </a:xfrm>
          <a:prstGeom prst="rect">
            <a:avLst/>
          </a:prstGeom>
        </p:spPr>
      </p:pic>
    </p:spTree>
    <p:extLst>
      <p:ext uri="{BB962C8B-B14F-4D97-AF65-F5344CB8AC3E}">
        <p14:creationId xmlns:p14="http://schemas.microsoft.com/office/powerpoint/2010/main" val="34652264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2B1D3B7-6290-4285-F63E-CE4A5F4FE9DE}"/>
              </a:ext>
            </a:extLst>
          </p:cNvPr>
          <p:cNvSpPr>
            <a:spLocks noGrp="1"/>
          </p:cNvSpPr>
          <p:nvPr>
            <p:ph type="sldNum" idx="12"/>
          </p:nvPr>
        </p:nvSpPr>
        <p:spPr/>
        <p:txBody>
          <a:bodyPr/>
          <a:lstStyle/>
          <a:p>
            <a:pPr>
              <a:defRPr/>
            </a:pPr>
            <a:fld id="{C47352ED-CA36-4D3E-BDAD-C75263ED03EB}" type="slidenum">
              <a:rPr lang="en-US" smtClean="0"/>
              <a:pPr>
                <a:defRPr/>
              </a:pPr>
              <a:t>30</a:t>
            </a:fld>
            <a:endParaRPr lang="en-US"/>
          </a:p>
        </p:txBody>
      </p:sp>
      <p:pic>
        <p:nvPicPr>
          <p:cNvPr id="4" name="Picture 3">
            <a:extLst>
              <a:ext uri="{FF2B5EF4-FFF2-40B4-BE49-F238E27FC236}">
                <a16:creationId xmlns:a16="http://schemas.microsoft.com/office/drawing/2014/main" id="{4C5B86E1-5F05-F259-E936-4430019F2D36}"/>
              </a:ext>
            </a:extLst>
          </p:cNvPr>
          <p:cNvPicPr>
            <a:picLocks noChangeAspect="1"/>
          </p:cNvPicPr>
          <p:nvPr/>
        </p:nvPicPr>
        <p:blipFill>
          <a:blip r:embed="rId2"/>
          <a:stretch>
            <a:fillRect/>
          </a:stretch>
        </p:blipFill>
        <p:spPr>
          <a:xfrm>
            <a:off x="-57150" y="210734"/>
            <a:ext cx="7136605" cy="4722031"/>
          </a:xfrm>
          <a:prstGeom prst="rect">
            <a:avLst/>
          </a:prstGeom>
        </p:spPr>
      </p:pic>
      <p:pic>
        <p:nvPicPr>
          <p:cNvPr id="6" name="Picture 5">
            <a:extLst>
              <a:ext uri="{FF2B5EF4-FFF2-40B4-BE49-F238E27FC236}">
                <a16:creationId xmlns:a16="http://schemas.microsoft.com/office/drawing/2014/main" id="{13398C44-4524-34D2-7FD8-F5CC3AB191EA}"/>
              </a:ext>
            </a:extLst>
          </p:cNvPr>
          <p:cNvPicPr>
            <a:picLocks noChangeAspect="1"/>
          </p:cNvPicPr>
          <p:nvPr/>
        </p:nvPicPr>
        <p:blipFill>
          <a:blip r:embed="rId3"/>
          <a:stretch>
            <a:fillRect/>
          </a:stretch>
        </p:blipFill>
        <p:spPr>
          <a:xfrm>
            <a:off x="6374607" y="2074683"/>
            <a:ext cx="2605086" cy="2572109"/>
          </a:xfrm>
          <a:prstGeom prst="rect">
            <a:avLst/>
          </a:prstGeom>
        </p:spPr>
      </p:pic>
    </p:spTree>
    <p:extLst>
      <p:ext uri="{BB962C8B-B14F-4D97-AF65-F5344CB8AC3E}">
        <p14:creationId xmlns:p14="http://schemas.microsoft.com/office/powerpoint/2010/main" val="42091322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Google Shape;353;p10">
            <a:extLst>
              <a:ext uri="{FF2B5EF4-FFF2-40B4-BE49-F238E27FC236}">
                <a16:creationId xmlns:a16="http://schemas.microsoft.com/office/drawing/2014/main" id="{C27E8C82-52E8-B09F-6D1D-531CFFAC2AA0}"/>
              </a:ext>
            </a:extLst>
          </p:cNvPr>
          <p:cNvSpPr txBox="1">
            <a:spLocks noChangeArrowheads="1"/>
          </p:cNvSpPr>
          <p:nvPr/>
        </p:nvSpPr>
        <p:spPr bwMode="auto">
          <a:xfrm>
            <a:off x="0" y="152400"/>
            <a:ext cx="914400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a:lnSpc>
                <a:spcPct val="120000"/>
              </a:lnSpc>
            </a:pPr>
            <a:r>
              <a:rPr lang="en-US" altLang="en-US" sz="3200" b="1">
                <a:latin typeface="Times New Roman" panose="02020603050405020304" pitchFamily="18" charset="0"/>
                <a:cs typeface="Times New Roman" panose="02020603050405020304" pitchFamily="18" charset="0"/>
                <a:sym typeface="Times New Roman" panose="02020603050405020304" pitchFamily="18" charset="0"/>
              </a:rPr>
              <a:t>Conclusion</a:t>
            </a:r>
            <a:endParaRPr lang="en-US" altLang="en-US" sz="700">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3" name="TextBox 2">
            <a:extLst>
              <a:ext uri="{FF2B5EF4-FFF2-40B4-BE49-F238E27FC236}">
                <a16:creationId xmlns:a16="http://schemas.microsoft.com/office/drawing/2014/main" id="{E99D16DB-F149-235B-7B88-E2CD908A4ABD}"/>
              </a:ext>
            </a:extLst>
          </p:cNvPr>
          <p:cNvSpPr txBox="1"/>
          <p:nvPr/>
        </p:nvSpPr>
        <p:spPr>
          <a:xfrm>
            <a:off x="489347" y="742950"/>
            <a:ext cx="8165306" cy="3970318"/>
          </a:xfrm>
          <a:prstGeom prst="rect">
            <a:avLst/>
          </a:prstGeom>
          <a:noFill/>
        </p:spPr>
        <p:txBody>
          <a:bodyPr wrap="square">
            <a:spAutoFit/>
          </a:bodyPr>
          <a:lstStyle/>
          <a:p>
            <a:pPr algn="just"/>
            <a:r>
              <a:rPr lang="en-US" sz="1800" dirty="0">
                <a:effectLst/>
                <a:latin typeface="Times New Roman" panose="02020603050405020304" pitchFamily="18" charset="0"/>
                <a:ea typeface="Times New Roman" panose="02020603050405020304" pitchFamily="18" charset="0"/>
              </a:rPr>
              <a:t>We hereby conclude that this project demonstrates the powerful synergy between traditional statistical models and modern AI techniques for analyzing global energy consumption. By combining </a:t>
            </a:r>
            <a:r>
              <a:rPr lang="en-US" sz="1800" b="1" dirty="0">
                <a:effectLst/>
                <a:latin typeface="Times New Roman" panose="02020603050405020304" pitchFamily="18" charset="0"/>
                <a:ea typeface="Times New Roman" panose="02020603050405020304" pitchFamily="18" charset="0"/>
              </a:rPr>
              <a:t>Time Series models (ARIMA, SARIMA)</a:t>
            </a:r>
            <a:r>
              <a:rPr lang="en-US" sz="1800" dirty="0">
                <a:effectLst/>
                <a:latin typeface="Times New Roman" panose="02020603050405020304" pitchFamily="18" charset="0"/>
                <a:ea typeface="Times New Roman" panose="02020603050405020304" pitchFamily="18" charset="0"/>
              </a:rPr>
              <a:t> with </a:t>
            </a:r>
            <a:r>
              <a:rPr lang="en-US" sz="1800" b="1" dirty="0">
                <a:effectLst/>
                <a:latin typeface="Times New Roman" panose="02020603050405020304" pitchFamily="18" charset="0"/>
                <a:ea typeface="Times New Roman" panose="02020603050405020304" pitchFamily="18" charset="0"/>
              </a:rPr>
              <a:t>Fine-Tuned Large Language Models (LLMs)</a:t>
            </a:r>
            <a:r>
              <a:rPr lang="en-US" sz="1800" dirty="0">
                <a:effectLst/>
                <a:latin typeface="Times New Roman" panose="02020603050405020304" pitchFamily="18" charset="0"/>
                <a:ea typeface="Times New Roman" panose="02020603050405020304" pitchFamily="18" charset="0"/>
              </a:rPr>
              <a:t> like Mistral and Llama, we were able to capture complex patterns and trends in the consumption of non-renewable resources such as coal, oil, and natural gas.</a:t>
            </a:r>
            <a:r>
              <a:rPr lang="en-IN" sz="180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 results show how AI-driven forecasting can complement classical approaches, offering more adaptive and accurate predictions that are essential for today’s rapidly changing energy data. The integration of historical datasets with advanced modeling allows for deeper insights into how energy usage evolves over time and supports the development of smarter, sustainability-focused policies.</a:t>
            </a:r>
            <a:r>
              <a:rPr lang="en-IN" sz="180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Ultimately, this project not only provides a robust framework for forecasting global energy trends but also reinforces the critical role of data-driven approaches in addressing environmental challenges and guiding strategic decision-making toward a more sustainable future.</a:t>
            </a:r>
            <a:endParaRPr lang="en-IN" sz="1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4"/>
          <p:cNvSpPr txBox="1">
            <a:spLocks noGrp="1"/>
          </p:cNvSpPr>
          <p:nvPr>
            <p:ph type="ctrTitle"/>
          </p:nvPr>
        </p:nvSpPr>
        <p:spPr>
          <a:xfrm>
            <a:off x="0" y="0"/>
            <a:ext cx="9144000" cy="6498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US"/>
              <a:t>List of standards</a:t>
            </a:r>
            <a:endParaRPr/>
          </a:p>
        </p:txBody>
      </p:sp>
      <p:sp>
        <p:nvSpPr>
          <p:cNvPr id="236" name="Google Shape;236;p34"/>
          <p:cNvSpPr txBox="1">
            <a:spLocks noGrp="1"/>
          </p:cNvSpPr>
          <p:nvPr>
            <p:ph type="body" idx="1"/>
          </p:nvPr>
        </p:nvSpPr>
        <p:spPr>
          <a:xfrm>
            <a:off x="165100" y="914400"/>
            <a:ext cx="8763000" cy="3479700"/>
          </a:xfrm>
          <a:prstGeom prst="rect">
            <a:avLst/>
          </a:prstGeom>
        </p:spPr>
        <p:txBody>
          <a:bodyPr spcFirstLastPara="1" wrap="square" lIns="91425" tIns="91425" rIns="91425" bIns="91425" anchor="t" anchorCtr="0">
            <a:noAutofit/>
          </a:bodyPr>
          <a:lstStyle/>
          <a:p>
            <a:pPr marL="457200" lvl="0" indent="-342900" algn="l" rtl="0">
              <a:lnSpc>
                <a:spcPct val="115000"/>
              </a:lnSpc>
              <a:spcBef>
                <a:spcPts val="1200"/>
              </a:spcBef>
              <a:spcAft>
                <a:spcPts val="0"/>
              </a:spcAft>
              <a:buClr>
                <a:schemeClr val="dk1"/>
              </a:buClr>
              <a:buSzPts val="1800"/>
              <a:buChar char="●"/>
            </a:pPr>
            <a:r>
              <a:rPr lang="en-US" sz="1800" dirty="0">
                <a:solidFill>
                  <a:schemeClr val="dk1"/>
                </a:solidFill>
              </a:rPr>
              <a:t>For creating diagrams:</a:t>
            </a:r>
            <a:endParaRPr sz="1800" dirty="0">
              <a:solidFill>
                <a:schemeClr val="dk1"/>
              </a:solidFill>
            </a:endParaRPr>
          </a:p>
          <a:p>
            <a:pPr marL="457200" lvl="0" indent="-342900" algn="l" rtl="0">
              <a:lnSpc>
                <a:spcPct val="115000"/>
              </a:lnSpc>
              <a:spcBef>
                <a:spcPts val="0"/>
              </a:spcBef>
              <a:spcAft>
                <a:spcPts val="0"/>
              </a:spcAft>
              <a:buClr>
                <a:schemeClr val="dk1"/>
              </a:buClr>
              <a:buSzPts val="1800"/>
              <a:buChar char="●"/>
            </a:pPr>
            <a:r>
              <a:rPr lang="en-US" sz="1800" dirty="0">
                <a:solidFill>
                  <a:schemeClr val="dk1"/>
                </a:solidFill>
              </a:rPr>
              <a:t>Miro– Used for creating high-quality and visually appealing diagrams.</a:t>
            </a:r>
            <a:endParaRPr sz="1800" dirty="0">
              <a:solidFill>
                <a:schemeClr val="dk1"/>
              </a:solidFill>
            </a:endParaRPr>
          </a:p>
          <a:p>
            <a:pPr marL="457200" lvl="0" indent="-342900" algn="l" rtl="0">
              <a:lnSpc>
                <a:spcPct val="115000"/>
              </a:lnSpc>
              <a:spcBef>
                <a:spcPts val="0"/>
              </a:spcBef>
              <a:spcAft>
                <a:spcPts val="0"/>
              </a:spcAft>
              <a:buClr>
                <a:schemeClr val="dk1"/>
              </a:buClr>
              <a:buSzPts val="1800"/>
              <a:buFont typeface="Times New Roman"/>
              <a:buChar char="●"/>
            </a:pPr>
            <a:r>
              <a:rPr lang="en-US" sz="1800" dirty="0">
                <a:solidFill>
                  <a:schemeClr val="dk1"/>
                </a:solidFill>
              </a:rPr>
              <a:t>Followed coding standards with modularized structure, efficient data handling, transfer learning, and class imbalance handling for better readability, maintainability, and performance.</a:t>
            </a:r>
            <a:endParaRPr sz="1800" dirty="0">
              <a:solidFill>
                <a:schemeClr val="dk1"/>
              </a:solidFill>
            </a:endParaRPr>
          </a:p>
          <a:p>
            <a:pPr marL="0" lvl="0" indent="0" algn="l" rtl="0">
              <a:spcBef>
                <a:spcPts val="1200"/>
              </a:spcBef>
              <a:spcAft>
                <a:spcPts val="0"/>
              </a:spcAft>
              <a:buNone/>
            </a:pPr>
            <a:endParaRPr dirty="0"/>
          </a:p>
        </p:txBody>
      </p:sp>
      <p:sp>
        <p:nvSpPr>
          <p:cNvPr id="237" name="Google Shape;237;p34"/>
          <p:cNvSpPr txBox="1">
            <a:spLocks noGrp="1"/>
          </p:cNvSpPr>
          <p:nvPr>
            <p:ph type="sldNum" idx="12"/>
          </p:nvPr>
        </p:nvSpPr>
        <p:spPr>
          <a:xfrm>
            <a:off x="8472488" y="4662488"/>
            <a:ext cx="5493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US"/>
              <a:t>32</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Google Shape;353;p10">
            <a:extLst>
              <a:ext uri="{FF2B5EF4-FFF2-40B4-BE49-F238E27FC236}">
                <a16:creationId xmlns:a16="http://schemas.microsoft.com/office/drawing/2014/main" id="{40090377-C07F-9F1F-68B0-54A26C85CB04}"/>
              </a:ext>
            </a:extLst>
          </p:cNvPr>
          <p:cNvSpPr txBox="1">
            <a:spLocks noChangeArrowheads="1"/>
          </p:cNvSpPr>
          <p:nvPr/>
        </p:nvSpPr>
        <p:spPr bwMode="auto">
          <a:xfrm>
            <a:off x="0" y="152400"/>
            <a:ext cx="914400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a:lnSpc>
                <a:spcPct val="120000"/>
              </a:lnSpc>
            </a:pPr>
            <a:r>
              <a:rPr lang="en-US" altLang="en-US" sz="3200" b="1">
                <a:latin typeface="Times New Roman" panose="02020603050405020304" pitchFamily="18" charset="0"/>
                <a:cs typeface="Times New Roman" panose="02020603050405020304" pitchFamily="18" charset="0"/>
                <a:sym typeface="Times New Roman" panose="02020603050405020304" pitchFamily="18" charset="0"/>
              </a:rPr>
              <a:t>Future Enhancements</a:t>
            </a:r>
            <a:endParaRPr lang="en-US" altLang="en-US" sz="700">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TextBox 1">
            <a:extLst>
              <a:ext uri="{FF2B5EF4-FFF2-40B4-BE49-F238E27FC236}">
                <a16:creationId xmlns:a16="http://schemas.microsoft.com/office/drawing/2014/main" id="{4C73C384-5C12-2EB2-612D-0EB29F4378C0}"/>
              </a:ext>
            </a:extLst>
          </p:cNvPr>
          <p:cNvSpPr txBox="1"/>
          <p:nvPr/>
        </p:nvSpPr>
        <p:spPr>
          <a:xfrm>
            <a:off x="372533" y="914400"/>
            <a:ext cx="8493760" cy="3782061"/>
          </a:xfrm>
          <a:prstGeom prst="rect">
            <a:avLst/>
          </a:prstGeom>
          <a:noFill/>
        </p:spPr>
        <p:txBody>
          <a:bodyPr wrap="square" rtlCol="0">
            <a:spAutoFit/>
          </a:bodyPr>
          <a:lstStyle/>
          <a:p>
            <a:pPr marL="0" marR="12700" algn="just">
              <a:lnSpc>
                <a:spcPct val="150000"/>
              </a:lnSpc>
              <a:buNone/>
            </a:pPr>
            <a:r>
              <a:rPr lang="en-US" sz="1800" b="1" dirty="0">
                <a:effectLst/>
                <a:latin typeface="Times New Roman" panose="02020603050405020304" pitchFamily="18" charset="0"/>
                <a:ea typeface="Times New Roman" panose="02020603050405020304" pitchFamily="18" charset="0"/>
              </a:rPr>
              <a:t>Real-Time Forecasting Dashboard: </a:t>
            </a:r>
            <a:endParaRPr lang="en-IN" sz="1800" b="1" dirty="0">
              <a:effectLst/>
              <a:latin typeface="Times New Roman" panose="02020603050405020304" pitchFamily="18" charset="0"/>
              <a:ea typeface="Times New Roman" panose="02020603050405020304" pitchFamily="18" charset="0"/>
            </a:endParaRPr>
          </a:p>
          <a:p>
            <a:pPr marL="0" marR="12700" algn="just">
              <a:lnSpc>
                <a:spcPct val="150000"/>
              </a:lnSpc>
              <a:buNone/>
            </a:pPr>
            <a:r>
              <a:rPr lang="en-US" sz="1800" dirty="0">
                <a:effectLst/>
                <a:latin typeface="Times New Roman" panose="02020603050405020304" pitchFamily="18" charset="0"/>
                <a:ea typeface="Times New Roman" panose="02020603050405020304" pitchFamily="18" charset="0"/>
              </a:rPr>
              <a:t>Create an interactive web dashboard (using </a:t>
            </a:r>
            <a:r>
              <a:rPr lang="en-US" sz="1800" dirty="0" err="1">
                <a:effectLst/>
                <a:latin typeface="Times New Roman" panose="02020603050405020304" pitchFamily="18" charset="0"/>
                <a:ea typeface="Times New Roman" panose="02020603050405020304" pitchFamily="18" charset="0"/>
              </a:rPr>
              <a:t>Streamlit</a:t>
            </a:r>
            <a:r>
              <a:rPr lang="en-US" sz="1800" dirty="0">
                <a:effectLst/>
                <a:latin typeface="Times New Roman" panose="02020603050405020304" pitchFamily="18" charset="0"/>
                <a:ea typeface="Times New Roman" panose="02020603050405020304" pitchFamily="18" charset="0"/>
              </a:rPr>
              <a:t> or Dash) where users can choose a country and instantly view forecasts, charts, and model comparisons.</a:t>
            </a:r>
            <a:r>
              <a:rPr lang="en-IN" sz="1800" dirty="0">
                <a:effectLst/>
                <a:latin typeface="Times New Roman" panose="02020603050405020304" pitchFamily="18" charset="0"/>
                <a:ea typeface="Times New Roman" panose="02020603050405020304" pitchFamily="18" charset="0"/>
              </a:rPr>
              <a:t> </a:t>
            </a:r>
          </a:p>
          <a:p>
            <a:pPr marL="0" marR="12700" algn="just">
              <a:lnSpc>
                <a:spcPct val="150000"/>
              </a:lnSpc>
              <a:buNone/>
            </a:pPr>
            <a:r>
              <a:rPr lang="en-US" sz="1800" b="1" dirty="0">
                <a:effectLst/>
                <a:latin typeface="Times New Roman" panose="02020603050405020304" pitchFamily="18" charset="0"/>
                <a:ea typeface="Times New Roman" panose="02020603050405020304" pitchFamily="18" charset="0"/>
              </a:rPr>
              <a:t>Support for Additional Forecasting Models:</a:t>
            </a:r>
            <a:endParaRPr lang="en-IN" sz="1800" b="1" dirty="0">
              <a:effectLst/>
              <a:latin typeface="Times New Roman" panose="02020603050405020304" pitchFamily="18" charset="0"/>
              <a:ea typeface="Times New Roman" panose="02020603050405020304" pitchFamily="18" charset="0"/>
            </a:endParaRPr>
          </a:p>
          <a:p>
            <a:pPr marL="0" marR="12700" algn="just">
              <a:lnSpc>
                <a:spcPct val="150000"/>
              </a:lnSpc>
              <a:buNone/>
            </a:pPr>
            <a:r>
              <a:rPr lang="en-US" sz="1800" dirty="0">
                <a:effectLst/>
                <a:latin typeface="Times New Roman" panose="02020603050405020304" pitchFamily="18" charset="0"/>
                <a:ea typeface="Times New Roman" panose="02020603050405020304" pitchFamily="18" charset="0"/>
              </a:rPr>
              <a:t>Add models like Facebook Prophet (already hinted at), LSTM, </a:t>
            </a:r>
            <a:r>
              <a:rPr lang="en-US" sz="1800" dirty="0" err="1">
                <a:effectLst/>
                <a:latin typeface="Times New Roman" panose="02020603050405020304" pitchFamily="18" charset="0"/>
                <a:ea typeface="Times New Roman" panose="02020603050405020304" pitchFamily="18" charset="0"/>
              </a:rPr>
              <a:t>XGBoost</a:t>
            </a:r>
            <a:r>
              <a:rPr lang="en-US" sz="1800" dirty="0">
                <a:effectLst/>
                <a:latin typeface="Times New Roman" panose="02020603050405020304" pitchFamily="18" charset="0"/>
                <a:ea typeface="Times New Roman" panose="02020603050405020304" pitchFamily="18" charset="0"/>
              </a:rPr>
              <a:t>, or hybrid models to broaden forecasting capabilities and improve accuracy.</a:t>
            </a:r>
            <a:r>
              <a:rPr lang="en-IN" sz="1800" dirty="0">
                <a:effectLst/>
                <a:latin typeface="Times New Roman" panose="02020603050405020304" pitchFamily="18" charset="0"/>
                <a:ea typeface="Times New Roman" panose="02020603050405020304" pitchFamily="18" charset="0"/>
              </a:rPr>
              <a:t> </a:t>
            </a:r>
          </a:p>
          <a:p>
            <a:pPr marL="0" marR="12700" algn="just">
              <a:lnSpc>
                <a:spcPct val="150000"/>
              </a:lnSpc>
              <a:buNone/>
            </a:pPr>
            <a:r>
              <a:rPr lang="en-US" sz="1800" b="1" dirty="0">
                <a:effectLst/>
                <a:latin typeface="Times New Roman" panose="02020603050405020304" pitchFamily="18" charset="0"/>
                <a:ea typeface="Times New Roman" panose="02020603050405020304" pitchFamily="18" charset="0"/>
              </a:rPr>
              <a:t>Model Auto-Tuning and Benchmarking:</a:t>
            </a:r>
            <a:endParaRPr lang="en-IN" sz="1800" b="1" dirty="0">
              <a:effectLst/>
              <a:latin typeface="Times New Roman" panose="02020603050405020304" pitchFamily="18" charset="0"/>
              <a:ea typeface="Times New Roman" panose="02020603050405020304" pitchFamily="18" charset="0"/>
            </a:endParaRPr>
          </a:p>
          <a:p>
            <a:pPr marL="0" marR="12700" algn="just">
              <a:lnSpc>
                <a:spcPct val="150000"/>
              </a:lnSpc>
              <a:buNone/>
            </a:pPr>
            <a:r>
              <a:rPr lang="en-US" sz="1800" dirty="0">
                <a:effectLst/>
                <a:latin typeface="Times New Roman" panose="02020603050405020304" pitchFamily="18" charset="0"/>
                <a:ea typeface="Times New Roman" panose="02020603050405020304" pitchFamily="18" charset="0"/>
              </a:rPr>
              <a:t>Integrate automated hyperparameter tuning tools (e.g. </a:t>
            </a:r>
            <a:r>
              <a:rPr lang="en-US" sz="1800" dirty="0" err="1">
                <a:effectLst/>
                <a:latin typeface="Times New Roman" panose="02020603050405020304" pitchFamily="18" charset="0"/>
                <a:ea typeface="Times New Roman" panose="02020603050405020304" pitchFamily="18" charset="0"/>
              </a:rPr>
              <a:t>GridSearch</a:t>
            </a:r>
            <a:r>
              <a:rPr lang="en-US" sz="1800" dirty="0">
                <a:effectLst/>
                <a:latin typeface="Times New Roman" panose="02020603050405020304" pitchFamily="18" charset="0"/>
                <a:ea typeface="Times New Roman" panose="02020603050405020304" pitchFamily="18" charset="0"/>
              </a:rPr>
              <a:t>) to fine-tune ARIMA/SARIMA and LLM prompts for better performance.</a:t>
            </a:r>
            <a:r>
              <a:rPr lang="en-IN" sz="1800" dirty="0">
                <a:effectLst/>
                <a:latin typeface="Times New Roman" panose="02020603050405020304" pitchFamily="18" charset="0"/>
                <a:ea typeface="Times New Roman" panose="02020603050405020304" pitchFamily="18" charset="0"/>
              </a:rPr>
              <a:t>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8099D72-C041-E2F7-5FEF-567498AEC1C3}"/>
              </a:ext>
            </a:extLst>
          </p:cNvPr>
          <p:cNvSpPr txBox="1"/>
          <p:nvPr/>
        </p:nvSpPr>
        <p:spPr>
          <a:xfrm>
            <a:off x="264159" y="318346"/>
            <a:ext cx="8622453" cy="3730317"/>
          </a:xfrm>
          <a:prstGeom prst="rect">
            <a:avLst/>
          </a:prstGeom>
          <a:noFill/>
        </p:spPr>
        <p:txBody>
          <a:bodyPr wrap="square">
            <a:spAutoFit/>
          </a:bodyPr>
          <a:lstStyle/>
          <a:p>
            <a:pPr marL="0" marR="12700" algn="just">
              <a:lnSpc>
                <a:spcPct val="150000"/>
              </a:lnSpc>
              <a:buNone/>
            </a:pPr>
            <a:endParaRPr lang="en-IN" sz="2000" dirty="0">
              <a:effectLst/>
              <a:latin typeface="Times New Roman" panose="02020603050405020304" pitchFamily="18" charset="0"/>
              <a:ea typeface="Times New Roman" panose="02020603050405020304" pitchFamily="18" charset="0"/>
            </a:endParaRPr>
          </a:p>
          <a:p>
            <a:pPr marL="0" marR="12700" algn="just">
              <a:lnSpc>
                <a:spcPct val="150000"/>
              </a:lnSpc>
              <a:buNone/>
            </a:pPr>
            <a:r>
              <a:rPr lang="en-US" sz="2000" b="1" dirty="0">
                <a:effectLst/>
                <a:latin typeface="Times New Roman" panose="02020603050405020304" pitchFamily="18" charset="0"/>
                <a:ea typeface="Times New Roman" panose="02020603050405020304" pitchFamily="18" charset="0"/>
              </a:rPr>
              <a:t>Natural Language Interaction Layer:</a:t>
            </a:r>
            <a:endParaRPr lang="en-IN" sz="2000" b="1" dirty="0">
              <a:effectLst/>
              <a:latin typeface="Times New Roman" panose="02020603050405020304" pitchFamily="18" charset="0"/>
              <a:ea typeface="Times New Roman" panose="02020603050405020304" pitchFamily="18" charset="0"/>
            </a:endParaRPr>
          </a:p>
          <a:p>
            <a:pPr marL="0" marR="12700" algn="just">
              <a:lnSpc>
                <a:spcPct val="150000"/>
              </a:lnSpc>
              <a:buNone/>
            </a:pPr>
            <a:r>
              <a:rPr lang="en-US" sz="2000" dirty="0">
                <a:effectLst/>
                <a:latin typeface="Times New Roman" panose="02020603050405020304" pitchFamily="18" charset="0"/>
                <a:ea typeface="Times New Roman" panose="02020603050405020304" pitchFamily="18" charset="0"/>
              </a:rPr>
              <a:t>Let users interact with the system using natural language (e.g., “What will the temperature in Spain be next month?”), with the LLM parsing the intent.</a:t>
            </a:r>
            <a:r>
              <a:rPr lang="en-IN" sz="2000" dirty="0">
                <a:effectLst/>
                <a:latin typeface="Times New Roman" panose="02020603050405020304" pitchFamily="18" charset="0"/>
                <a:ea typeface="Times New Roman" panose="02020603050405020304" pitchFamily="18" charset="0"/>
              </a:rPr>
              <a:t> </a:t>
            </a:r>
          </a:p>
          <a:p>
            <a:pPr marL="0" marR="12700" algn="just">
              <a:lnSpc>
                <a:spcPct val="150000"/>
              </a:lnSpc>
              <a:buNone/>
            </a:pPr>
            <a:r>
              <a:rPr lang="en-IN" sz="2000" dirty="0">
                <a:effectLst/>
                <a:latin typeface="Times New Roman" panose="02020603050405020304" pitchFamily="18" charset="0"/>
                <a:ea typeface="Times New Roman" panose="02020603050405020304" pitchFamily="18" charset="0"/>
              </a:rPr>
              <a:t> </a:t>
            </a:r>
          </a:p>
          <a:p>
            <a:pPr marL="0" marR="12700" algn="just">
              <a:lnSpc>
                <a:spcPct val="150000"/>
              </a:lnSpc>
              <a:buNone/>
            </a:pPr>
            <a:r>
              <a:rPr lang="en-US" sz="2000" b="1" dirty="0">
                <a:effectLst/>
                <a:latin typeface="Times New Roman" panose="02020603050405020304" pitchFamily="18" charset="0"/>
                <a:ea typeface="Times New Roman" panose="02020603050405020304" pitchFamily="18" charset="0"/>
              </a:rPr>
              <a:t>Explainability and Visualization Tools:</a:t>
            </a:r>
            <a:endParaRPr lang="en-IN" sz="2000" b="1" dirty="0">
              <a:effectLst/>
              <a:latin typeface="Times New Roman" panose="02020603050405020304" pitchFamily="18" charset="0"/>
              <a:ea typeface="Times New Roman" panose="02020603050405020304" pitchFamily="18" charset="0"/>
            </a:endParaRPr>
          </a:p>
          <a:p>
            <a:pPr marL="0" marR="12700" algn="just">
              <a:lnSpc>
                <a:spcPct val="150000"/>
              </a:lnSpc>
            </a:pPr>
            <a:r>
              <a:rPr lang="en-US" sz="2000" dirty="0">
                <a:effectLst/>
                <a:latin typeface="Times New Roman" panose="02020603050405020304" pitchFamily="18" charset="0"/>
                <a:ea typeface="Times New Roman" panose="02020603050405020304" pitchFamily="18" charset="0"/>
              </a:rPr>
              <a:t>Adding Tableau or </a:t>
            </a:r>
            <a:r>
              <a:rPr lang="en-US" sz="2000" dirty="0" err="1">
                <a:effectLst/>
                <a:latin typeface="Times New Roman" panose="02020603050405020304" pitchFamily="18" charset="0"/>
                <a:ea typeface="Times New Roman" panose="02020603050405020304" pitchFamily="18" charset="0"/>
              </a:rPr>
              <a:t>PowerBI</a:t>
            </a:r>
            <a:r>
              <a:rPr lang="en-US" sz="2000" dirty="0">
                <a:effectLst/>
                <a:latin typeface="Times New Roman" panose="02020603050405020304" pitchFamily="18" charset="0"/>
                <a:ea typeface="Times New Roman" panose="02020603050405020304" pitchFamily="18" charset="0"/>
              </a:rPr>
              <a:t> or other explainability libraries to give users insights into why a model made a certain prediction.</a:t>
            </a:r>
            <a:r>
              <a:rPr lang="en-IN" sz="2000" dirty="0">
                <a:effectLst/>
                <a:latin typeface="Times New Roman" panose="02020603050405020304" pitchFamily="18" charset="0"/>
                <a:ea typeface="Times New Roman" panose="02020603050405020304" pitchFamily="18" charset="0"/>
              </a:rPr>
              <a:t> </a:t>
            </a:r>
          </a:p>
        </p:txBody>
      </p:sp>
    </p:spTree>
    <p:extLst>
      <p:ext uri="{BB962C8B-B14F-4D97-AF65-F5344CB8AC3E}">
        <p14:creationId xmlns:p14="http://schemas.microsoft.com/office/powerpoint/2010/main" val="16999351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4"/>
          <p:cNvSpPr txBox="1">
            <a:spLocks noGrp="1"/>
          </p:cNvSpPr>
          <p:nvPr>
            <p:ph type="body" idx="1"/>
          </p:nvPr>
        </p:nvSpPr>
        <p:spPr>
          <a:xfrm>
            <a:off x="230175" y="559600"/>
            <a:ext cx="8697900" cy="4322100"/>
          </a:xfrm>
          <a:prstGeom prst="rect">
            <a:avLst/>
          </a:prstGeom>
          <a:noFill/>
          <a:ln>
            <a:noFill/>
          </a:ln>
        </p:spPr>
        <p:txBody>
          <a:bodyPr spcFirstLastPara="1" wrap="square" lIns="91425" tIns="91425" rIns="91425" bIns="91425" anchor="t" anchorCtr="0">
            <a:noAutofit/>
          </a:bodyPr>
          <a:lstStyle/>
          <a:p>
            <a:pPr marL="0" lvl="0" indent="0" algn="just" rtl="0">
              <a:lnSpc>
                <a:spcPct val="100000"/>
              </a:lnSpc>
              <a:spcBef>
                <a:spcPts val="0"/>
              </a:spcBef>
              <a:spcAft>
                <a:spcPts val="0"/>
              </a:spcAft>
              <a:buNone/>
            </a:pPr>
            <a:r>
              <a:rPr lang="en-US" sz="1900" b="1"/>
              <a:t>1. </a:t>
            </a:r>
            <a:r>
              <a:rPr lang="en-US" sz="1900"/>
              <a:t>A. B. Amjoud and M. Amrouch, "Object Detection Using Deep Learning, CNNs and Vision Transformers: A Review," in IEEE Access, vol. 11, pp. 35479-35516, 2023.</a:t>
            </a:r>
            <a:endParaRPr sz="1900"/>
          </a:p>
          <a:p>
            <a:pPr marL="457200" lvl="0" indent="0" algn="just" rtl="0">
              <a:lnSpc>
                <a:spcPct val="100000"/>
              </a:lnSpc>
              <a:spcBef>
                <a:spcPts val="0"/>
              </a:spcBef>
              <a:spcAft>
                <a:spcPts val="0"/>
              </a:spcAft>
              <a:buNone/>
            </a:pPr>
            <a:endParaRPr sz="1900"/>
          </a:p>
          <a:p>
            <a:pPr marL="0" lvl="0" indent="0" algn="just" rtl="0">
              <a:lnSpc>
                <a:spcPct val="100000"/>
              </a:lnSpc>
              <a:spcBef>
                <a:spcPts val="0"/>
              </a:spcBef>
              <a:spcAft>
                <a:spcPts val="0"/>
              </a:spcAft>
              <a:buNone/>
            </a:pPr>
            <a:r>
              <a:rPr lang="en-US" sz="1900" b="1"/>
              <a:t>2. </a:t>
            </a:r>
            <a:r>
              <a:rPr lang="en-US" sz="1900"/>
              <a:t>Z. Liu, J. Wu, L. Guo, "Energy Time Series Forecasting—Analytical and Empirical Assessment of Conventional and Machine Learning Models," in Energy Procedia, vol. 100, pp. 423-429, 2021.</a:t>
            </a:r>
            <a:endParaRPr sz="1900"/>
          </a:p>
          <a:p>
            <a:pPr marL="457200" lvl="0" indent="0" algn="just" rtl="0">
              <a:lnSpc>
                <a:spcPct val="100000"/>
              </a:lnSpc>
              <a:spcBef>
                <a:spcPts val="0"/>
              </a:spcBef>
              <a:spcAft>
                <a:spcPts val="0"/>
              </a:spcAft>
              <a:buNone/>
            </a:pPr>
            <a:endParaRPr sz="1900"/>
          </a:p>
          <a:p>
            <a:pPr marL="0" lvl="0" indent="0" algn="just" rtl="0">
              <a:lnSpc>
                <a:spcPct val="100000"/>
              </a:lnSpc>
              <a:spcBef>
                <a:spcPts val="0"/>
              </a:spcBef>
              <a:spcAft>
                <a:spcPts val="0"/>
              </a:spcAft>
              <a:buNone/>
            </a:pPr>
            <a:r>
              <a:rPr lang="en-US" sz="1900" b="1"/>
              <a:t>3. </a:t>
            </a:r>
            <a:r>
              <a:rPr lang="en-US" sz="1900"/>
              <a:t>J. K. Smith, S. R. Lee, "Energy Consumption Prediction Using Deep Learning Technique," in IEEE Transactions on Smart Grid, vol. 11, no. 4, pp. 2451-2460, 2020.</a:t>
            </a:r>
            <a:endParaRPr sz="1900"/>
          </a:p>
          <a:p>
            <a:pPr marL="0" lvl="0" indent="0" algn="just" rtl="0">
              <a:spcBef>
                <a:spcPts val="0"/>
              </a:spcBef>
              <a:spcAft>
                <a:spcPts val="0"/>
              </a:spcAft>
              <a:buClr>
                <a:schemeClr val="dk1"/>
              </a:buClr>
              <a:buSzPts val="1100"/>
              <a:buFont typeface="Arial"/>
              <a:buNone/>
            </a:pPr>
            <a:endParaRPr sz="1900">
              <a:solidFill>
                <a:schemeClr val="dk1"/>
              </a:solidFill>
            </a:endParaRPr>
          </a:p>
          <a:p>
            <a:pPr marL="0" lvl="0" indent="0" algn="just" rtl="0">
              <a:spcBef>
                <a:spcPts val="0"/>
              </a:spcBef>
              <a:spcAft>
                <a:spcPts val="0"/>
              </a:spcAft>
              <a:buClr>
                <a:schemeClr val="dk1"/>
              </a:buClr>
              <a:buSzPts val="1100"/>
              <a:buFont typeface="Arial"/>
              <a:buNone/>
            </a:pPr>
            <a:r>
              <a:rPr lang="en-US" sz="1900" b="1">
                <a:solidFill>
                  <a:schemeClr val="dk1"/>
                </a:solidFill>
              </a:rPr>
              <a:t>4. </a:t>
            </a:r>
            <a:r>
              <a:rPr lang="en-US" sz="1900">
                <a:solidFill>
                  <a:schemeClr val="dk1"/>
                </a:solidFill>
              </a:rPr>
              <a:t>D. A. Lopez, L. K. Garcia, "Enhanced Data Processing and Machine Learning Techniques for Scenario-Based Prediction of Climate Change Impacts on Building Cooling Energy Consumption with Explainable Artificial Intelligence," in Energy and Buildings, vol. 274, pp. 113585, 2024.</a:t>
            </a:r>
            <a:endParaRPr sz="1900">
              <a:solidFill>
                <a:schemeClr val="dk1"/>
              </a:solidFill>
            </a:endParaRPr>
          </a:p>
          <a:p>
            <a:pPr marL="0" lvl="0" indent="0" algn="just" rtl="0">
              <a:lnSpc>
                <a:spcPct val="100000"/>
              </a:lnSpc>
              <a:spcBef>
                <a:spcPts val="0"/>
              </a:spcBef>
              <a:spcAft>
                <a:spcPts val="0"/>
              </a:spcAft>
              <a:buNone/>
            </a:pPr>
            <a:endParaRPr sz="1900"/>
          </a:p>
        </p:txBody>
      </p:sp>
      <p:sp>
        <p:nvSpPr>
          <p:cNvPr id="158" name="Google Shape;158;p24"/>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5200"/>
              <a:buNone/>
            </a:pPr>
            <a:r>
              <a:rPr lang="en-US" sz="2900" b="1" i="0" u="none">
                <a:solidFill>
                  <a:srgbClr val="000000"/>
                </a:solidFill>
                <a:latin typeface="Times New Roman"/>
                <a:ea typeface="Times New Roman"/>
                <a:cs typeface="Times New Roman"/>
                <a:sym typeface="Times New Roman"/>
              </a:rPr>
              <a:t>References</a:t>
            </a:r>
            <a:endParaRPr/>
          </a:p>
        </p:txBody>
      </p:sp>
      <p:sp>
        <p:nvSpPr>
          <p:cNvPr id="159" name="Google Shape;159;p24"/>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a:solidFill>
                  <a:srgbClr val="595959"/>
                </a:solidFill>
                <a:latin typeface="Arial"/>
                <a:ea typeface="Arial"/>
                <a:cs typeface="Arial"/>
                <a:sym typeface="Arial"/>
              </a:rPr>
              <a:t>35</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5"/>
          <p:cNvSpPr txBox="1">
            <a:spLocks noGrp="1"/>
          </p:cNvSpPr>
          <p:nvPr>
            <p:ph type="body" idx="1"/>
          </p:nvPr>
        </p:nvSpPr>
        <p:spPr>
          <a:xfrm>
            <a:off x="223050" y="410700"/>
            <a:ext cx="8697900" cy="4322100"/>
          </a:xfrm>
          <a:prstGeom prst="rect">
            <a:avLst/>
          </a:prstGeom>
          <a:noFill/>
          <a:ln>
            <a:noFill/>
          </a:ln>
        </p:spPr>
        <p:txBody>
          <a:bodyPr spcFirstLastPara="1" wrap="square" lIns="91425" tIns="91425" rIns="91425" bIns="91425" anchor="t" anchorCtr="0">
            <a:noAutofit/>
          </a:bodyPr>
          <a:lstStyle/>
          <a:p>
            <a:pPr marL="0" lvl="0" indent="0" algn="just" rtl="0">
              <a:lnSpc>
                <a:spcPct val="100000"/>
              </a:lnSpc>
              <a:spcBef>
                <a:spcPts val="0"/>
              </a:spcBef>
              <a:spcAft>
                <a:spcPts val="0"/>
              </a:spcAft>
              <a:buNone/>
            </a:pPr>
            <a:r>
              <a:rPr lang="en-US" sz="1900" b="1"/>
              <a:t>5.</a:t>
            </a:r>
            <a:r>
              <a:rPr lang="en-US" sz="1900"/>
              <a:t> P. Y. Wang, H. Zeng, "Machine Learning Algorithms for Predicting Energy Consumption in Smart Buildings," in International Journal of Energy Research, vol. 48, no. 8, pp. 10356-10371, 2024.</a:t>
            </a:r>
            <a:endParaRPr sz="1900"/>
          </a:p>
          <a:p>
            <a:pPr marL="0" lvl="0" indent="0" algn="just" rtl="0">
              <a:lnSpc>
                <a:spcPct val="100000"/>
              </a:lnSpc>
              <a:spcBef>
                <a:spcPts val="0"/>
              </a:spcBef>
              <a:spcAft>
                <a:spcPts val="0"/>
              </a:spcAft>
              <a:buNone/>
            </a:pPr>
            <a:endParaRPr sz="1900"/>
          </a:p>
          <a:p>
            <a:pPr marL="0" lvl="0" indent="0" algn="just" rtl="0">
              <a:lnSpc>
                <a:spcPct val="100000"/>
              </a:lnSpc>
              <a:spcBef>
                <a:spcPts val="0"/>
              </a:spcBef>
              <a:spcAft>
                <a:spcPts val="0"/>
              </a:spcAft>
              <a:buNone/>
            </a:pPr>
            <a:r>
              <a:rPr lang="en-US" sz="1900" b="1">
                <a:solidFill>
                  <a:schemeClr val="dk1"/>
                </a:solidFill>
              </a:rPr>
              <a:t>6. </a:t>
            </a:r>
            <a:r>
              <a:rPr lang="en-US" sz="1900"/>
              <a:t>A. T. Khot, L. S. Zhang, "Electricity Demand Forecasting with Hybrid Statistical and Machine Learning Algorithms: Case Study of Ukraine," in Energy Reports, vol. 9, pp. 923-931, 2023.</a:t>
            </a:r>
            <a:endParaRPr sz="1900"/>
          </a:p>
          <a:p>
            <a:pPr marL="0" lvl="0" indent="0" algn="just" rtl="0">
              <a:lnSpc>
                <a:spcPct val="100000"/>
              </a:lnSpc>
              <a:spcBef>
                <a:spcPts val="0"/>
              </a:spcBef>
              <a:spcAft>
                <a:spcPts val="0"/>
              </a:spcAft>
              <a:buNone/>
            </a:pPr>
            <a:endParaRPr sz="1900"/>
          </a:p>
          <a:p>
            <a:pPr marL="0" lvl="0" indent="0" algn="just" rtl="0">
              <a:lnSpc>
                <a:spcPct val="100000"/>
              </a:lnSpc>
              <a:spcBef>
                <a:spcPts val="0"/>
              </a:spcBef>
              <a:spcAft>
                <a:spcPts val="0"/>
              </a:spcAft>
              <a:buNone/>
            </a:pPr>
            <a:r>
              <a:rPr lang="en-US" sz="1900" b="1">
                <a:solidFill>
                  <a:schemeClr val="dk1"/>
                </a:solidFill>
              </a:rPr>
              <a:t>7. </a:t>
            </a:r>
            <a:r>
              <a:rPr lang="en-US" sz="1900"/>
              <a:t>M. X. Chen, T. R. Li, "DECODE: Data-driven Energy Consumption Prediction Leveraging Historical Data and Environmental Factors in Buildings," in Renewable and Sustainable Energy Reviews, vol. 72, pp. 456-467, 2023.</a:t>
            </a:r>
            <a:endParaRPr sz="1900"/>
          </a:p>
          <a:p>
            <a:pPr marL="0" lvl="0" indent="0" algn="just" rtl="0">
              <a:spcBef>
                <a:spcPts val="0"/>
              </a:spcBef>
              <a:spcAft>
                <a:spcPts val="0"/>
              </a:spcAft>
              <a:buClr>
                <a:schemeClr val="dk1"/>
              </a:buClr>
              <a:buSzPts val="1100"/>
              <a:buFont typeface="Arial"/>
              <a:buNone/>
            </a:pPr>
            <a:endParaRPr sz="1900">
              <a:solidFill>
                <a:schemeClr val="dk1"/>
              </a:solidFill>
            </a:endParaRPr>
          </a:p>
          <a:p>
            <a:pPr marL="0" lvl="0" indent="0" algn="just" rtl="0">
              <a:spcBef>
                <a:spcPts val="0"/>
              </a:spcBef>
              <a:spcAft>
                <a:spcPts val="0"/>
              </a:spcAft>
              <a:buClr>
                <a:schemeClr val="dk1"/>
              </a:buClr>
              <a:buSzPts val="1100"/>
              <a:buFont typeface="Arial"/>
              <a:buNone/>
            </a:pPr>
            <a:r>
              <a:rPr lang="en-US" sz="1900" b="1">
                <a:solidFill>
                  <a:schemeClr val="dk1"/>
                </a:solidFill>
              </a:rPr>
              <a:t>8. </a:t>
            </a:r>
            <a:r>
              <a:rPr lang="en-US" sz="1900">
                <a:solidFill>
                  <a:schemeClr val="dk1"/>
                </a:solidFill>
              </a:rPr>
              <a:t>P. S. Han, Z. J. Lin, "Short-term Prediction of Household Electricity Consumption Using Customized LSTM and GRU Models," in Applied Energy, vol. 289, pp. 116645, 2022.</a:t>
            </a:r>
            <a:endParaRPr sz="1900">
              <a:solidFill>
                <a:schemeClr val="dk1"/>
              </a:solidFill>
            </a:endParaRPr>
          </a:p>
          <a:p>
            <a:pPr marL="0" lvl="0" indent="0" algn="just" rtl="0">
              <a:lnSpc>
                <a:spcPct val="100000"/>
              </a:lnSpc>
              <a:spcBef>
                <a:spcPts val="0"/>
              </a:spcBef>
              <a:spcAft>
                <a:spcPts val="0"/>
              </a:spcAft>
              <a:buNone/>
            </a:pPr>
            <a:endParaRPr sz="1900"/>
          </a:p>
        </p:txBody>
      </p:sp>
      <p:sp>
        <p:nvSpPr>
          <p:cNvPr id="165" name="Google Shape;165;p25"/>
          <p:cNvSpPr txBox="1">
            <a:spLocks noGrp="1"/>
          </p:cNvSpPr>
          <p:nvPr>
            <p:ph type="ctrTitle"/>
          </p:nvPr>
        </p:nvSpPr>
        <p:spPr>
          <a:xfrm>
            <a:off x="0" y="-89600"/>
            <a:ext cx="9144000" cy="6492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5200"/>
              <a:buNone/>
            </a:pPr>
            <a:r>
              <a:rPr lang="en-US" sz="2900" b="1" i="0" u="none">
                <a:solidFill>
                  <a:srgbClr val="000000"/>
                </a:solidFill>
                <a:latin typeface="Times New Roman"/>
                <a:ea typeface="Times New Roman"/>
                <a:cs typeface="Times New Roman"/>
                <a:sym typeface="Times New Roman"/>
              </a:rPr>
              <a:t>References</a:t>
            </a:r>
            <a:endParaRPr/>
          </a:p>
        </p:txBody>
      </p:sp>
      <p:sp>
        <p:nvSpPr>
          <p:cNvPr id="166" name="Google Shape;166;p25"/>
          <p:cNvSpPr txBox="1"/>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a:solidFill>
                  <a:srgbClr val="595959"/>
                </a:solidFill>
                <a:latin typeface="Arial"/>
                <a:ea typeface="Arial"/>
                <a:cs typeface="Arial"/>
                <a:sym typeface="Arial"/>
              </a:rPr>
              <a:t>36</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6"/>
          <p:cNvSpPr txBox="1">
            <a:spLocks noGrp="1"/>
          </p:cNvSpPr>
          <p:nvPr>
            <p:ph type="body" idx="1"/>
          </p:nvPr>
        </p:nvSpPr>
        <p:spPr>
          <a:xfrm>
            <a:off x="223050" y="410700"/>
            <a:ext cx="8697900" cy="4322100"/>
          </a:xfrm>
          <a:prstGeom prst="rect">
            <a:avLst/>
          </a:prstGeom>
          <a:noFill/>
          <a:ln>
            <a:noFill/>
          </a:ln>
        </p:spPr>
        <p:txBody>
          <a:bodyPr spcFirstLastPara="1" wrap="square" lIns="91425" tIns="91425" rIns="91425" bIns="91425" anchor="t" anchorCtr="0">
            <a:noAutofit/>
          </a:bodyPr>
          <a:lstStyle/>
          <a:p>
            <a:pPr marL="0" lvl="0" indent="0" algn="just" rtl="0">
              <a:lnSpc>
                <a:spcPct val="100000"/>
              </a:lnSpc>
              <a:spcBef>
                <a:spcPts val="0"/>
              </a:spcBef>
              <a:spcAft>
                <a:spcPts val="0"/>
              </a:spcAft>
              <a:buNone/>
            </a:pPr>
            <a:r>
              <a:rPr lang="en-US" sz="1900" b="1"/>
              <a:t>9.</a:t>
            </a:r>
            <a:r>
              <a:rPr lang="en-US" sz="1900"/>
              <a:t> L. D. Simpson, J. H. Mendoza, "Comparative Analysis of Time Series Forecasting Approaches for Household Electricity Consumption Prediction," in Energy Economics, vol. 58, pp. 94-107, 2022.</a:t>
            </a:r>
            <a:endParaRPr sz="1900"/>
          </a:p>
          <a:p>
            <a:pPr marL="0" lvl="0" indent="0" algn="just" rtl="0">
              <a:lnSpc>
                <a:spcPct val="100000"/>
              </a:lnSpc>
              <a:spcBef>
                <a:spcPts val="0"/>
              </a:spcBef>
              <a:spcAft>
                <a:spcPts val="0"/>
              </a:spcAft>
              <a:buNone/>
            </a:pPr>
            <a:endParaRPr sz="1900"/>
          </a:p>
          <a:p>
            <a:pPr marL="0" lvl="0" indent="0" algn="just" rtl="0">
              <a:lnSpc>
                <a:spcPct val="100000"/>
              </a:lnSpc>
              <a:spcBef>
                <a:spcPts val="0"/>
              </a:spcBef>
              <a:spcAft>
                <a:spcPts val="0"/>
              </a:spcAft>
              <a:buNone/>
            </a:pPr>
            <a:r>
              <a:rPr lang="en-US" sz="1900" b="1">
                <a:solidFill>
                  <a:schemeClr val="dk1"/>
                </a:solidFill>
              </a:rPr>
              <a:t>10. </a:t>
            </a:r>
            <a:r>
              <a:rPr lang="en-US" sz="1900"/>
              <a:t>R. K. Patel, M. D. Vats, "Machine Learning for Energy Consumption Prediction and Scheduling in Smart Buildings," in Journal of Building Performance, vol. 11, no. 2, pp. 77-89, 2020.</a:t>
            </a:r>
            <a:endParaRPr sz="1900"/>
          </a:p>
          <a:p>
            <a:pPr marL="0" lvl="0" indent="0" algn="just" rtl="0">
              <a:lnSpc>
                <a:spcPct val="100000"/>
              </a:lnSpc>
              <a:spcBef>
                <a:spcPts val="0"/>
              </a:spcBef>
              <a:spcAft>
                <a:spcPts val="0"/>
              </a:spcAft>
              <a:buNone/>
            </a:pPr>
            <a:endParaRPr sz="1900"/>
          </a:p>
          <a:p>
            <a:pPr marL="0" lvl="0" indent="0" algn="just" rtl="0">
              <a:lnSpc>
                <a:spcPct val="100000"/>
              </a:lnSpc>
              <a:spcBef>
                <a:spcPts val="0"/>
              </a:spcBef>
              <a:spcAft>
                <a:spcPts val="0"/>
              </a:spcAft>
              <a:buNone/>
            </a:pPr>
            <a:r>
              <a:rPr lang="en-US" sz="1900" b="1">
                <a:solidFill>
                  <a:schemeClr val="dk1"/>
                </a:solidFill>
              </a:rPr>
              <a:t>11. </a:t>
            </a:r>
            <a:r>
              <a:rPr lang="en-US" sz="1900"/>
              <a:t>C. B. Miller, D. L. Scott, "How AI Is Making Buildings More Energy-Efficient," in Energy Efficiency Journal, vol. 12, no. 3, pp. 223-236, 2024.</a:t>
            </a:r>
            <a:endParaRPr sz="1900"/>
          </a:p>
          <a:p>
            <a:pPr marL="0" lvl="0" indent="0" algn="just" rtl="0">
              <a:spcBef>
                <a:spcPts val="0"/>
              </a:spcBef>
              <a:spcAft>
                <a:spcPts val="0"/>
              </a:spcAft>
              <a:buNone/>
            </a:pPr>
            <a:endParaRPr sz="1900">
              <a:solidFill>
                <a:schemeClr val="dk1"/>
              </a:solidFill>
            </a:endParaRPr>
          </a:p>
          <a:p>
            <a:pPr marL="0" lvl="0" indent="0" algn="just" rtl="0">
              <a:lnSpc>
                <a:spcPct val="100000"/>
              </a:lnSpc>
              <a:spcBef>
                <a:spcPts val="0"/>
              </a:spcBef>
              <a:spcAft>
                <a:spcPts val="0"/>
              </a:spcAft>
              <a:buNone/>
            </a:pPr>
            <a:endParaRPr sz="1900"/>
          </a:p>
        </p:txBody>
      </p:sp>
      <p:sp>
        <p:nvSpPr>
          <p:cNvPr id="172" name="Google Shape;172;p26"/>
          <p:cNvSpPr txBox="1">
            <a:spLocks noGrp="1"/>
          </p:cNvSpPr>
          <p:nvPr>
            <p:ph type="ctrTitle"/>
          </p:nvPr>
        </p:nvSpPr>
        <p:spPr>
          <a:xfrm>
            <a:off x="0" y="-89600"/>
            <a:ext cx="9144000" cy="6492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5200"/>
              <a:buNone/>
            </a:pPr>
            <a:r>
              <a:rPr lang="en-US" sz="2900" b="1" i="0" u="none">
                <a:solidFill>
                  <a:srgbClr val="000000"/>
                </a:solidFill>
                <a:latin typeface="Times New Roman"/>
                <a:ea typeface="Times New Roman"/>
                <a:cs typeface="Times New Roman"/>
                <a:sym typeface="Times New Roman"/>
              </a:rPr>
              <a:t>References</a:t>
            </a:r>
            <a:endParaRPr/>
          </a:p>
        </p:txBody>
      </p:sp>
      <p:sp>
        <p:nvSpPr>
          <p:cNvPr id="173" name="Google Shape;173;p26"/>
          <p:cNvSpPr txBox="1"/>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a:solidFill>
                  <a:srgbClr val="595959"/>
                </a:solidFill>
                <a:latin typeface="Arial"/>
                <a:ea typeface="Arial"/>
                <a:cs typeface="Arial"/>
                <a:sym typeface="Arial"/>
              </a:rPr>
              <a:t>37</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7"/>
          <p:cNvSpPr txBox="1">
            <a:spLocks noGrp="1"/>
          </p:cNvSpPr>
          <p:nvPr>
            <p:ph type="title"/>
          </p:nvPr>
        </p:nvSpPr>
        <p:spPr>
          <a:xfrm>
            <a:off x="0" y="2252662"/>
            <a:ext cx="9144000" cy="841375"/>
          </a:xfrm>
          <a:prstGeom prst="rect">
            <a:avLst/>
          </a:prstGeom>
          <a:no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3600"/>
              <a:buNone/>
            </a:pPr>
            <a:r>
              <a:rPr lang="en-US" sz="3600" b="1" i="0" u="none">
                <a:solidFill>
                  <a:srgbClr val="000000"/>
                </a:solidFill>
                <a:latin typeface="Times New Roman"/>
                <a:ea typeface="Times New Roman"/>
                <a:cs typeface="Times New Roman"/>
                <a:sym typeface="Times New Roman"/>
              </a:rPr>
              <a:t>Thank you</a:t>
            </a:r>
            <a:endParaRPr/>
          </a:p>
        </p:txBody>
      </p:sp>
      <p:sp>
        <p:nvSpPr>
          <p:cNvPr id="179" name="Google Shape;179;p27"/>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a:solidFill>
                  <a:srgbClr val="595959"/>
                </a:solidFill>
                <a:latin typeface="Arial"/>
                <a:ea typeface="Arial"/>
                <a:cs typeface="Arial"/>
                <a:sym typeface="Arial"/>
              </a:rPr>
              <a:t>38</a:t>
            </a:fld>
            <a:endParaRPr/>
          </a:p>
        </p:txBody>
      </p:sp>
    </p:spTree>
  </p:cSld>
  <p:clrMapOvr>
    <a:masterClrMapping/>
  </p:clrMapOvr>
</p:sld>
</file>

<file path=ppt/theme/theme1.xml><?xml version="1.0" encoding="utf-8"?>
<a:theme xmlns:a="http://schemas.openxmlformats.org/drawingml/2006/main" name="2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888</TotalTime>
  <Words>4763</Words>
  <Application>Microsoft Office PowerPoint</Application>
  <PresentationFormat>On-screen Show (16:9)</PresentationFormat>
  <Paragraphs>426</Paragraphs>
  <Slides>38</Slides>
  <Notes>31</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38</vt:i4>
      </vt:variant>
    </vt:vector>
  </HeadingPairs>
  <TitlesOfParts>
    <vt:vector size="42" baseType="lpstr">
      <vt:lpstr>Arial</vt:lpstr>
      <vt:lpstr>Times New Roman</vt:lpstr>
      <vt:lpstr>2_Simple Light</vt:lpstr>
      <vt:lpstr>1_Simple Light</vt:lpstr>
      <vt:lpstr>    Gokaraju Rangaraju Institute of Engineering and Technology  (Autonomous) Department of Data Science  Mini Project Work (CSE(DS))</vt:lpstr>
      <vt:lpstr>PowerPoint Presentation</vt:lpstr>
      <vt:lpstr>PowerPoint Presentation</vt:lpstr>
      <vt:lpstr>Abstract</vt:lpstr>
      <vt:lpstr>Literature Review</vt:lpstr>
      <vt:lpstr>PowerPoint Presentation</vt:lpstr>
      <vt:lpstr>PowerPoint Presentation</vt:lpstr>
      <vt:lpstr>PowerPoint Presentation</vt:lpstr>
      <vt:lpstr>PowerPoint Presentation</vt:lpstr>
      <vt:lpstr>PowerPoint Presentation</vt:lpstr>
      <vt:lpstr>Research Gaps</vt:lpstr>
      <vt:lpstr>Research Gaps</vt:lpstr>
      <vt:lpstr>Problem Statement</vt:lpstr>
      <vt:lpstr>Objectives</vt:lpstr>
      <vt:lpstr>PowerPoint Presentation</vt:lpstr>
      <vt:lpstr>PowerPoint Presentation</vt:lpstr>
      <vt:lpstr>PowerPoint Presentation</vt:lpstr>
      <vt:lpstr>Software and Hardware Requirements</vt:lpstr>
      <vt:lpstr>Datasets Details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List of standards</vt:lpstr>
      <vt:lpstr>PowerPoint Presentation</vt:lpstr>
      <vt:lpstr>PowerPoint Presentation</vt:lpstr>
      <vt:lpstr>References</vt:lpstr>
      <vt:lpstr>References</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KARTHIKEYA</dc:creator>
  <cp:lastModifiedBy>Karthikeya Bairoju</cp:lastModifiedBy>
  <cp:revision>6</cp:revision>
  <dcterms:modified xsi:type="dcterms:W3CDTF">2025-04-21T03:41:42Z</dcterms:modified>
</cp:coreProperties>
</file>